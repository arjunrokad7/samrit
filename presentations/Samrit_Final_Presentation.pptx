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Samrit brings together the everyday idea of a Good Samaritan—a person helping someone in need—and Amrit, from Sanskrit amṛta, nectar. Essence is our brand interpretation rather than a literal dictionary gloss. The Samaritan reference also evokes the Bill Emerson Good Samaritan Food Donation Act. We are not claiming that using Samrit automatically provides immunity: donation protections have conditions. Our promise is a welcoming route to food, supported by an accountable community.</a:t>
            </a:r>
          </a:p>
          <a:p/>
          <a:p>
            <a:r>
              <a:t>Sources</a:t>
            </a:r>
          </a:p>
          <a:p>
            <a:r>
              <a:t>S6 · https://www.usda.gov/about-food/food-safety/food-loss-and-waste/donating</a:t>
            </a:r>
          </a:p>
          <a:p>
            <a:r>
              <a:t>S7 · https://dictionary.cambridge.org/us/dictionary/english/good-samaritan</a:t>
            </a:r>
          </a:p>
          <a:p>
            <a:r>
              <a:t>S8 · https://api.pageplace.de/preview/DT0400.9788120837737_A24265371/preview-9788120837737_A24265371.pdf</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logistics interpretation of Steel and Steam is natural: vehicles, equipment and a chain of handoffs. Our twist is to start inside the kitchen. Steel is the physical and operational structure that makes a meal possible. Steam is the warm, human result. This is not a transport dashboard looking for a use case; it is a food-access experience with logistics behind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figures describe different populations and should not be multiplied together. USDA reports 47.9 million people living in food-insecure U.S. households in 2024; this does not mean every person experienced hunger in the same way. EPA estimates 30–40% of the U.S. food supply goes uneaten. Food Bank For NYC describes a network of nearly 800 pantries, soup kitchens and mobile pantries; it is not a soup-kitchen-only census or a Samrit partner count. Pew’s 2026 survey found 80% smartphone ownership among adults in households earning under $30,000. That is a proxy for reach, not a food-insecurity-specific smartphone measure. Digital access still has gaps.</a:t>
            </a:r>
          </a:p>
          <a:p/>
          <a:p>
            <a:r>
              <a:t>Sources</a:t>
            </a:r>
          </a:p>
          <a:p>
            <a:r>
              <a:t>S1 · https://www.ers.usda.gov/topics/food-nutrition-assistance/food-security-in-the-us/key-statistics-graphics</a:t>
            </a:r>
          </a:p>
          <a:p>
            <a:r>
              <a:t>S2 · https://www.epa.gov/sustainable-management-food/united-states-2030-food-loss-and-waste-reduction-goal</a:t>
            </a:r>
          </a:p>
          <a:p>
            <a:r>
              <a:t>S3 · https://www.foodbanknyc.org/what-we-do/food-distribution/</a:t>
            </a:r>
          </a:p>
          <a:p>
            <a:r>
              <a:t>S4 · https://www.pewresearch.org/internet/fact-sheet/mobile/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person looking for food should not have to understand the logistics system. Our landing page prioritizes finding a meal. A person can browse without an account, choose visible allergen chips, write preferences in everyday language, or use the optional assistant. Staff workspaces are focused on their own jobs. Accountability lives in role permissions, verified menus, stage-ordered handoffs and evidence records. Simplicity is the front door; accountability supports it behind the scenes. These are design goals, not a claim of a completed formal accessibility audit.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platform’s distinctive contribution is the combination: accessible discovery, human-verified menu extraction, accountable handoffs and private organizational learning. The AI is deliberately connected to concrete actions and structured records. It is not used as a replacement for food-handler judgment or as a public score that can shame a venue. The next slides show how these capabilities are distributed across the four faces.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retain the original four-face structure. Face one is the public consumer experience; face two is the distribution center; face three is the event organizer or donor; and face four is the central NGO. The driver mobile view belongs to the NGO logistics face rather than becoming a fifth public signup category. The NGO already manages its people and fleet. Samrit coordinates those resources and records their handoffs.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person seeking a meal is the priority, not a side link inside a staff portal. The interface uses FDA-recognized major-allergen categories: milk, eggs, fish, Crustacean shellfish, tree nuts, peanuts, wheat, soybeans and sesame. Gemini can interpret a preference such as avoiding cold food, while unknown nutritional properties are not invented. People should still confirm ingredients and cross-contact with staff. The sourced NYC directory and fictional demo meal catalog are distinct; this is not a live promise of meal availability. One shared venue QR starts the visit, and a finish button opens private feedback without an exit scan.</a:t>
            </a:r>
          </a:p>
          <a:p/>
          <a:p>
            <a:r>
              <a:t>Sources</a:t>
            </a:r>
          </a:p>
          <a:p>
            <a:r>
              <a:t>S5 · https://www.fda.gov/food/buy-store-serve-safe-food/food-allergies-what-you-need-know</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center registers its facility, operating hours, equipment, seating, staffing and receiving capacity. Admin approval makes the center eligible for matching. Mixed batches require support for every included handling type. The driver scans the center’s shared venue code on arrival; center staff scan the tracking sticker and submit the receiving photograph. The same venue code supports consumer check-in, reducing signage and removing an unnecessary second entry code and exit code. A shared code does not merge delivery records with anonymous visit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donor can upload a menu or invoice for Gemini extraction. Dishes, ingredients, declared allergens, servings and handling requirements become editable candidates. The donor must confirm them; an invoice’s ingredients do not prove that a dish was served. After the event starts, the donor selects leftovers, enters positive whole-number servings, chooses all needed handling types and adds the Stage 1 photo. Clearing a servings field keeps its checkbox selected and blocks submission until corrected. Mixed handling is supported only when the assigned vehicle and destination can support every included requirement. The menu shown is a fictional test fixture.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central NGO uses its existing volunteer/driver operation and truck fleet. It provisions driver access, maintains equipment and availability, approves facilities and assigns resources. Vehicle capacity and every handling type must match the batch. A driver has one active assignment per resource, records pickup and arrival, and links a unique sticker to the batch. Center staff complete delivery. Map routes are planning visualizations, not live traffic optimization or continuous tracking. In presentation mode, distances and GPS verification are explicitly simulated so the demonstration works on a desktop.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assistant is an optional agentic layer, not a replacement for the existing interface. Stop recording to send automatically. ElevenLabs transcribes the audio; Gemini lightly corrects transcription errors while preserving intent and negation, then chooses a constrained page action. ElevenLabs speaks the result. A request to leave a review finishes the current visit and opens feedback; a ready review submits when explicitly requested, without repeated confirmation questions. Filters retain visible confirmation, permissions stay with the browser and unrelated requests receive a scoped refusal with available page actions. Audio and text go to their respective providers; keys remain server-side.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valid handoff grows the custody record with a QR event, timestamp, actor and linked photo evidence. The workflow enforces stage order, event and destination identity, assigned-driver permissions, sticker uniqueness and center receipt. SHA-256 hashes identify the stored photo bytes; they do not prove the food is safe or make the whole database immutable. The accurate description is an append-style evidence trail rather than an independently tamper-proof append-only ledger. Live mode has proximity checks; the current desktop demo uses sample coordinates, skips proximity rejection and permanently marks location evidence simulated. AI uses this context for consistency review, not guaranteed fraud detection.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Consumer and staff feedback is private to the central NGO. Gemini can identify concerns such as a long wait, packaging problems or temperature worries, summarize them and assess consistency with available evidence. This is review verification in the limited sense of evidence consistency, not proof that a statement is true or false. A long interval between check-in and pressing Finish is not a measured queue duration. Simulated location provides no attendance corroboration. Staff make the judgment and guide donors or venues. Visitor AI results do not automatically impose public ratings or penalties.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complete operational path has been exercised: register and approve a venue, confirm a donor event menu, create leftovers after the event starts, assign an eligible driver and vehicle, complete QR/photo handoffs and receive the food. The public visit and private review path also works. Be precise about the gap: delivered batches do not yet automatically publish live meal offers to Find a Meal. The public catalog uses fictional offers alongside a separate directory of sourced NYC locations. The current demo deliberately simulates geolocation. These are explicit prototype boundaries rather than claims of production availability or verified GPS.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source title on this slide is clickable. The statistics retain their original year, geography and denominator. The smartphone statistic is specifically a lower-income ownership measure; the kitchen-network count combines several provider types. The Sanskrit reference supports nectar; essence is the team’s interpretation. The Good Samaritan Act reference is inspiration and context, not a claim of blanket liability protection. The final statement is grounded in the international right to adequate food. Screenshots show the project itself, and the sample menu is fictional.</a:t>
            </a:r>
          </a:p>
          <a:p/>
          <a:p>
            <a:r>
              <a:t>Sources</a:t>
            </a:r>
          </a:p>
          <a:p>
            <a:r>
              <a:t>S1 · https://www.ers.usda.gov/topics/food-nutrition-assistance/food-security-in-the-us/key-statistics-graphics</a:t>
            </a:r>
          </a:p>
          <a:p>
            <a:r>
              <a:t>S2 · https://www.epa.gov/sustainable-management-food/united-states-2030-food-loss-and-waste-reduction-goal</a:t>
            </a:r>
          </a:p>
          <a:p>
            <a:r>
              <a:t>S3 · https://www.foodbanknyc.org/what-we-do/food-distribution/</a:t>
            </a:r>
          </a:p>
          <a:p>
            <a:r>
              <a:t>S4 · https://www.pewresearch.org/internet/fact-sheet/mobile/</a:t>
            </a:r>
          </a:p>
          <a:p>
            <a:r>
              <a:t>S5 · https://www.fda.gov/food/buy-store-serve-safe-food/food-allergies-what-you-need-know</a:t>
            </a:r>
          </a:p>
          <a:p>
            <a:r>
              <a:t>S6 · https://www.usda.gov/about-food/food-safety/food-loss-and-waste/donating</a:t>
            </a:r>
          </a:p>
          <a:p>
            <a:r>
              <a:t>S7 · https://dictionary.cambridge.org/us/dictionary/english/good-samaritan</a:t>
            </a:r>
          </a:p>
          <a:p>
            <a:r>
              <a:t>S8 · https://api.pageplace.de/preview/DT0400.9788120837737_A24265371/preview-9788120837737_A24265371.pdf</a:t>
            </a:r>
          </a:p>
          <a:p>
            <a:r>
              <a:t>S9 · https://www.ohchr.org/sites/default/files/Documents/Publications/FactSheet34en.pdf</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principle that unites the product: access to food is a basic human right. Samrit’s role is to make that access easier to navigate and the supporting operations easier to account for. The person seeking a meal comes first. A welcoming experience and a trustworthy organization belong together.</a:t>
            </a:r>
          </a:p>
          <a:p/>
          <a:p>
            <a:r>
              <a:t>Sources</a:t>
            </a:r>
          </a:p>
          <a:p>
            <a:r>
              <a:t>S9 · https://www.ohchr.org/sites/default/files/Documents/Publications/FactSheet34en.pdf</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ers.usda.gov/topics/food-nutrition-assistance/food-security-in-the-us/key-statistics-graphics" TargetMode="External"/><Relationship Id="rId3" Type="http://schemas.openxmlformats.org/officeDocument/2006/relationships/hyperlink" Target="https://www.epa.gov/sustainable-management-food/united-states-2030-food-loss-and-waste-reduction-goal" TargetMode="External"/><Relationship Id="rId4" Type="http://schemas.openxmlformats.org/officeDocument/2006/relationships/hyperlink" Target="https://www.foodbanknyc.org/what-we-do/food-distribution/" TargetMode="External"/><Relationship Id="rId5" Type="http://schemas.openxmlformats.org/officeDocument/2006/relationships/hyperlink" Target="https://www.pewresearch.org/internet/fact-sheet/mobile/" TargetMode="Externa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ers.usda.gov/topics/food-nutrition-assistance/food-security-in-the-us/key-statistics-graphics" TargetMode="External"/><Relationship Id="rId3" Type="http://schemas.openxmlformats.org/officeDocument/2006/relationships/hyperlink" Target="https://www.epa.gov/sustainable-management-food/united-states-2030-food-loss-and-waste-reduction-goal" TargetMode="External"/><Relationship Id="rId4" Type="http://schemas.openxmlformats.org/officeDocument/2006/relationships/hyperlink" Target="https://www.foodbanknyc.org/what-we-do/food-distribution/" TargetMode="External"/><Relationship Id="rId5" Type="http://schemas.openxmlformats.org/officeDocument/2006/relationships/hyperlink" Target="https://www.pewresearch.org/internet/fact-sheet/mobile/" TargetMode="External"/><Relationship Id="rId6" Type="http://schemas.openxmlformats.org/officeDocument/2006/relationships/hyperlink" Target="https://www.fda.gov/food/buy-store-serve-safe-food/food-allergies-what-you-need-know" TargetMode="External"/><Relationship Id="rId7" Type="http://schemas.openxmlformats.org/officeDocument/2006/relationships/hyperlink" Target="https://www.usda.gov/about-food/food-safety/food-loss-and-waste/donating" TargetMode="External"/><Relationship Id="rId8" Type="http://schemas.openxmlformats.org/officeDocument/2006/relationships/hyperlink" Target="https://dictionary.cambridge.org/us/dictionary/english/good-samaritan" TargetMode="External"/><Relationship Id="rId9" Type="http://schemas.openxmlformats.org/officeDocument/2006/relationships/hyperlink" Target="https://api.pageplace.de/preview/DT0400.9788120837737_A24265371/preview-9788120837737_A24265371.pdf" TargetMode="External"/><Relationship Id="rId10" Type="http://schemas.openxmlformats.org/officeDocument/2006/relationships/hyperlink" Target="https://www.ohchr.org/sites/default/files/Documents/Publications/FactSheet34en.pdf" TargetMode="External"/><Relationship Id="rId11"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A33"/>
        </a:solidFill>
        <a:effectLst/>
      </p:bgPr>
    </p:bg>
    <p:spTree>
      <p:nvGrpSpPr>
        <p:cNvPr id="1" name=""/>
        <p:cNvGrpSpPr/>
        <p:nvPr/>
      </p:nvGrpSpPr>
      <p:grpSpPr/>
      <p:sp>
        <p:nvSpPr>
          <p:cNvPr id="2" name="TextBox 1"/>
          <p:cNvSpPr txBox="1"/>
          <p:nvPr/>
        </p:nvSpPr>
        <p:spPr>
          <a:xfrm>
            <a:off x="594360" y="384048"/>
            <a:ext cx="9692640" cy="201168"/>
          </a:xfrm>
          <a:prstGeom prst="rect">
            <a:avLst/>
          </a:prstGeom>
          <a:noFill/>
        </p:spPr>
        <p:txBody>
          <a:bodyPr wrap="square" lIns="0" rIns="0" tIns="0" bIns="0" anchor="t">
            <a:spAutoFit/>
          </a:bodyPr>
          <a:lstStyle/>
          <a:p>
            <a:pPr>
              <a:lnSpc>
                <a:spcPct val="108000"/>
              </a:lnSpc>
              <a:spcBef>
                <a:spcPts val="0"/>
              </a:spcBef>
              <a:spcAft>
                <a:spcPts val="0"/>
              </a:spcAft>
            </a:pPr>
            <a:r>
              <a:rPr sz="1100" b="1">
                <a:solidFill>
                  <a:srgbClr val="B5D588"/>
                </a:solidFill>
                <a:latin typeface="Arial"/>
              </a:rPr>
              <a:t>STEEL &amp; STEAM · FOOD REDISTRIBUTION</a:t>
            </a:r>
          </a:p>
        </p:txBody>
      </p:sp>
      <p:cxnSp>
        <p:nvCxnSpPr>
          <p:cNvPr id="3" name="Connector 2"/>
          <p:cNvCxnSpPr/>
          <p:nvPr/>
        </p:nvCxnSpPr>
        <p:spPr>
          <a:xfrm>
            <a:off x="594360" y="6428232"/>
            <a:ext cx="11000232" cy="0"/>
          </a:xfrm>
          <a:prstGeom prst="line">
            <a:avLst/>
          </a:prstGeom>
          <a:ln w="12700">
            <a:solidFill>
              <a:srgbClr val="376C6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94360" y="6537960"/>
            <a:ext cx="7772400" cy="164592"/>
          </a:xfrm>
          <a:prstGeom prst="rect">
            <a:avLst/>
          </a:prstGeom>
          <a:noFill/>
        </p:spPr>
        <p:txBody>
          <a:bodyPr wrap="square" lIns="0" rIns="0" tIns="0" bIns="0" anchor="t">
            <a:spAutoFit/>
          </a:bodyPr>
          <a:lstStyle/>
          <a:p>
            <a:pPr>
              <a:lnSpc>
                <a:spcPct val="108000"/>
              </a:lnSpc>
              <a:spcBef>
                <a:spcPts val="0"/>
              </a:spcBef>
              <a:spcAft>
                <a:spcPts val="0"/>
              </a:spcAft>
            </a:pPr>
            <a:r>
              <a:rPr sz="850" b="0">
                <a:solidFill>
                  <a:srgbClr val="B7CDD0"/>
                </a:solidFill>
                <a:latin typeface="Arial"/>
              </a:rPr>
              <a:t>SAMRIT  /  A PLACE AT THE TABLE</a:t>
            </a:r>
          </a:p>
        </p:txBody>
      </p:sp>
      <p:sp>
        <p:nvSpPr>
          <p:cNvPr id="5" name="TextBox 4"/>
          <p:cNvSpPr txBox="1"/>
          <p:nvPr/>
        </p:nvSpPr>
        <p:spPr>
          <a:xfrm>
            <a:off x="11109960" y="6510528"/>
            <a:ext cx="457200" cy="210312"/>
          </a:xfrm>
          <a:prstGeom prst="rect">
            <a:avLst/>
          </a:prstGeom>
          <a:noFill/>
        </p:spPr>
        <p:txBody>
          <a:bodyPr wrap="square" lIns="0" rIns="0" tIns="0" bIns="0" anchor="t">
            <a:spAutoFit/>
          </a:bodyPr>
          <a:lstStyle/>
          <a:p>
            <a:pPr algn="r">
              <a:lnSpc>
                <a:spcPct val="108000"/>
              </a:lnSpc>
              <a:spcBef>
                <a:spcPts val="0"/>
              </a:spcBef>
              <a:spcAft>
                <a:spcPts val="0"/>
              </a:spcAft>
            </a:pPr>
            <a:r>
              <a:rPr sz="1100" b="0">
                <a:solidFill>
                  <a:srgbClr val="B7CDD0"/>
                </a:solidFill>
                <a:latin typeface="Arial"/>
              </a:rPr>
              <a:t>01</a:t>
            </a:r>
          </a:p>
        </p:txBody>
      </p:sp>
      <p:pic>
        <p:nvPicPr>
          <p:cNvPr id="6" name="Picture 5" descr="samrit-light.png"/>
          <p:cNvPicPr>
            <a:picLocks noChangeAspect="1"/>
          </p:cNvPicPr>
          <p:nvPr/>
        </p:nvPicPr>
        <p:blipFill>
          <a:blip r:embed="rId2"/>
          <a:srcRect l="8988" t="15883" r="11424" b="14418"/>
          <a:stretch>
            <a:fillRect/>
          </a:stretch>
        </p:blipFill>
        <p:spPr>
          <a:xfrm>
            <a:off x="594360" y="960120"/>
            <a:ext cx="4480560" cy="2137428"/>
          </a:xfrm>
          <a:prstGeom prst="rect">
            <a:avLst/>
          </a:prstGeom>
        </p:spPr>
      </p:pic>
      <p:sp>
        <p:nvSpPr>
          <p:cNvPr id="7" name="TextBox 6"/>
          <p:cNvSpPr txBox="1"/>
          <p:nvPr/>
        </p:nvSpPr>
        <p:spPr>
          <a:xfrm>
            <a:off x="594360" y="3438144"/>
            <a:ext cx="6537960" cy="1371600"/>
          </a:xfrm>
          <a:prstGeom prst="rect">
            <a:avLst/>
          </a:prstGeom>
          <a:noFill/>
        </p:spPr>
        <p:txBody>
          <a:bodyPr wrap="square" lIns="0" rIns="0" tIns="0" bIns="0" anchor="t">
            <a:spAutoFit/>
          </a:bodyPr>
          <a:lstStyle/>
          <a:p>
            <a:pPr>
              <a:lnSpc>
                <a:spcPct val="108000"/>
              </a:lnSpc>
              <a:spcBef>
                <a:spcPts val="0"/>
              </a:spcBef>
              <a:spcAft>
                <a:spcPts val="0"/>
              </a:spcAft>
            </a:pPr>
            <a:r>
              <a:rPr sz="3400" b="0">
                <a:solidFill>
                  <a:srgbClr val="FFFFFF"/>
                </a:solidFill>
                <a:latin typeface="Arial Rounded MT Bold"/>
              </a:rPr>
              <a:t>A place at the table.</a:t>
            </a:r>
          </a:p>
          <a:p>
            <a:pPr>
              <a:lnSpc>
                <a:spcPct val="108000"/>
              </a:lnSpc>
              <a:spcBef>
                <a:spcPts val="0"/>
              </a:spcBef>
              <a:spcAft>
                <a:spcPts val="0"/>
              </a:spcAft>
            </a:pPr>
            <a:r>
              <a:rPr sz="3400" b="0">
                <a:solidFill>
                  <a:srgbClr val="FFFFFF"/>
                </a:solidFill>
                <a:latin typeface="Arial Rounded MT Bold"/>
              </a:rPr>
              <a:t>A community behind it.</a:t>
            </a:r>
          </a:p>
        </p:txBody>
      </p:sp>
      <p:sp>
        <p:nvSpPr>
          <p:cNvPr id="8" name="TextBox 7"/>
          <p:cNvSpPr txBox="1"/>
          <p:nvPr/>
        </p:nvSpPr>
        <p:spPr>
          <a:xfrm>
            <a:off x="621792" y="5175504"/>
            <a:ext cx="6400800" cy="411480"/>
          </a:xfrm>
          <a:prstGeom prst="rect">
            <a:avLst/>
          </a:prstGeom>
          <a:noFill/>
        </p:spPr>
        <p:txBody>
          <a:bodyPr wrap="square" lIns="0" rIns="0" tIns="0" bIns="0" anchor="t">
            <a:spAutoFit/>
          </a:bodyPr>
          <a:lstStyle/>
          <a:p>
            <a:pPr>
              <a:lnSpc>
                <a:spcPct val="108000"/>
              </a:lnSpc>
              <a:spcBef>
                <a:spcPts val="0"/>
              </a:spcBef>
              <a:spcAft>
                <a:spcPts val="0"/>
              </a:spcAft>
            </a:pPr>
            <a:r>
              <a:rPr sz="2000" b="0">
                <a:solidFill>
                  <a:srgbClr val="B7CDD0"/>
                </a:solidFill>
                <a:latin typeface="Arial"/>
              </a:rPr>
              <a:t>Strict simplicity. Accountable food recovery.</a:t>
            </a:r>
          </a:p>
        </p:txBody>
      </p:sp>
      <p:cxnSp>
        <p:nvCxnSpPr>
          <p:cNvPr id="9" name="Connector 8"/>
          <p:cNvCxnSpPr/>
          <p:nvPr/>
        </p:nvCxnSpPr>
        <p:spPr>
          <a:xfrm>
            <a:off x="7424927" y="1124712"/>
            <a:ext cx="0" cy="4636008"/>
          </a:xfrm>
          <a:prstGeom prst="line">
            <a:avLst/>
          </a:prstGeom>
          <a:ln w="19050">
            <a:solidFill>
              <a:srgbClr val="376C6F"/>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909560" y="1417320"/>
            <a:ext cx="3474720" cy="438912"/>
          </a:xfrm>
          <a:prstGeom prst="rect">
            <a:avLst/>
          </a:prstGeom>
          <a:noFill/>
        </p:spPr>
        <p:txBody>
          <a:bodyPr wrap="square" lIns="0" rIns="0" tIns="0" bIns="0" anchor="t">
            <a:spAutoFit/>
          </a:bodyPr>
          <a:lstStyle/>
          <a:p>
            <a:pPr>
              <a:lnSpc>
                <a:spcPct val="108000"/>
              </a:lnSpc>
              <a:spcBef>
                <a:spcPts val="0"/>
              </a:spcBef>
              <a:spcAft>
                <a:spcPts val="0"/>
              </a:spcAft>
            </a:pPr>
            <a:r>
              <a:rPr sz="2900" b="0">
                <a:solidFill>
                  <a:srgbClr val="FFFFFF"/>
                </a:solidFill>
                <a:latin typeface="Arial Rounded MT Bold"/>
              </a:rPr>
              <a:t>Samaritan</a:t>
            </a:r>
          </a:p>
        </p:txBody>
      </p:sp>
      <p:sp>
        <p:nvSpPr>
          <p:cNvPr id="11" name="TextBox 10"/>
          <p:cNvSpPr txBox="1"/>
          <p:nvPr/>
        </p:nvSpPr>
        <p:spPr>
          <a:xfrm>
            <a:off x="7918704" y="1965960"/>
            <a:ext cx="3383280" cy="1051560"/>
          </a:xfrm>
          <a:prstGeom prst="rect">
            <a:avLst/>
          </a:prstGeom>
          <a:noFill/>
        </p:spPr>
        <p:txBody>
          <a:bodyPr wrap="square" lIns="0" rIns="0" tIns="0" bIns="0" anchor="t">
            <a:spAutoFit/>
          </a:bodyPr>
          <a:lstStyle/>
          <a:p>
            <a:pPr>
              <a:lnSpc>
                <a:spcPct val="108000"/>
              </a:lnSpc>
              <a:spcBef>
                <a:spcPts val="0"/>
              </a:spcBef>
              <a:spcAft>
                <a:spcPts val="0"/>
              </a:spcAft>
            </a:pPr>
            <a:r>
              <a:rPr sz="1600" b="0">
                <a:solidFill>
                  <a:srgbClr val="B7CDD0"/>
                </a:solidFill>
                <a:latin typeface="Arial"/>
              </a:rPr>
              <a:t>Helping someone in need.</a:t>
            </a:r>
          </a:p>
          <a:p>
            <a:pPr>
              <a:lnSpc>
                <a:spcPct val="108000"/>
              </a:lnSpc>
              <a:spcBef>
                <a:spcPts val="0"/>
              </a:spcBef>
              <a:spcAft>
                <a:spcPts val="0"/>
              </a:spcAft>
            </a:pPr>
            <a:r>
              <a:rPr sz="1600" b="0">
                <a:solidFill>
                  <a:srgbClr val="B7CDD0"/>
                </a:solidFill>
                <a:latin typeface="Arial"/>
              </a:rPr>
              <a:t>A nod to the Bill Emerson</a:t>
            </a:r>
          </a:p>
          <a:p>
            <a:pPr>
              <a:lnSpc>
                <a:spcPct val="108000"/>
              </a:lnSpc>
              <a:spcBef>
                <a:spcPts val="0"/>
              </a:spcBef>
              <a:spcAft>
                <a:spcPts val="0"/>
              </a:spcAft>
            </a:pPr>
            <a:r>
              <a:rPr sz="1600" b="0">
                <a:solidFill>
                  <a:srgbClr val="B7CDD0"/>
                </a:solidFill>
                <a:latin typeface="Arial"/>
              </a:rPr>
              <a:t>Good Samaritan Food Donation Act.</a:t>
            </a:r>
          </a:p>
        </p:txBody>
      </p:sp>
      <p:sp>
        <p:nvSpPr>
          <p:cNvPr id="12" name="TextBox 11"/>
          <p:cNvSpPr txBox="1"/>
          <p:nvPr/>
        </p:nvSpPr>
        <p:spPr>
          <a:xfrm>
            <a:off x="7909560" y="3172968"/>
            <a:ext cx="914400" cy="457200"/>
          </a:xfrm>
          <a:prstGeom prst="rect">
            <a:avLst/>
          </a:prstGeom>
          <a:noFill/>
        </p:spPr>
        <p:txBody>
          <a:bodyPr wrap="square" lIns="0" rIns="0" tIns="0" bIns="0" anchor="t">
            <a:spAutoFit/>
          </a:bodyPr>
          <a:lstStyle/>
          <a:p>
            <a:pPr>
              <a:lnSpc>
                <a:spcPct val="108000"/>
              </a:lnSpc>
              <a:spcBef>
                <a:spcPts val="0"/>
              </a:spcBef>
              <a:spcAft>
                <a:spcPts val="0"/>
              </a:spcAft>
            </a:pPr>
            <a:r>
              <a:rPr sz="3100" b="0">
                <a:solidFill>
                  <a:srgbClr val="B5D588"/>
                </a:solidFill>
                <a:latin typeface="Arial"/>
              </a:rPr>
              <a:t>+</a:t>
            </a:r>
          </a:p>
        </p:txBody>
      </p:sp>
      <p:sp>
        <p:nvSpPr>
          <p:cNvPr id="13" name="TextBox 12"/>
          <p:cNvSpPr txBox="1"/>
          <p:nvPr/>
        </p:nvSpPr>
        <p:spPr>
          <a:xfrm>
            <a:off x="7909560" y="3785615"/>
            <a:ext cx="3383280" cy="457200"/>
          </a:xfrm>
          <a:prstGeom prst="rect">
            <a:avLst/>
          </a:prstGeom>
          <a:noFill/>
        </p:spPr>
        <p:txBody>
          <a:bodyPr wrap="square" lIns="0" rIns="0" tIns="0" bIns="0" anchor="t">
            <a:spAutoFit/>
          </a:bodyPr>
          <a:lstStyle/>
          <a:p>
            <a:pPr>
              <a:lnSpc>
                <a:spcPct val="108000"/>
              </a:lnSpc>
              <a:spcBef>
                <a:spcPts val="0"/>
              </a:spcBef>
              <a:spcAft>
                <a:spcPts val="0"/>
              </a:spcAft>
            </a:pPr>
            <a:r>
              <a:rPr sz="2900" b="0">
                <a:solidFill>
                  <a:srgbClr val="FFFFFF"/>
                </a:solidFill>
                <a:latin typeface="Arial Rounded MT Bold"/>
              </a:rPr>
              <a:t>Amrit</a:t>
            </a:r>
          </a:p>
        </p:txBody>
      </p:sp>
      <p:sp>
        <p:nvSpPr>
          <p:cNvPr id="14" name="TextBox 13"/>
          <p:cNvSpPr txBox="1"/>
          <p:nvPr/>
        </p:nvSpPr>
        <p:spPr>
          <a:xfrm>
            <a:off x="7918704" y="4370832"/>
            <a:ext cx="3291840" cy="1097280"/>
          </a:xfrm>
          <a:prstGeom prst="rect">
            <a:avLst/>
          </a:prstGeom>
          <a:noFill/>
        </p:spPr>
        <p:txBody>
          <a:bodyPr wrap="square" lIns="0" rIns="0" tIns="0" bIns="0" anchor="t">
            <a:spAutoFit/>
          </a:bodyPr>
          <a:lstStyle/>
          <a:p>
            <a:pPr>
              <a:lnSpc>
                <a:spcPct val="108000"/>
              </a:lnSpc>
              <a:spcBef>
                <a:spcPts val="0"/>
              </a:spcBef>
              <a:spcAft>
                <a:spcPts val="0"/>
              </a:spcAft>
            </a:pPr>
            <a:r>
              <a:rPr sz="1800" b="0">
                <a:solidFill>
                  <a:srgbClr val="B7CDD0"/>
                </a:solidFill>
                <a:latin typeface="Arial"/>
              </a:rPr>
              <a:t>From Sanskrit amṛta: nectar.</a:t>
            </a:r>
          </a:p>
          <a:p>
            <a:pPr>
              <a:lnSpc>
                <a:spcPct val="108000"/>
              </a:lnSpc>
              <a:spcBef>
                <a:spcPts val="0"/>
              </a:spcBef>
              <a:spcAft>
                <a:spcPts val="0"/>
              </a:spcAft>
            </a:pPr>
            <a:r>
              <a:rPr sz="1800" b="0">
                <a:solidFill>
                  <a:srgbClr val="B7CDD0"/>
                </a:solidFill>
                <a:latin typeface="Arial"/>
              </a:rPr>
              <a:t>Our interpretation: the essence</a:t>
            </a:r>
          </a:p>
          <a:p>
            <a:pPr>
              <a:lnSpc>
                <a:spcPct val="108000"/>
              </a:lnSpc>
              <a:spcBef>
                <a:spcPts val="0"/>
              </a:spcBef>
              <a:spcAft>
                <a:spcPts val="0"/>
              </a:spcAft>
            </a:pPr>
            <a:r>
              <a:rPr sz="1800" b="0">
                <a:solidFill>
                  <a:srgbClr val="B7CDD0"/>
                </a:solidFill>
                <a:latin typeface="Arial"/>
              </a:rPr>
              <a:t>of nourishment and care.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2A33"/>
        </a:solidFill>
        <a:effectLst/>
      </p:bgPr>
    </p:bg>
    <p:spTree>
      <p:nvGrpSpPr>
        <p:cNvPr id="1" name=""/>
        <p:cNvGrpSpPr/>
        <p:nvPr/>
      </p:nvGrpSpPr>
      <p:grpSpPr/>
      <p:sp>
        <p:nvSpPr>
          <p:cNvPr id="2" name="TextBox 1"/>
          <p:cNvSpPr txBox="1"/>
          <p:nvPr/>
        </p:nvSpPr>
        <p:spPr>
          <a:xfrm>
            <a:off x="594360" y="384048"/>
            <a:ext cx="9692640" cy="201168"/>
          </a:xfrm>
          <a:prstGeom prst="rect">
            <a:avLst/>
          </a:prstGeom>
          <a:noFill/>
        </p:spPr>
        <p:txBody>
          <a:bodyPr wrap="square" lIns="0" rIns="0" tIns="0" bIns="0" anchor="t">
            <a:spAutoFit/>
          </a:bodyPr>
          <a:lstStyle/>
          <a:p>
            <a:pPr>
              <a:lnSpc>
                <a:spcPct val="108000"/>
              </a:lnSpc>
              <a:spcBef>
                <a:spcPts val="0"/>
              </a:spcBef>
              <a:spcAft>
                <a:spcPts val="0"/>
              </a:spcAft>
            </a:pPr>
            <a:r>
              <a:rPr sz="1100" b="1">
                <a:solidFill>
                  <a:srgbClr val="B5D588"/>
                </a:solidFill>
                <a:latin typeface="Arial"/>
              </a:rPr>
              <a:t>THE THEME, REINTERPRETED</a:t>
            </a:r>
          </a:p>
        </p:txBody>
      </p:sp>
      <p:sp>
        <p:nvSpPr>
          <p:cNvPr id="3" name="TextBox 2"/>
          <p:cNvSpPr txBox="1"/>
          <p:nvPr/>
        </p:nvSpPr>
        <p:spPr>
          <a:xfrm>
            <a:off x="594360" y="877824"/>
            <a:ext cx="10972800" cy="1463040"/>
          </a:xfrm>
          <a:prstGeom prst="rect">
            <a:avLst/>
          </a:prstGeom>
          <a:noFill/>
        </p:spPr>
        <p:txBody>
          <a:bodyPr wrap="square" lIns="0" rIns="0" tIns="0" bIns="0" anchor="t">
            <a:spAutoFit/>
          </a:bodyPr>
          <a:lstStyle/>
          <a:p>
            <a:pPr>
              <a:lnSpc>
                <a:spcPct val="108000"/>
              </a:lnSpc>
              <a:spcBef>
                <a:spcPts val="0"/>
              </a:spcBef>
              <a:spcAft>
                <a:spcPts val="0"/>
              </a:spcAft>
            </a:pPr>
            <a:r>
              <a:rPr sz="3500" b="0">
                <a:solidFill>
                  <a:srgbClr val="FFFFFF"/>
                </a:solidFill>
                <a:latin typeface="Arial Rounded MT Bold"/>
              </a:rPr>
              <a:t>Steel &amp; steam.</a:t>
            </a:r>
          </a:p>
          <a:p>
            <a:pPr>
              <a:lnSpc>
                <a:spcPct val="108000"/>
              </a:lnSpc>
              <a:spcBef>
                <a:spcPts val="0"/>
              </a:spcBef>
              <a:spcAft>
                <a:spcPts val="0"/>
              </a:spcAft>
            </a:pPr>
            <a:r>
              <a:rPr sz="3500" b="0">
                <a:solidFill>
                  <a:srgbClr val="FFFFFF"/>
                </a:solidFill>
                <a:latin typeface="Arial Rounded MT Bold"/>
              </a:rPr>
              <a:t>The kitchen is our starting point.</a:t>
            </a:r>
          </a:p>
        </p:txBody>
      </p:sp>
      <p:cxnSp>
        <p:nvCxnSpPr>
          <p:cNvPr id="4" name="Connector 3"/>
          <p:cNvCxnSpPr/>
          <p:nvPr/>
        </p:nvCxnSpPr>
        <p:spPr>
          <a:xfrm>
            <a:off x="594360" y="6428232"/>
            <a:ext cx="11000232" cy="0"/>
          </a:xfrm>
          <a:prstGeom prst="line">
            <a:avLst/>
          </a:prstGeom>
          <a:ln w="12700">
            <a:solidFill>
              <a:srgbClr val="376C6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94360" y="6537960"/>
            <a:ext cx="7772400" cy="164592"/>
          </a:xfrm>
          <a:prstGeom prst="rect">
            <a:avLst/>
          </a:prstGeom>
          <a:noFill/>
        </p:spPr>
        <p:txBody>
          <a:bodyPr wrap="square" lIns="0" rIns="0" tIns="0" bIns="0" anchor="t">
            <a:spAutoFit/>
          </a:bodyPr>
          <a:lstStyle/>
          <a:p>
            <a:pPr>
              <a:lnSpc>
                <a:spcPct val="108000"/>
              </a:lnSpc>
              <a:spcBef>
                <a:spcPts val="0"/>
              </a:spcBef>
              <a:spcAft>
                <a:spcPts val="0"/>
              </a:spcAft>
            </a:pPr>
            <a:r>
              <a:rPr sz="850" b="0">
                <a:solidFill>
                  <a:srgbClr val="B7CDD0"/>
                </a:solidFill>
                <a:latin typeface="Arial"/>
              </a:rPr>
              <a:t>SAMRIT  /  A PLACE AT THE TABLE</a:t>
            </a:r>
          </a:p>
        </p:txBody>
      </p:sp>
      <p:sp>
        <p:nvSpPr>
          <p:cNvPr id="6" name="TextBox 5"/>
          <p:cNvSpPr txBox="1"/>
          <p:nvPr/>
        </p:nvSpPr>
        <p:spPr>
          <a:xfrm>
            <a:off x="11109960" y="6510528"/>
            <a:ext cx="457200" cy="210312"/>
          </a:xfrm>
          <a:prstGeom prst="rect">
            <a:avLst/>
          </a:prstGeom>
          <a:noFill/>
        </p:spPr>
        <p:txBody>
          <a:bodyPr wrap="square" lIns="0" rIns="0" tIns="0" bIns="0" anchor="t">
            <a:spAutoFit/>
          </a:bodyPr>
          <a:lstStyle/>
          <a:p>
            <a:pPr algn="r">
              <a:lnSpc>
                <a:spcPct val="108000"/>
              </a:lnSpc>
              <a:spcBef>
                <a:spcPts val="0"/>
              </a:spcBef>
              <a:spcAft>
                <a:spcPts val="0"/>
              </a:spcAft>
            </a:pPr>
            <a:r>
              <a:rPr sz="1100" b="0">
                <a:solidFill>
                  <a:srgbClr val="B7CDD0"/>
                </a:solidFill>
                <a:latin typeface="Arial"/>
              </a:rPr>
              <a:t>02</a:t>
            </a:r>
          </a:p>
        </p:txBody>
      </p:sp>
      <p:sp>
        <p:nvSpPr>
          <p:cNvPr id="7" name="TextBox 6"/>
          <p:cNvSpPr txBox="1"/>
          <p:nvPr/>
        </p:nvSpPr>
        <p:spPr>
          <a:xfrm>
            <a:off x="640080" y="2395728"/>
            <a:ext cx="411480" cy="365760"/>
          </a:xfrm>
          <a:prstGeom prst="rect">
            <a:avLst/>
          </a:prstGeom>
          <a:noFill/>
        </p:spPr>
        <p:txBody>
          <a:bodyPr wrap="square" lIns="0" rIns="0" tIns="0" bIns="0" anchor="t">
            <a:spAutoFit/>
          </a:bodyPr>
          <a:lstStyle/>
          <a:p>
            <a:pPr>
              <a:lnSpc>
                <a:spcPct val="108000"/>
              </a:lnSpc>
              <a:spcBef>
                <a:spcPts val="0"/>
              </a:spcBef>
              <a:spcAft>
                <a:spcPts val="0"/>
              </a:spcAft>
            </a:pPr>
            <a:r>
              <a:rPr sz="1700" b="1">
                <a:solidFill>
                  <a:srgbClr val="B5D588"/>
                </a:solidFill>
                <a:latin typeface="Arial"/>
              </a:rPr>
              <a:t>01</a:t>
            </a:r>
          </a:p>
        </p:txBody>
      </p:sp>
      <p:sp>
        <p:nvSpPr>
          <p:cNvPr id="8" name="TextBox 7"/>
          <p:cNvSpPr txBox="1"/>
          <p:nvPr/>
        </p:nvSpPr>
        <p:spPr>
          <a:xfrm>
            <a:off x="1170431" y="2386584"/>
            <a:ext cx="4956048" cy="384048"/>
          </a:xfrm>
          <a:prstGeom prst="rect">
            <a:avLst/>
          </a:prstGeom>
          <a:noFill/>
        </p:spPr>
        <p:txBody>
          <a:bodyPr wrap="square" lIns="0" rIns="0" tIns="0" bIns="0" anchor="t">
            <a:spAutoFit/>
          </a:bodyPr>
          <a:lstStyle/>
          <a:p>
            <a:pPr>
              <a:lnSpc>
                <a:spcPct val="108000"/>
              </a:lnSpc>
              <a:spcBef>
                <a:spcPts val="0"/>
              </a:spcBef>
              <a:spcAft>
                <a:spcPts val="0"/>
              </a:spcAft>
            </a:pPr>
            <a:r>
              <a:rPr sz="2100" b="1">
                <a:solidFill>
                  <a:srgbClr val="FFFFFF"/>
                </a:solidFill>
                <a:latin typeface="Arial"/>
              </a:rPr>
              <a:t>Steel is the structure.</a:t>
            </a:r>
          </a:p>
        </p:txBody>
      </p:sp>
      <p:sp>
        <p:nvSpPr>
          <p:cNvPr id="9" name="TextBox 8"/>
          <p:cNvSpPr txBox="1"/>
          <p:nvPr/>
        </p:nvSpPr>
        <p:spPr>
          <a:xfrm>
            <a:off x="1170431" y="2816352"/>
            <a:ext cx="4937760" cy="804672"/>
          </a:xfrm>
          <a:prstGeom prst="rect">
            <a:avLst/>
          </a:prstGeom>
          <a:noFill/>
        </p:spPr>
        <p:txBody>
          <a:bodyPr wrap="square" lIns="0" rIns="0" tIns="0" bIns="0" anchor="t">
            <a:spAutoFit/>
          </a:bodyPr>
          <a:lstStyle/>
          <a:p>
            <a:pPr>
              <a:lnSpc>
                <a:spcPct val="108000"/>
              </a:lnSpc>
              <a:spcBef>
                <a:spcPts val="0"/>
              </a:spcBef>
              <a:spcAft>
                <a:spcPts val="0"/>
              </a:spcAft>
            </a:pPr>
            <a:r>
              <a:rPr sz="1700" b="0">
                <a:solidFill>
                  <a:srgbClr val="B7CDD0"/>
                </a:solidFill>
                <a:latin typeface="Arial"/>
              </a:rPr>
              <a:t>Trucks, equipment, storage,</a:t>
            </a:r>
          </a:p>
          <a:p>
            <a:pPr>
              <a:lnSpc>
                <a:spcPct val="108000"/>
              </a:lnSpc>
              <a:spcBef>
                <a:spcPts val="0"/>
              </a:spcBef>
              <a:spcAft>
                <a:spcPts val="0"/>
              </a:spcAft>
            </a:pPr>
            <a:r>
              <a:rPr sz="1700" b="0">
                <a:solidFill>
                  <a:srgbClr val="B7CDD0"/>
                </a:solidFill>
                <a:latin typeface="Arial"/>
              </a:rPr>
              <a:t>records and reliable handoffs.</a:t>
            </a:r>
          </a:p>
        </p:txBody>
      </p:sp>
      <p:sp>
        <p:nvSpPr>
          <p:cNvPr id="10" name="TextBox 9"/>
          <p:cNvSpPr txBox="1"/>
          <p:nvPr/>
        </p:nvSpPr>
        <p:spPr>
          <a:xfrm>
            <a:off x="640080" y="4096512"/>
            <a:ext cx="411480" cy="365760"/>
          </a:xfrm>
          <a:prstGeom prst="rect">
            <a:avLst/>
          </a:prstGeom>
          <a:noFill/>
        </p:spPr>
        <p:txBody>
          <a:bodyPr wrap="square" lIns="0" rIns="0" tIns="0" bIns="0" anchor="t">
            <a:spAutoFit/>
          </a:bodyPr>
          <a:lstStyle/>
          <a:p>
            <a:pPr>
              <a:lnSpc>
                <a:spcPct val="108000"/>
              </a:lnSpc>
              <a:spcBef>
                <a:spcPts val="0"/>
              </a:spcBef>
              <a:spcAft>
                <a:spcPts val="0"/>
              </a:spcAft>
            </a:pPr>
            <a:r>
              <a:rPr sz="1700" b="1">
                <a:solidFill>
                  <a:srgbClr val="B5D588"/>
                </a:solidFill>
                <a:latin typeface="Arial"/>
              </a:rPr>
              <a:t>02</a:t>
            </a:r>
          </a:p>
        </p:txBody>
      </p:sp>
      <p:sp>
        <p:nvSpPr>
          <p:cNvPr id="11" name="TextBox 10"/>
          <p:cNvSpPr txBox="1"/>
          <p:nvPr/>
        </p:nvSpPr>
        <p:spPr>
          <a:xfrm>
            <a:off x="1170431" y="4087368"/>
            <a:ext cx="4956048" cy="384048"/>
          </a:xfrm>
          <a:prstGeom prst="rect">
            <a:avLst/>
          </a:prstGeom>
          <a:noFill/>
        </p:spPr>
        <p:txBody>
          <a:bodyPr wrap="square" lIns="0" rIns="0" tIns="0" bIns="0" anchor="t">
            <a:spAutoFit/>
          </a:bodyPr>
          <a:lstStyle/>
          <a:p>
            <a:pPr>
              <a:lnSpc>
                <a:spcPct val="108000"/>
              </a:lnSpc>
              <a:spcBef>
                <a:spcPts val="0"/>
              </a:spcBef>
              <a:spcAft>
                <a:spcPts val="0"/>
              </a:spcAft>
            </a:pPr>
            <a:r>
              <a:rPr sz="2100" b="1">
                <a:solidFill>
                  <a:srgbClr val="FFFFFF"/>
                </a:solidFill>
                <a:latin typeface="Arial"/>
              </a:rPr>
              <a:t>Steam is the purpose.</a:t>
            </a:r>
          </a:p>
        </p:txBody>
      </p:sp>
      <p:sp>
        <p:nvSpPr>
          <p:cNvPr id="12" name="TextBox 11"/>
          <p:cNvSpPr txBox="1"/>
          <p:nvPr/>
        </p:nvSpPr>
        <p:spPr>
          <a:xfrm>
            <a:off x="1170431" y="4517136"/>
            <a:ext cx="4937760" cy="804672"/>
          </a:xfrm>
          <a:prstGeom prst="rect">
            <a:avLst/>
          </a:prstGeom>
          <a:noFill/>
        </p:spPr>
        <p:txBody>
          <a:bodyPr wrap="square" lIns="0" rIns="0" tIns="0" bIns="0" anchor="t">
            <a:spAutoFit/>
          </a:bodyPr>
          <a:lstStyle/>
          <a:p>
            <a:pPr>
              <a:lnSpc>
                <a:spcPct val="108000"/>
              </a:lnSpc>
              <a:spcBef>
                <a:spcPts val="0"/>
              </a:spcBef>
              <a:spcAft>
                <a:spcPts val="0"/>
              </a:spcAft>
            </a:pPr>
            <a:r>
              <a:rPr sz="1700" b="0">
                <a:solidFill>
                  <a:srgbClr val="B7CDD0"/>
                </a:solidFill>
                <a:latin typeface="Arial"/>
              </a:rPr>
              <a:t>A warm meal, a welcoming space,</a:t>
            </a:r>
          </a:p>
          <a:p>
            <a:pPr>
              <a:lnSpc>
                <a:spcPct val="108000"/>
              </a:lnSpc>
              <a:spcBef>
                <a:spcPts val="0"/>
              </a:spcBef>
              <a:spcAft>
                <a:spcPts val="0"/>
              </a:spcAft>
            </a:pPr>
            <a:r>
              <a:rPr sz="1700" b="0">
                <a:solidFill>
                  <a:srgbClr val="B7CDD0"/>
                </a:solidFill>
                <a:latin typeface="Arial"/>
              </a:rPr>
              <a:t>and the dignity of being nourished.</a:t>
            </a:r>
          </a:p>
        </p:txBody>
      </p:sp>
      <p:sp>
        <p:nvSpPr>
          <p:cNvPr id="13" name="Rounded Rectangle 12"/>
          <p:cNvSpPr/>
          <p:nvPr/>
        </p:nvSpPr>
        <p:spPr>
          <a:xfrm>
            <a:off x="7461504" y="3310128"/>
            <a:ext cx="2999232" cy="1554480"/>
          </a:xfrm>
          <a:prstGeom prst="roundRect">
            <a:avLst>
              <a:gd name="adj" fmla="val 12000"/>
            </a:avLst>
          </a:prstGeom>
          <a:solidFill>
            <a:srgbClr val="376C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059168" y="3429000"/>
            <a:ext cx="530352" cy="292608"/>
          </a:xfrm>
          <a:prstGeom prst="roundRect">
            <a:avLst>
              <a:gd name="adj" fmla="val 12000"/>
            </a:avLst>
          </a:prstGeom>
          <a:solidFill>
            <a:srgbClr val="B7C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0369296" y="3429000"/>
            <a:ext cx="530352" cy="292608"/>
          </a:xfrm>
          <a:prstGeom prst="roundRect">
            <a:avLst>
              <a:gd name="adj" fmla="val 12000"/>
            </a:avLst>
          </a:prstGeom>
          <a:solidFill>
            <a:srgbClr val="B7CD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351775" y="3108960"/>
            <a:ext cx="3218688" cy="146304"/>
          </a:xfrm>
          <a:prstGeom prst="roundRect">
            <a:avLst>
              <a:gd name="adj" fmla="val 12000"/>
            </a:avLst>
          </a:prstGeom>
          <a:solidFill>
            <a:srgbClr val="D9E3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668512" y="2852928"/>
            <a:ext cx="585216" cy="128016"/>
          </a:xfrm>
          <a:prstGeom prst="roundRect">
            <a:avLst>
              <a:gd name="adj" fmla="val 12000"/>
            </a:avLst>
          </a:prstGeom>
          <a:solidFill>
            <a:srgbClr val="D9E3D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flipH="1" flipV="1">
            <a:off x="7799831" y="2487168"/>
            <a:ext cx="137161" cy="237744"/>
          </a:xfrm>
          <a:prstGeom prst="line">
            <a:avLst/>
          </a:prstGeom>
          <a:ln w="38100">
            <a:solidFill>
              <a:srgbClr val="B5D588"/>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7799831" y="2221992"/>
            <a:ext cx="228600" cy="265176"/>
          </a:xfrm>
          <a:prstGeom prst="line">
            <a:avLst/>
          </a:prstGeom>
          <a:ln w="38100">
            <a:solidFill>
              <a:srgbClr val="B5D588"/>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7845552" y="1920240"/>
            <a:ext cx="182879" cy="301752"/>
          </a:xfrm>
          <a:prstGeom prst="line">
            <a:avLst/>
          </a:prstGeom>
          <a:ln w="38100">
            <a:solidFill>
              <a:srgbClr val="B5D588"/>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8695944" y="2487168"/>
            <a:ext cx="137160" cy="237744"/>
          </a:xfrm>
          <a:prstGeom prst="line">
            <a:avLst/>
          </a:prstGeom>
          <a:ln w="38100">
            <a:solidFill>
              <a:srgbClr val="B5D588"/>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8695944" y="2221992"/>
            <a:ext cx="228600" cy="265176"/>
          </a:xfrm>
          <a:prstGeom prst="line">
            <a:avLst/>
          </a:prstGeom>
          <a:ln w="38100">
            <a:solidFill>
              <a:srgbClr val="B5D588"/>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8741664" y="1920240"/>
            <a:ext cx="182880" cy="301752"/>
          </a:xfrm>
          <a:prstGeom prst="line">
            <a:avLst/>
          </a:prstGeom>
          <a:ln w="38100">
            <a:solidFill>
              <a:srgbClr val="B5D588"/>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9592056" y="2487168"/>
            <a:ext cx="137160" cy="237744"/>
          </a:xfrm>
          <a:prstGeom prst="line">
            <a:avLst/>
          </a:prstGeom>
          <a:ln w="38100">
            <a:solidFill>
              <a:srgbClr val="B5D588"/>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9592056" y="2221992"/>
            <a:ext cx="228600" cy="265176"/>
          </a:xfrm>
          <a:prstGeom prst="line">
            <a:avLst/>
          </a:prstGeom>
          <a:ln w="38100">
            <a:solidFill>
              <a:srgbClr val="B5D588"/>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9637776" y="1920240"/>
            <a:ext cx="182880" cy="301752"/>
          </a:xfrm>
          <a:prstGeom prst="line">
            <a:avLst/>
          </a:prstGeom>
          <a:ln w="38100">
            <a:solidFill>
              <a:srgbClr val="B5D588"/>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7059168" y="5074920"/>
            <a:ext cx="3840480" cy="0"/>
          </a:xfrm>
          <a:prstGeom prst="line">
            <a:avLst/>
          </a:prstGeom>
          <a:ln w="38100">
            <a:solidFill>
              <a:srgbClr val="537A5A"/>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040880" y="5404104"/>
            <a:ext cx="4114800" cy="457200"/>
          </a:xfrm>
          <a:prstGeom prst="rect">
            <a:avLst/>
          </a:prstGeom>
          <a:noFill/>
        </p:spPr>
        <p:txBody>
          <a:bodyPr wrap="square" lIns="0" rIns="0" tIns="0" bIns="0" anchor="t">
            <a:spAutoFit/>
          </a:bodyPr>
          <a:lstStyle/>
          <a:p>
            <a:pPr algn="ctr">
              <a:lnSpc>
                <a:spcPct val="108000"/>
              </a:lnSpc>
              <a:spcBef>
                <a:spcPts val="0"/>
              </a:spcBef>
              <a:spcAft>
                <a:spcPts val="0"/>
              </a:spcAft>
            </a:pPr>
            <a:r>
              <a:rPr sz="1300" b="1">
                <a:solidFill>
                  <a:srgbClr val="B7CDD0"/>
                </a:solidFill>
                <a:latin typeface="Arial"/>
              </a:rPr>
              <a:t>LOGISTICS IN SERVICE OF A MEAL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3"/>
        </a:solidFill>
        <a:effectLst/>
      </p:bgPr>
    </p:bg>
    <p:spTree>
      <p:nvGrpSpPr>
        <p:cNvPr id="1" name=""/>
        <p:cNvGrpSpPr/>
        <p:nvPr/>
      </p:nvGrpSpPr>
      <p:grpSpPr/>
      <p:sp>
        <p:nvSpPr>
          <p:cNvPr id="2" name="TextBox 1"/>
          <p:cNvSpPr txBox="1"/>
          <p:nvPr/>
        </p:nvSpPr>
        <p:spPr>
          <a:xfrm>
            <a:off x="594360" y="384048"/>
            <a:ext cx="9692640" cy="201168"/>
          </a:xfrm>
          <a:prstGeom prst="rect">
            <a:avLst/>
          </a:prstGeom>
          <a:noFill/>
        </p:spPr>
        <p:txBody>
          <a:bodyPr wrap="square" lIns="0" rIns="0" tIns="0" bIns="0" anchor="t">
            <a:spAutoFit/>
          </a:bodyPr>
          <a:lstStyle/>
          <a:p>
            <a:pPr>
              <a:lnSpc>
                <a:spcPct val="108000"/>
              </a:lnSpc>
              <a:spcBef>
                <a:spcPts val="0"/>
              </a:spcBef>
              <a:spcAft>
                <a:spcPts val="0"/>
              </a:spcAft>
            </a:pPr>
            <a:r>
              <a:rPr sz="1100" b="1">
                <a:solidFill>
                  <a:srgbClr val="376C6F"/>
                </a:solidFill>
                <a:latin typeface="Arial"/>
              </a:rPr>
              <a:t>THE NEED AND THE OPPORTUNITY</a:t>
            </a:r>
          </a:p>
        </p:txBody>
      </p:sp>
      <p:sp>
        <p:nvSpPr>
          <p:cNvPr id="3" name="TextBox 2"/>
          <p:cNvSpPr txBox="1"/>
          <p:nvPr/>
        </p:nvSpPr>
        <p:spPr>
          <a:xfrm>
            <a:off x="594360" y="877824"/>
            <a:ext cx="10972800" cy="1463040"/>
          </a:xfrm>
          <a:prstGeom prst="rect">
            <a:avLst/>
          </a:prstGeom>
          <a:noFill/>
        </p:spPr>
        <p:txBody>
          <a:bodyPr wrap="square" lIns="0" rIns="0" tIns="0" bIns="0" anchor="t">
            <a:spAutoFit/>
          </a:bodyPr>
          <a:lstStyle/>
          <a:p>
            <a:pPr>
              <a:lnSpc>
                <a:spcPct val="108000"/>
              </a:lnSpc>
              <a:spcBef>
                <a:spcPts val="0"/>
              </a:spcBef>
              <a:spcAft>
                <a:spcPts val="0"/>
              </a:spcAft>
            </a:pPr>
            <a:r>
              <a:rPr sz="3300" b="0">
                <a:solidFill>
                  <a:srgbClr val="244557"/>
                </a:solidFill>
                <a:latin typeface="Arial Rounded MT Bold"/>
              </a:rPr>
              <a:t>Food exists. Need exists.</a:t>
            </a:r>
          </a:p>
          <a:p>
            <a:pPr>
              <a:lnSpc>
                <a:spcPct val="108000"/>
              </a:lnSpc>
              <a:spcBef>
                <a:spcPts val="0"/>
              </a:spcBef>
              <a:spcAft>
                <a:spcPts val="0"/>
              </a:spcAft>
            </a:pPr>
            <a:r>
              <a:rPr sz="3300" b="0">
                <a:solidFill>
                  <a:srgbClr val="244557"/>
                </a:solidFill>
                <a:latin typeface="Arial Rounded MT Bold"/>
              </a:rPr>
              <a:t>The connection is missing.</a:t>
            </a:r>
          </a:p>
        </p:txBody>
      </p:sp>
      <p:cxnSp>
        <p:nvCxnSpPr>
          <p:cNvPr id="4" name="Connector 3"/>
          <p:cNvCxnSpPr/>
          <p:nvPr/>
        </p:nvCxnSpPr>
        <p:spPr>
          <a:xfrm>
            <a:off x="594360" y="6428232"/>
            <a:ext cx="11000232" cy="0"/>
          </a:xfrm>
          <a:prstGeom prst="line">
            <a:avLst/>
          </a:prstGeom>
          <a:ln w="12700">
            <a:solidFill>
              <a:srgbClr val="D9E3D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94360" y="6537960"/>
            <a:ext cx="7772400" cy="164592"/>
          </a:xfrm>
          <a:prstGeom prst="rect">
            <a:avLst/>
          </a:prstGeom>
          <a:noFill/>
        </p:spPr>
        <p:txBody>
          <a:bodyPr wrap="square" lIns="0" rIns="0" tIns="0" bIns="0" anchor="t">
            <a:spAutoFit/>
          </a:bodyPr>
          <a:lstStyle/>
          <a:p>
            <a:pPr>
              <a:lnSpc>
                <a:spcPct val="108000"/>
              </a:lnSpc>
              <a:spcBef>
                <a:spcPts val="0"/>
              </a:spcBef>
              <a:spcAft>
                <a:spcPts val="0"/>
              </a:spcAft>
            </a:pPr>
            <a:r>
              <a:rPr sz="850" b="0">
                <a:solidFill>
                  <a:srgbClr val="484D48"/>
                </a:solidFill>
                <a:latin typeface="Arial"/>
              </a:rPr>
              <a:t>SAMRIT  /  A PLACE AT THE TABLE</a:t>
            </a:r>
          </a:p>
        </p:txBody>
      </p:sp>
      <p:sp>
        <p:nvSpPr>
          <p:cNvPr id="6" name="TextBox 5"/>
          <p:cNvSpPr txBox="1"/>
          <p:nvPr/>
        </p:nvSpPr>
        <p:spPr>
          <a:xfrm>
            <a:off x="11109960" y="6510528"/>
            <a:ext cx="457200" cy="210312"/>
          </a:xfrm>
          <a:prstGeom prst="rect">
            <a:avLst/>
          </a:prstGeom>
          <a:noFill/>
        </p:spPr>
        <p:txBody>
          <a:bodyPr wrap="square" lIns="0" rIns="0" tIns="0" bIns="0" anchor="t">
            <a:spAutoFit/>
          </a:bodyPr>
          <a:lstStyle/>
          <a:p>
            <a:pPr algn="r">
              <a:lnSpc>
                <a:spcPct val="108000"/>
              </a:lnSpc>
              <a:spcBef>
                <a:spcPts val="0"/>
              </a:spcBef>
              <a:spcAft>
                <a:spcPts val="0"/>
              </a:spcAft>
            </a:pPr>
            <a:r>
              <a:rPr sz="1100" b="0">
                <a:solidFill>
                  <a:srgbClr val="484D48"/>
                </a:solidFill>
                <a:latin typeface="Arial"/>
              </a:rPr>
              <a:t>03</a:t>
            </a:r>
          </a:p>
        </p:txBody>
      </p:sp>
      <p:sp>
        <p:nvSpPr>
          <p:cNvPr id="7" name="TextBox 6"/>
          <p:cNvSpPr txBox="1"/>
          <p:nvPr/>
        </p:nvSpPr>
        <p:spPr>
          <a:xfrm>
            <a:off x="594360" y="2377440"/>
            <a:ext cx="2606040" cy="777240"/>
          </a:xfrm>
          <a:prstGeom prst="rect">
            <a:avLst/>
          </a:prstGeom>
          <a:noFill/>
        </p:spPr>
        <p:txBody>
          <a:bodyPr wrap="square" lIns="0" rIns="0" tIns="0" bIns="0" anchor="t">
            <a:spAutoFit/>
          </a:bodyPr>
          <a:lstStyle/>
          <a:p>
            <a:pPr>
              <a:lnSpc>
                <a:spcPct val="108000"/>
              </a:lnSpc>
              <a:spcBef>
                <a:spcPts val="0"/>
              </a:spcBef>
              <a:spcAft>
                <a:spcPts val="0"/>
              </a:spcAft>
            </a:pPr>
            <a:r>
              <a:rPr sz="4300" b="0">
                <a:solidFill>
                  <a:srgbClr val="376C6F"/>
                </a:solidFill>
                <a:latin typeface="Arial Rounded MT Bold"/>
              </a:rPr>
              <a:t>47.9M</a:t>
            </a:r>
          </a:p>
        </p:txBody>
      </p:sp>
      <p:sp>
        <p:nvSpPr>
          <p:cNvPr id="8" name="TextBox 7"/>
          <p:cNvSpPr txBox="1"/>
          <p:nvPr/>
        </p:nvSpPr>
        <p:spPr>
          <a:xfrm>
            <a:off x="594360" y="3401568"/>
            <a:ext cx="2587752" cy="438912"/>
          </a:xfrm>
          <a:prstGeom prst="rect">
            <a:avLst/>
          </a:prstGeom>
          <a:noFill/>
        </p:spPr>
        <p:txBody>
          <a:bodyPr wrap="square" lIns="0" rIns="0" tIns="0" bIns="0" anchor="t">
            <a:spAutoFit/>
          </a:bodyPr>
          <a:lstStyle/>
          <a:p>
            <a:pPr>
              <a:lnSpc>
                <a:spcPct val="108000"/>
              </a:lnSpc>
              <a:spcBef>
                <a:spcPts val="0"/>
              </a:spcBef>
              <a:spcAft>
                <a:spcPts val="0"/>
              </a:spcAft>
            </a:pPr>
            <a:r>
              <a:rPr sz="1100" b="1">
                <a:solidFill>
                  <a:srgbClr val="244557"/>
                </a:solidFill>
                <a:latin typeface="Arial"/>
              </a:rPr>
              <a:t>PEOPLE</a:t>
            </a:r>
          </a:p>
        </p:txBody>
      </p:sp>
      <p:sp>
        <p:nvSpPr>
          <p:cNvPr id="9" name="TextBox 8"/>
          <p:cNvSpPr txBox="1"/>
          <p:nvPr/>
        </p:nvSpPr>
        <p:spPr>
          <a:xfrm>
            <a:off x="594360" y="4014215"/>
            <a:ext cx="2496312" cy="960120"/>
          </a:xfrm>
          <a:prstGeom prst="rect">
            <a:avLst/>
          </a:prstGeom>
          <a:noFill/>
        </p:spPr>
        <p:txBody>
          <a:bodyPr wrap="square" lIns="0" rIns="0" tIns="0" bIns="0" anchor="t">
            <a:spAutoFit/>
          </a:bodyPr>
          <a:lstStyle/>
          <a:p>
            <a:pPr>
              <a:lnSpc>
                <a:spcPct val="108000"/>
              </a:lnSpc>
              <a:spcBef>
                <a:spcPts val="0"/>
              </a:spcBef>
              <a:spcAft>
                <a:spcPts val="0"/>
              </a:spcAft>
            </a:pPr>
            <a:r>
              <a:rPr sz="1800" b="0">
                <a:solidFill>
                  <a:srgbClr val="484D48"/>
                </a:solidFill>
                <a:latin typeface="Arial"/>
              </a:rPr>
              <a:t>Lived in food-insecure</a:t>
            </a:r>
          </a:p>
          <a:p>
            <a:pPr>
              <a:lnSpc>
                <a:spcPct val="108000"/>
              </a:lnSpc>
              <a:spcBef>
                <a:spcPts val="0"/>
              </a:spcBef>
              <a:spcAft>
                <a:spcPts val="0"/>
              </a:spcAft>
            </a:pPr>
            <a:r>
              <a:rPr sz="1800" b="0">
                <a:solidFill>
                  <a:srgbClr val="484D48"/>
                </a:solidFill>
                <a:latin typeface="Arial"/>
              </a:rPr>
              <a:t>U.S. households in 2024.</a:t>
            </a:r>
          </a:p>
        </p:txBody>
      </p:sp>
      <p:sp>
        <p:nvSpPr>
          <p:cNvPr id="10" name="TextBox 9"/>
          <p:cNvSpPr txBox="1"/>
          <p:nvPr/>
        </p:nvSpPr>
        <p:spPr>
          <a:xfrm>
            <a:off x="594360" y="5157216"/>
            <a:ext cx="2560320" cy="228600"/>
          </a:xfrm>
          <a:prstGeom prst="rect">
            <a:avLst/>
          </a:prstGeom>
          <a:noFill/>
        </p:spPr>
        <p:txBody>
          <a:bodyPr wrap="square" lIns="0" rIns="0" tIns="0" bIns="0" anchor="t">
            <a:spAutoFit/>
          </a:bodyPr>
          <a:lstStyle/>
          <a:p>
            <a:pPr>
              <a:lnSpc>
                <a:spcPct val="108000"/>
              </a:lnSpc>
              <a:spcBef>
                <a:spcPts val="0"/>
              </a:spcBef>
              <a:spcAft>
                <a:spcPts val="0"/>
              </a:spcAft>
            </a:pPr>
            <a:r>
              <a:rPr sz="1000" b="0">
                <a:solidFill>
                  <a:srgbClr val="376C6F"/>
                </a:solidFill>
                <a:latin typeface="Arial"/>
                <a:hlinkClick r:id="rId2"/>
              </a:rPr>
              <a:t>[S1] USDA ERS</a:t>
            </a:r>
          </a:p>
        </p:txBody>
      </p:sp>
      <p:cxnSp>
        <p:nvCxnSpPr>
          <p:cNvPr id="11" name="Connector 10"/>
          <p:cNvCxnSpPr/>
          <p:nvPr/>
        </p:nvCxnSpPr>
        <p:spPr>
          <a:xfrm>
            <a:off x="3246120" y="2221992"/>
            <a:ext cx="0" cy="3172968"/>
          </a:xfrm>
          <a:prstGeom prst="line">
            <a:avLst/>
          </a:prstGeom>
          <a:ln w="12700">
            <a:solidFill>
              <a:srgbClr val="D9E3D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429000" y="2377440"/>
            <a:ext cx="2606040" cy="777240"/>
          </a:xfrm>
          <a:prstGeom prst="rect">
            <a:avLst/>
          </a:prstGeom>
          <a:noFill/>
        </p:spPr>
        <p:txBody>
          <a:bodyPr wrap="square" lIns="0" rIns="0" tIns="0" bIns="0" anchor="t">
            <a:spAutoFit/>
          </a:bodyPr>
          <a:lstStyle/>
          <a:p>
            <a:pPr>
              <a:lnSpc>
                <a:spcPct val="108000"/>
              </a:lnSpc>
              <a:spcBef>
                <a:spcPts val="0"/>
              </a:spcBef>
              <a:spcAft>
                <a:spcPts val="0"/>
              </a:spcAft>
            </a:pPr>
            <a:r>
              <a:rPr sz="4300" b="0">
                <a:solidFill>
                  <a:srgbClr val="376C6F"/>
                </a:solidFill>
                <a:latin typeface="Arial Rounded MT Bold"/>
              </a:rPr>
              <a:t>30–40%</a:t>
            </a:r>
          </a:p>
        </p:txBody>
      </p:sp>
      <p:sp>
        <p:nvSpPr>
          <p:cNvPr id="13" name="TextBox 12"/>
          <p:cNvSpPr txBox="1"/>
          <p:nvPr/>
        </p:nvSpPr>
        <p:spPr>
          <a:xfrm>
            <a:off x="3429000" y="3401568"/>
            <a:ext cx="2587752" cy="438912"/>
          </a:xfrm>
          <a:prstGeom prst="rect">
            <a:avLst/>
          </a:prstGeom>
          <a:noFill/>
        </p:spPr>
        <p:txBody>
          <a:bodyPr wrap="square" lIns="0" rIns="0" tIns="0" bIns="0" anchor="t">
            <a:spAutoFit/>
          </a:bodyPr>
          <a:lstStyle/>
          <a:p>
            <a:pPr>
              <a:lnSpc>
                <a:spcPct val="108000"/>
              </a:lnSpc>
              <a:spcBef>
                <a:spcPts val="0"/>
              </a:spcBef>
              <a:spcAft>
                <a:spcPts val="0"/>
              </a:spcAft>
            </a:pPr>
            <a:r>
              <a:rPr sz="1100" b="1">
                <a:solidFill>
                  <a:srgbClr val="244557"/>
                </a:solidFill>
                <a:latin typeface="Arial"/>
              </a:rPr>
              <a:t>OF U.S. FOOD SUPPLY</a:t>
            </a:r>
          </a:p>
        </p:txBody>
      </p:sp>
      <p:sp>
        <p:nvSpPr>
          <p:cNvPr id="14" name="TextBox 13"/>
          <p:cNvSpPr txBox="1"/>
          <p:nvPr/>
        </p:nvSpPr>
        <p:spPr>
          <a:xfrm>
            <a:off x="3429000" y="4014215"/>
            <a:ext cx="2496312" cy="960120"/>
          </a:xfrm>
          <a:prstGeom prst="rect">
            <a:avLst/>
          </a:prstGeom>
          <a:noFill/>
        </p:spPr>
        <p:txBody>
          <a:bodyPr wrap="square" lIns="0" rIns="0" tIns="0" bIns="0" anchor="t">
            <a:spAutoFit/>
          </a:bodyPr>
          <a:lstStyle/>
          <a:p>
            <a:pPr>
              <a:lnSpc>
                <a:spcPct val="108000"/>
              </a:lnSpc>
              <a:spcBef>
                <a:spcPts val="0"/>
              </a:spcBef>
              <a:spcAft>
                <a:spcPts val="0"/>
              </a:spcAft>
            </a:pPr>
            <a:r>
              <a:rPr sz="1800" b="0">
                <a:solidFill>
                  <a:srgbClr val="484D48"/>
                </a:solidFill>
                <a:latin typeface="Arial"/>
              </a:rPr>
              <a:t>Estimated to go uneaten.</a:t>
            </a:r>
          </a:p>
        </p:txBody>
      </p:sp>
      <p:sp>
        <p:nvSpPr>
          <p:cNvPr id="15" name="TextBox 14"/>
          <p:cNvSpPr txBox="1"/>
          <p:nvPr/>
        </p:nvSpPr>
        <p:spPr>
          <a:xfrm>
            <a:off x="3429000" y="5157216"/>
            <a:ext cx="2560320" cy="228600"/>
          </a:xfrm>
          <a:prstGeom prst="rect">
            <a:avLst/>
          </a:prstGeom>
          <a:noFill/>
        </p:spPr>
        <p:txBody>
          <a:bodyPr wrap="square" lIns="0" rIns="0" tIns="0" bIns="0" anchor="t">
            <a:spAutoFit/>
          </a:bodyPr>
          <a:lstStyle/>
          <a:p>
            <a:pPr>
              <a:lnSpc>
                <a:spcPct val="108000"/>
              </a:lnSpc>
              <a:spcBef>
                <a:spcPts val="0"/>
              </a:spcBef>
              <a:spcAft>
                <a:spcPts val="0"/>
              </a:spcAft>
            </a:pPr>
            <a:r>
              <a:rPr sz="1000" b="0">
                <a:solidFill>
                  <a:srgbClr val="376C6F"/>
                </a:solidFill>
                <a:latin typeface="Arial"/>
                <a:hlinkClick r:id="rId3"/>
              </a:rPr>
              <a:t>[S2] EPA</a:t>
            </a:r>
          </a:p>
        </p:txBody>
      </p:sp>
      <p:cxnSp>
        <p:nvCxnSpPr>
          <p:cNvPr id="16" name="Connector 15"/>
          <p:cNvCxnSpPr/>
          <p:nvPr/>
        </p:nvCxnSpPr>
        <p:spPr>
          <a:xfrm>
            <a:off x="6080760" y="2221992"/>
            <a:ext cx="0" cy="3172968"/>
          </a:xfrm>
          <a:prstGeom prst="line">
            <a:avLst/>
          </a:prstGeom>
          <a:ln w="12700">
            <a:solidFill>
              <a:srgbClr val="D9E3DB"/>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263640" y="2377440"/>
            <a:ext cx="2606040" cy="777240"/>
          </a:xfrm>
          <a:prstGeom prst="rect">
            <a:avLst/>
          </a:prstGeom>
          <a:noFill/>
        </p:spPr>
        <p:txBody>
          <a:bodyPr wrap="square" lIns="0" rIns="0" tIns="0" bIns="0" anchor="t">
            <a:spAutoFit/>
          </a:bodyPr>
          <a:lstStyle/>
          <a:p>
            <a:pPr>
              <a:lnSpc>
                <a:spcPct val="108000"/>
              </a:lnSpc>
              <a:spcBef>
                <a:spcPts val="0"/>
              </a:spcBef>
              <a:spcAft>
                <a:spcPts val="0"/>
              </a:spcAft>
            </a:pPr>
            <a:r>
              <a:rPr sz="4300" b="0">
                <a:solidFill>
                  <a:srgbClr val="376C6F"/>
                </a:solidFill>
                <a:latin typeface="Arial Rounded MT Bold"/>
              </a:rPr>
              <a:t>~800</a:t>
            </a:r>
          </a:p>
        </p:txBody>
      </p:sp>
      <p:sp>
        <p:nvSpPr>
          <p:cNvPr id="18" name="TextBox 17"/>
          <p:cNvSpPr txBox="1"/>
          <p:nvPr/>
        </p:nvSpPr>
        <p:spPr>
          <a:xfrm>
            <a:off x="6263640" y="3401568"/>
            <a:ext cx="2587752" cy="438912"/>
          </a:xfrm>
          <a:prstGeom prst="rect">
            <a:avLst/>
          </a:prstGeom>
          <a:noFill/>
        </p:spPr>
        <p:txBody>
          <a:bodyPr wrap="square" lIns="0" rIns="0" tIns="0" bIns="0" anchor="t">
            <a:spAutoFit/>
          </a:bodyPr>
          <a:lstStyle/>
          <a:p>
            <a:pPr>
              <a:lnSpc>
                <a:spcPct val="108000"/>
              </a:lnSpc>
              <a:spcBef>
                <a:spcPts val="0"/>
              </a:spcBef>
              <a:spcAft>
                <a:spcPts val="0"/>
              </a:spcAft>
            </a:pPr>
            <a:r>
              <a:rPr sz="1100" b="1">
                <a:solidFill>
                  <a:srgbClr val="244557"/>
                </a:solidFill>
                <a:latin typeface="Arial"/>
              </a:rPr>
              <a:t>NYC NETWORK LOCATIONS</a:t>
            </a:r>
          </a:p>
        </p:txBody>
      </p:sp>
      <p:sp>
        <p:nvSpPr>
          <p:cNvPr id="19" name="TextBox 18"/>
          <p:cNvSpPr txBox="1"/>
          <p:nvPr/>
        </p:nvSpPr>
        <p:spPr>
          <a:xfrm>
            <a:off x="6263640" y="4014215"/>
            <a:ext cx="2496312" cy="960120"/>
          </a:xfrm>
          <a:prstGeom prst="rect">
            <a:avLst/>
          </a:prstGeom>
          <a:noFill/>
        </p:spPr>
        <p:txBody>
          <a:bodyPr wrap="square" lIns="0" rIns="0" tIns="0" bIns="0" anchor="t">
            <a:spAutoFit/>
          </a:bodyPr>
          <a:lstStyle/>
          <a:p>
            <a:pPr>
              <a:lnSpc>
                <a:spcPct val="108000"/>
              </a:lnSpc>
              <a:spcBef>
                <a:spcPts val="0"/>
              </a:spcBef>
              <a:spcAft>
                <a:spcPts val="0"/>
              </a:spcAft>
            </a:pPr>
            <a:r>
              <a:rPr sz="1800" b="0">
                <a:solidFill>
                  <a:srgbClr val="484D48"/>
                </a:solidFill>
                <a:latin typeface="Arial"/>
              </a:rPr>
              <a:t>Pantries, soup kitchens</a:t>
            </a:r>
          </a:p>
          <a:p>
            <a:pPr>
              <a:lnSpc>
                <a:spcPct val="108000"/>
              </a:lnSpc>
              <a:spcBef>
                <a:spcPts val="0"/>
              </a:spcBef>
              <a:spcAft>
                <a:spcPts val="0"/>
              </a:spcAft>
            </a:pPr>
            <a:r>
              <a:rPr sz="1800" b="0">
                <a:solidFill>
                  <a:srgbClr val="484D48"/>
                </a:solidFill>
                <a:latin typeface="Arial"/>
              </a:rPr>
              <a:t>and mobile pantries.</a:t>
            </a:r>
          </a:p>
        </p:txBody>
      </p:sp>
      <p:sp>
        <p:nvSpPr>
          <p:cNvPr id="20" name="TextBox 19"/>
          <p:cNvSpPr txBox="1"/>
          <p:nvPr/>
        </p:nvSpPr>
        <p:spPr>
          <a:xfrm>
            <a:off x="6263640" y="5157216"/>
            <a:ext cx="2560320" cy="228600"/>
          </a:xfrm>
          <a:prstGeom prst="rect">
            <a:avLst/>
          </a:prstGeom>
          <a:noFill/>
        </p:spPr>
        <p:txBody>
          <a:bodyPr wrap="square" lIns="0" rIns="0" tIns="0" bIns="0" anchor="t">
            <a:spAutoFit/>
          </a:bodyPr>
          <a:lstStyle/>
          <a:p>
            <a:pPr>
              <a:lnSpc>
                <a:spcPct val="108000"/>
              </a:lnSpc>
              <a:spcBef>
                <a:spcPts val="0"/>
              </a:spcBef>
              <a:spcAft>
                <a:spcPts val="0"/>
              </a:spcAft>
            </a:pPr>
            <a:r>
              <a:rPr sz="1000" b="0">
                <a:solidFill>
                  <a:srgbClr val="376C6F"/>
                </a:solidFill>
                <a:latin typeface="Arial"/>
                <a:hlinkClick r:id="rId4"/>
              </a:rPr>
              <a:t>[S3] Food Bank For NYC</a:t>
            </a:r>
          </a:p>
        </p:txBody>
      </p:sp>
      <p:cxnSp>
        <p:nvCxnSpPr>
          <p:cNvPr id="21" name="Connector 20"/>
          <p:cNvCxnSpPr/>
          <p:nvPr/>
        </p:nvCxnSpPr>
        <p:spPr>
          <a:xfrm>
            <a:off x="8915400" y="2221992"/>
            <a:ext cx="0" cy="3172968"/>
          </a:xfrm>
          <a:prstGeom prst="line">
            <a:avLst/>
          </a:prstGeom>
          <a:ln w="12700">
            <a:solidFill>
              <a:srgbClr val="D9E3DB"/>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098280" y="2377440"/>
            <a:ext cx="2606040" cy="777240"/>
          </a:xfrm>
          <a:prstGeom prst="rect">
            <a:avLst/>
          </a:prstGeom>
          <a:noFill/>
        </p:spPr>
        <p:txBody>
          <a:bodyPr wrap="square" lIns="0" rIns="0" tIns="0" bIns="0" anchor="t">
            <a:spAutoFit/>
          </a:bodyPr>
          <a:lstStyle/>
          <a:p>
            <a:pPr>
              <a:lnSpc>
                <a:spcPct val="108000"/>
              </a:lnSpc>
              <a:spcBef>
                <a:spcPts val="0"/>
              </a:spcBef>
              <a:spcAft>
                <a:spcPts val="0"/>
              </a:spcAft>
            </a:pPr>
            <a:r>
              <a:rPr sz="4300" b="0">
                <a:solidFill>
                  <a:srgbClr val="376C6F"/>
                </a:solidFill>
                <a:latin typeface="Arial Rounded MT Bold"/>
              </a:rPr>
              <a:t>80%</a:t>
            </a:r>
          </a:p>
        </p:txBody>
      </p:sp>
      <p:sp>
        <p:nvSpPr>
          <p:cNvPr id="23" name="TextBox 22"/>
          <p:cNvSpPr txBox="1"/>
          <p:nvPr/>
        </p:nvSpPr>
        <p:spPr>
          <a:xfrm>
            <a:off x="9098280" y="3401568"/>
            <a:ext cx="2587752" cy="438912"/>
          </a:xfrm>
          <a:prstGeom prst="rect">
            <a:avLst/>
          </a:prstGeom>
          <a:noFill/>
        </p:spPr>
        <p:txBody>
          <a:bodyPr wrap="square" lIns="0" rIns="0" tIns="0" bIns="0" anchor="t">
            <a:spAutoFit/>
          </a:bodyPr>
          <a:lstStyle/>
          <a:p>
            <a:pPr>
              <a:lnSpc>
                <a:spcPct val="108000"/>
              </a:lnSpc>
              <a:spcBef>
                <a:spcPts val="0"/>
              </a:spcBef>
              <a:spcAft>
                <a:spcPts val="0"/>
              </a:spcAft>
            </a:pPr>
            <a:r>
              <a:rPr sz="1100" b="1">
                <a:solidFill>
                  <a:srgbClr val="244557"/>
                </a:solidFill>
                <a:latin typeface="Arial"/>
              </a:rPr>
              <a:t>SMARTPHONE OWNERSHIP</a:t>
            </a:r>
          </a:p>
        </p:txBody>
      </p:sp>
      <p:sp>
        <p:nvSpPr>
          <p:cNvPr id="24" name="TextBox 23"/>
          <p:cNvSpPr txBox="1"/>
          <p:nvPr/>
        </p:nvSpPr>
        <p:spPr>
          <a:xfrm>
            <a:off x="9098280" y="4014215"/>
            <a:ext cx="2496312" cy="960120"/>
          </a:xfrm>
          <a:prstGeom prst="rect">
            <a:avLst/>
          </a:prstGeom>
          <a:noFill/>
        </p:spPr>
        <p:txBody>
          <a:bodyPr wrap="square" lIns="0" rIns="0" tIns="0" bIns="0" anchor="t">
            <a:spAutoFit/>
          </a:bodyPr>
          <a:lstStyle/>
          <a:p>
            <a:pPr>
              <a:lnSpc>
                <a:spcPct val="108000"/>
              </a:lnSpc>
              <a:spcBef>
                <a:spcPts val="0"/>
              </a:spcBef>
              <a:spcAft>
                <a:spcPts val="0"/>
              </a:spcAft>
            </a:pPr>
            <a:r>
              <a:rPr sz="1800" b="0">
                <a:solidFill>
                  <a:srgbClr val="484D48"/>
                </a:solidFill>
                <a:latin typeface="Arial"/>
              </a:rPr>
              <a:t>Adults in households</a:t>
            </a:r>
          </a:p>
          <a:p>
            <a:pPr>
              <a:lnSpc>
                <a:spcPct val="108000"/>
              </a:lnSpc>
              <a:spcBef>
                <a:spcPts val="0"/>
              </a:spcBef>
              <a:spcAft>
                <a:spcPts val="0"/>
              </a:spcAft>
            </a:pPr>
            <a:r>
              <a:rPr sz="1800" b="0">
                <a:solidFill>
                  <a:srgbClr val="484D48"/>
                </a:solidFill>
                <a:latin typeface="Arial"/>
              </a:rPr>
              <a:t>below $30K income.</a:t>
            </a:r>
          </a:p>
          <a:p>
            <a:pPr>
              <a:lnSpc>
                <a:spcPct val="108000"/>
              </a:lnSpc>
              <a:spcBef>
                <a:spcPts val="0"/>
              </a:spcBef>
              <a:spcAft>
                <a:spcPts val="0"/>
              </a:spcAft>
            </a:pPr>
            <a:r>
              <a:rPr sz="1800" b="0">
                <a:solidFill>
                  <a:srgbClr val="484D48"/>
                </a:solidFill>
                <a:latin typeface="Arial"/>
              </a:rPr>
              <a:t>United States, 2026.</a:t>
            </a:r>
          </a:p>
        </p:txBody>
      </p:sp>
      <p:sp>
        <p:nvSpPr>
          <p:cNvPr id="25" name="TextBox 24"/>
          <p:cNvSpPr txBox="1"/>
          <p:nvPr/>
        </p:nvSpPr>
        <p:spPr>
          <a:xfrm>
            <a:off x="9098280" y="5157216"/>
            <a:ext cx="2560320" cy="228600"/>
          </a:xfrm>
          <a:prstGeom prst="rect">
            <a:avLst/>
          </a:prstGeom>
          <a:noFill/>
        </p:spPr>
        <p:txBody>
          <a:bodyPr wrap="square" lIns="0" rIns="0" tIns="0" bIns="0" anchor="t">
            <a:spAutoFit/>
          </a:bodyPr>
          <a:lstStyle/>
          <a:p>
            <a:pPr>
              <a:lnSpc>
                <a:spcPct val="108000"/>
              </a:lnSpc>
              <a:spcBef>
                <a:spcPts val="0"/>
              </a:spcBef>
              <a:spcAft>
                <a:spcPts val="0"/>
              </a:spcAft>
            </a:pPr>
            <a:r>
              <a:rPr sz="1000" b="0">
                <a:solidFill>
                  <a:srgbClr val="376C6F"/>
                </a:solidFill>
                <a:latin typeface="Arial"/>
                <a:hlinkClick r:id="rId5"/>
              </a:rPr>
              <a:t>[S4] Pew Research Center</a:t>
            </a:r>
          </a:p>
        </p:txBody>
      </p:sp>
      <p:sp>
        <p:nvSpPr>
          <p:cNvPr id="26" name="TextBox 25"/>
          <p:cNvSpPr txBox="1"/>
          <p:nvPr/>
        </p:nvSpPr>
        <p:spPr>
          <a:xfrm>
            <a:off x="594360" y="6071616"/>
            <a:ext cx="10972800" cy="265176"/>
          </a:xfrm>
          <a:prstGeom prst="rect">
            <a:avLst/>
          </a:prstGeom>
          <a:noFill/>
        </p:spPr>
        <p:txBody>
          <a:bodyPr wrap="square" lIns="0" rIns="0" tIns="0" bIns="0" anchor="t">
            <a:spAutoFit/>
          </a:bodyPr>
          <a:lstStyle/>
          <a:p>
            <a:pPr>
              <a:lnSpc>
                <a:spcPct val="108000"/>
              </a:lnSpc>
              <a:spcBef>
                <a:spcPts val="0"/>
              </a:spcBef>
              <a:spcAft>
                <a:spcPts val="0"/>
              </a:spcAft>
            </a:pPr>
            <a:r>
              <a:rPr sz="1000" b="0">
                <a:solidFill>
                  <a:srgbClr val="484D48"/>
                </a:solidFill>
                <a:latin typeface="Arial"/>
              </a:rPr>
              <a:t>Phone ownership is an access proxy, not a measurement of food-insecure people. NYC network count combines service types.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2A33"/>
        </a:solidFill>
        <a:effectLst/>
      </p:bgPr>
    </p:bg>
    <p:spTree>
      <p:nvGrpSpPr>
        <p:cNvPr id="1" name=""/>
        <p:cNvGrpSpPr/>
        <p:nvPr/>
      </p:nvGrpSpPr>
      <p:grpSpPr/>
      <p:sp>
        <p:nvSpPr>
          <p:cNvPr id="2" name="TextBox 1"/>
          <p:cNvSpPr txBox="1"/>
          <p:nvPr/>
        </p:nvSpPr>
        <p:spPr>
          <a:xfrm>
            <a:off x="594360" y="384048"/>
            <a:ext cx="9692640" cy="201168"/>
          </a:xfrm>
          <a:prstGeom prst="rect">
            <a:avLst/>
          </a:prstGeom>
          <a:noFill/>
        </p:spPr>
        <p:txBody>
          <a:bodyPr wrap="square" lIns="0" rIns="0" tIns="0" bIns="0" anchor="t">
            <a:spAutoFit/>
          </a:bodyPr>
          <a:lstStyle/>
          <a:p>
            <a:pPr>
              <a:lnSpc>
                <a:spcPct val="108000"/>
              </a:lnSpc>
              <a:spcBef>
                <a:spcPts val="0"/>
              </a:spcBef>
              <a:spcAft>
                <a:spcPts val="0"/>
              </a:spcAft>
            </a:pPr>
            <a:r>
              <a:rPr sz="1100" b="1">
                <a:solidFill>
                  <a:srgbClr val="B5D588"/>
                </a:solidFill>
                <a:latin typeface="Arial"/>
              </a:rPr>
              <a:t>OUR DESIGN PRINCIPLES</a:t>
            </a:r>
          </a:p>
        </p:txBody>
      </p:sp>
      <p:sp>
        <p:nvSpPr>
          <p:cNvPr id="3" name="TextBox 2"/>
          <p:cNvSpPr txBox="1"/>
          <p:nvPr/>
        </p:nvSpPr>
        <p:spPr>
          <a:xfrm>
            <a:off x="594360" y="877824"/>
            <a:ext cx="10972800" cy="1463040"/>
          </a:xfrm>
          <a:prstGeom prst="rect">
            <a:avLst/>
          </a:prstGeom>
          <a:noFill/>
        </p:spPr>
        <p:txBody>
          <a:bodyPr wrap="square" lIns="0" rIns="0" tIns="0" bIns="0" anchor="t">
            <a:spAutoFit/>
          </a:bodyPr>
          <a:lstStyle/>
          <a:p>
            <a:pPr>
              <a:lnSpc>
                <a:spcPct val="108000"/>
              </a:lnSpc>
              <a:spcBef>
                <a:spcPts val="0"/>
              </a:spcBef>
              <a:spcAft>
                <a:spcPts val="0"/>
              </a:spcAft>
            </a:pPr>
            <a:r>
              <a:rPr sz="4300" b="0">
                <a:solidFill>
                  <a:srgbClr val="FFFFFF"/>
                </a:solidFill>
                <a:latin typeface="Arial Rounded MT Bold"/>
              </a:rPr>
              <a:t>Strict simplicity.</a:t>
            </a:r>
          </a:p>
          <a:p>
            <a:pPr>
              <a:lnSpc>
                <a:spcPct val="108000"/>
              </a:lnSpc>
              <a:spcBef>
                <a:spcPts val="0"/>
              </a:spcBef>
              <a:spcAft>
                <a:spcPts val="0"/>
              </a:spcAft>
            </a:pPr>
            <a:r>
              <a:rPr sz="4300" b="0">
                <a:solidFill>
                  <a:srgbClr val="FFFFFF"/>
                </a:solidFill>
                <a:latin typeface="Arial Rounded MT Bold"/>
              </a:rPr>
              <a:t>Accountable simplicity.</a:t>
            </a:r>
          </a:p>
        </p:txBody>
      </p:sp>
      <p:cxnSp>
        <p:nvCxnSpPr>
          <p:cNvPr id="4" name="Connector 3"/>
          <p:cNvCxnSpPr/>
          <p:nvPr/>
        </p:nvCxnSpPr>
        <p:spPr>
          <a:xfrm>
            <a:off x="594360" y="6428232"/>
            <a:ext cx="11000232" cy="0"/>
          </a:xfrm>
          <a:prstGeom prst="line">
            <a:avLst/>
          </a:prstGeom>
          <a:ln w="12700">
            <a:solidFill>
              <a:srgbClr val="376C6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94360" y="6537960"/>
            <a:ext cx="7772400" cy="164592"/>
          </a:xfrm>
          <a:prstGeom prst="rect">
            <a:avLst/>
          </a:prstGeom>
          <a:noFill/>
        </p:spPr>
        <p:txBody>
          <a:bodyPr wrap="square" lIns="0" rIns="0" tIns="0" bIns="0" anchor="t">
            <a:spAutoFit/>
          </a:bodyPr>
          <a:lstStyle/>
          <a:p>
            <a:pPr>
              <a:lnSpc>
                <a:spcPct val="108000"/>
              </a:lnSpc>
              <a:spcBef>
                <a:spcPts val="0"/>
              </a:spcBef>
              <a:spcAft>
                <a:spcPts val="0"/>
              </a:spcAft>
            </a:pPr>
            <a:r>
              <a:rPr sz="850" b="0">
                <a:solidFill>
                  <a:srgbClr val="B7CDD0"/>
                </a:solidFill>
                <a:latin typeface="Arial"/>
              </a:rPr>
              <a:t>SAMRIT  /  A PLACE AT THE TABLE</a:t>
            </a:r>
          </a:p>
        </p:txBody>
      </p:sp>
      <p:sp>
        <p:nvSpPr>
          <p:cNvPr id="6" name="TextBox 5"/>
          <p:cNvSpPr txBox="1"/>
          <p:nvPr/>
        </p:nvSpPr>
        <p:spPr>
          <a:xfrm>
            <a:off x="11109960" y="6510528"/>
            <a:ext cx="457200" cy="210312"/>
          </a:xfrm>
          <a:prstGeom prst="rect">
            <a:avLst/>
          </a:prstGeom>
          <a:noFill/>
        </p:spPr>
        <p:txBody>
          <a:bodyPr wrap="square" lIns="0" rIns="0" tIns="0" bIns="0" anchor="t">
            <a:spAutoFit/>
          </a:bodyPr>
          <a:lstStyle/>
          <a:p>
            <a:pPr algn="r">
              <a:lnSpc>
                <a:spcPct val="108000"/>
              </a:lnSpc>
              <a:spcBef>
                <a:spcPts val="0"/>
              </a:spcBef>
              <a:spcAft>
                <a:spcPts val="0"/>
              </a:spcAft>
            </a:pPr>
            <a:r>
              <a:rPr sz="1100" b="0">
                <a:solidFill>
                  <a:srgbClr val="B7CDD0"/>
                </a:solidFill>
                <a:latin typeface="Arial"/>
              </a:rPr>
              <a:t>04</a:t>
            </a:r>
          </a:p>
        </p:txBody>
      </p:sp>
      <p:cxnSp>
        <p:nvCxnSpPr>
          <p:cNvPr id="7" name="Connector 6"/>
          <p:cNvCxnSpPr/>
          <p:nvPr/>
        </p:nvCxnSpPr>
        <p:spPr>
          <a:xfrm>
            <a:off x="594360" y="2852928"/>
            <a:ext cx="3401568" cy="0"/>
          </a:xfrm>
          <a:prstGeom prst="line">
            <a:avLst/>
          </a:prstGeom>
          <a:ln w="38100">
            <a:solidFill>
              <a:srgbClr val="537A5A"/>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94360" y="3172968"/>
            <a:ext cx="914400" cy="548640"/>
          </a:xfrm>
          <a:prstGeom prst="rect">
            <a:avLst/>
          </a:prstGeom>
          <a:noFill/>
        </p:spPr>
        <p:txBody>
          <a:bodyPr wrap="square" lIns="0" rIns="0" tIns="0" bIns="0" anchor="t">
            <a:spAutoFit/>
          </a:bodyPr>
          <a:lstStyle/>
          <a:p>
            <a:pPr>
              <a:lnSpc>
                <a:spcPct val="108000"/>
              </a:lnSpc>
              <a:spcBef>
                <a:spcPts val="0"/>
              </a:spcBef>
              <a:spcAft>
                <a:spcPts val="0"/>
              </a:spcAft>
            </a:pPr>
            <a:r>
              <a:rPr sz="3200" b="0">
                <a:solidFill>
                  <a:srgbClr val="B5D588"/>
                </a:solidFill>
                <a:latin typeface="Arial Rounded MT Bold"/>
              </a:rPr>
              <a:t>01</a:t>
            </a:r>
          </a:p>
        </p:txBody>
      </p:sp>
      <p:sp>
        <p:nvSpPr>
          <p:cNvPr id="9" name="TextBox 8"/>
          <p:cNvSpPr txBox="1"/>
          <p:nvPr/>
        </p:nvSpPr>
        <p:spPr>
          <a:xfrm>
            <a:off x="594360" y="3977639"/>
            <a:ext cx="3383280" cy="731520"/>
          </a:xfrm>
          <a:prstGeom prst="rect">
            <a:avLst/>
          </a:prstGeom>
          <a:noFill/>
        </p:spPr>
        <p:txBody>
          <a:bodyPr wrap="square" lIns="0" rIns="0" tIns="0" bIns="0" anchor="t">
            <a:spAutoFit/>
          </a:bodyPr>
          <a:lstStyle/>
          <a:p>
            <a:pPr>
              <a:lnSpc>
                <a:spcPct val="108000"/>
              </a:lnSpc>
              <a:spcBef>
                <a:spcPts val="0"/>
              </a:spcBef>
              <a:spcAft>
                <a:spcPts val="0"/>
              </a:spcAft>
            </a:pPr>
            <a:r>
              <a:rPr sz="2300" b="1">
                <a:solidFill>
                  <a:srgbClr val="FFFFFF"/>
                </a:solidFill>
                <a:latin typeface="Arial"/>
              </a:rPr>
              <a:t>People seeking food first.</a:t>
            </a:r>
          </a:p>
        </p:txBody>
      </p:sp>
      <p:sp>
        <p:nvSpPr>
          <p:cNvPr id="10" name="TextBox 9"/>
          <p:cNvSpPr txBox="1"/>
          <p:nvPr/>
        </p:nvSpPr>
        <p:spPr>
          <a:xfrm>
            <a:off x="594360" y="4919472"/>
            <a:ext cx="3383280" cy="914400"/>
          </a:xfrm>
          <a:prstGeom prst="rect">
            <a:avLst/>
          </a:prstGeom>
          <a:noFill/>
        </p:spPr>
        <p:txBody>
          <a:bodyPr wrap="square" lIns="0" rIns="0" tIns="0" bIns="0" anchor="t">
            <a:spAutoFit/>
          </a:bodyPr>
          <a:lstStyle/>
          <a:p>
            <a:pPr>
              <a:lnSpc>
                <a:spcPct val="108000"/>
              </a:lnSpc>
              <a:spcBef>
                <a:spcPts val="0"/>
              </a:spcBef>
              <a:spcAft>
                <a:spcPts val="0"/>
              </a:spcAft>
            </a:pPr>
            <a:r>
              <a:rPr sz="1700" b="0">
                <a:solidFill>
                  <a:srgbClr val="B7CDD0"/>
                </a:solidFill>
                <a:latin typeface="Arial"/>
              </a:rPr>
              <a:t>No account required to find meals.</a:t>
            </a:r>
          </a:p>
          <a:p>
            <a:pPr>
              <a:lnSpc>
                <a:spcPct val="108000"/>
              </a:lnSpc>
              <a:spcBef>
                <a:spcPts val="0"/>
              </a:spcBef>
              <a:spcAft>
                <a:spcPts val="0"/>
              </a:spcAft>
            </a:pPr>
            <a:r>
              <a:rPr sz="1700" b="0">
                <a:solidFill>
                  <a:srgbClr val="B7CDD0"/>
                </a:solidFill>
                <a:latin typeface="Arial"/>
              </a:rPr>
              <a:t>The primary action is easy to see.</a:t>
            </a:r>
          </a:p>
        </p:txBody>
      </p:sp>
      <p:cxnSp>
        <p:nvCxnSpPr>
          <p:cNvPr id="11" name="Connector 10"/>
          <p:cNvCxnSpPr/>
          <p:nvPr/>
        </p:nvCxnSpPr>
        <p:spPr>
          <a:xfrm>
            <a:off x="4370832" y="2852928"/>
            <a:ext cx="3401568" cy="0"/>
          </a:xfrm>
          <a:prstGeom prst="line">
            <a:avLst/>
          </a:prstGeom>
          <a:ln w="38100">
            <a:solidFill>
              <a:srgbClr val="537A5A"/>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370832" y="3172968"/>
            <a:ext cx="914400" cy="548640"/>
          </a:xfrm>
          <a:prstGeom prst="rect">
            <a:avLst/>
          </a:prstGeom>
          <a:noFill/>
        </p:spPr>
        <p:txBody>
          <a:bodyPr wrap="square" lIns="0" rIns="0" tIns="0" bIns="0" anchor="t">
            <a:spAutoFit/>
          </a:bodyPr>
          <a:lstStyle/>
          <a:p>
            <a:pPr>
              <a:lnSpc>
                <a:spcPct val="108000"/>
              </a:lnSpc>
              <a:spcBef>
                <a:spcPts val="0"/>
              </a:spcBef>
              <a:spcAft>
                <a:spcPts val="0"/>
              </a:spcAft>
            </a:pPr>
            <a:r>
              <a:rPr sz="3200" b="0">
                <a:solidFill>
                  <a:srgbClr val="B5D588"/>
                </a:solidFill>
                <a:latin typeface="Arial Rounded MT Bold"/>
              </a:rPr>
              <a:t>02</a:t>
            </a:r>
          </a:p>
        </p:txBody>
      </p:sp>
      <p:sp>
        <p:nvSpPr>
          <p:cNvPr id="13" name="TextBox 12"/>
          <p:cNvSpPr txBox="1"/>
          <p:nvPr/>
        </p:nvSpPr>
        <p:spPr>
          <a:xfrm>
            <a:off x="4370832" y="3977639"/>
            <a:ext cx="3383280" cy="731520"/>
          </a:xfrm>
          <a:prstGeom prst="rect">
            <a:avLst/>
          </a:prstGeom>
          <a:noFill/>
        </p:spPr>
        <p:txBody>
          <a:bodyPr wrap="square" lIns="0" rIns="0" tIns="0" bIns="0" anchor="t">
            <a:spAutoFit/>
          </a:bodyPr>
          <a:lstStyle/>
          <a:p>
            <a:pPr>
              <a:lnSpc>
                <a:spcPct val="108000"/>
              </a:lnSpc>
              <a:spcBef>
                <a:spcPts val="0"/>
              </a:spcBef>
              <a:spcAft>
                <a:spcPts val="0"/>
              </a:spcAft>
            </a:pPr>
            <a:r>
              <a:rPr sz="2300" b="1">
                <a:solidFill>
                  <a:srgbClr val="FFFFFF"/>
                </a:solidFill>
                <a:latin typeface="Arial"/>
              </a:rPr>
              <a:t>Accessible by intention.</a:t>
            </a:r>
          </a:p>
        </p:txBody>
      </p:sp>
      <p:sp>
        <p:nvSpPr>
          <p:cNvPr id="14" name="TextBox 13"/>
          <p:cNvSpPr txBox="1"/>
          <p:nvPr/>
        </p:nvSpPr>
        <p:spPr>
          <a:xfrm>
            <a:off x="4370832" y="4919472"/>
            <a:ext cx="3383280" cy="914400"/>
          </a:xfrm>
          <a:prstGeom prst="rect">
            <a:avLst/>
          </a:prstGeom>
          <a:noFill/>
        </p:spPr>
        <p:txBody>
          <a:bodyPr wrap="square" lIns="0" rIns="0" tIns="0" bIns="0" anchor="t">
            <a:spAutoFit/>
          </a:bodyPr>
          <a:lstStyle/>
          <a:p>
            <a:pPr>
              <a:lnSpc>
                <a:spcPct val="108000"/>
              </a:lnSpc>
              <a:spcBef>
                <a:spcPts val="0"/>
              </a:spcBef>
              <a:spcAft>
                <a:spcPts val="0"/>
              </a:spcAft>
            </a:pPr>
            <a:r>
              <a:rPr sz="1700" b="0">
                <a:solidFill>
                  <a:srgbClr val="B7CDD0"/>
                </a:solidFill>
                <a:latin typeface="Arial"/>
              </a:rPr>
              <a:t>Plain language, responsive screens,</a:t>
            </a:r>
          </a:p>
          <a:p>
            <a:pPr>
              <a:lnSpc>
                <a:spcPct val="108000"/>
              </a:lnSpc>
              <a:spcBef>
                <a:spcPts val="0"/>
              </a:spcBef>
              <a:spcAft>
                <a:spcPts val="0"/>
              </a:spcAft>
            </a:pPr>
            <a:r>
              <a:rPr sz="1700" b="0">
                <a:solidFill>
                  <a:srgbClr val="B7CDD0"/>
                </a:solidFill>
                <a:latin typeface="Arial"/>
              </a:rPr>
              <a:t>visible choices and optional voice.</a:t>
            </a:r>
          </a:p>
        </p:txBody>
      </p:sp>
      <p:cxnSp>
        <p:nvCxnSpPr>
          <p:cNvPr id="15" name="Connector 14"/>
          <p:cNvCxnSpPr/>
          <p:nvPr/>
        </p:nvCxnSpPr>
        <p:spPr>
          <a:xfrm>
            <a:off x="8147304" y="2852928"/>
            <a:ext cx="3401568" cy="0"/>
          </a:xfrm>
          <a:prstGeom prst="line">
            <a:avLst/>
          </a:prstGeom>
          <a:ln w="38100">
            <a:solidFill>
              <a:srgbClr val="537A5A"/>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147304" y="3172968"/>
            <a:ext cx="914400" cy="548640"/>
          </a:xfrm>
          <a:prstGeom prst="rect">
            <a:avLst/>
          </a:prstGeom>
          <a:noFill/>
        </p:spPr>
        <p:txBody>
          <a:bodyPr wrap="square" lIns="0" rIns="0" tIns="0" bIns="0" anchor="t">
            <a:spAutoFit/>
          </a:bodyPr>
          <a:lstStyle/>
          <a:p>
            <a:pPr>
              <a:lnSpc>
                <a:spcPct val="108000"/>
              </a:lnSpc>
              <a:spcBef>
                <a:spcPts val="0"/>
              </a:spcBef>
              <a:spcAft>
                <a:spcPts val="0"/>
              </a:spcAft>
            </a:pPr>
            <a:r>
              <a:rPr sz="3200" b="0">
                <a:solidFill>
                  <a:srgbClr val="B5D588"/>
                </a:solidFill>
                <a:latin typeface="Arial Rounded MT Bold"/>
              </a:rPr>
              <a:t>03</a:t>
            </a:r>
          </a:p>
        </p:txBody>
      </p:sp>
      <p:sp>
        <p:nvSpPr>
          <p:cNvPr id="17" name="TextBox 16"/>
          <p:cNvSpPr txBox="1"/>
          <p:nvPr/>
        </p:nvSpPr>
        <p:spPr>
          <a:xfrm>
            <a:off x="8147304" y="3977639"/>
            <a:ext cx="3383280" cy="731520"/>
          </a:xfrm>
          <a:prstGeom prst="rect">
            <a:avLst/>
          </a:prstGeom>
          <a:noFill/>
        </p:spPr>
        <p:txBody>
          <a:bodyPr wrap="square" lIns="0" rIns="0" tIns="0" bIns="0" anchor="t">
            <a:spAutoFit/>
          </a:bodyPr>
          <a:lstStyle/>
          <a:p>
            <a:pPr>
              <a:lnSpc>
                <a:spcPct val="108000"/>
              </a:lnSpc>
              <a:spcBef>
                <a:spcPts val="0"/>
              </a:spcBef>
              <a:spcAft>
                <a:spcPts val="0"/>
              </a:spcAft>
            </a:pPr>
            <a:r>
              <a:rPr sz="2300" b="1">
                <a:solidFill>
                  <a:srgbClr val="FFFFFF"/>
                </a:solidFill>
                <a:latin typeface="Arial"/>
              </a:rPr>
              <a:t>Simple does not mean opaque.</a:t>
            </a:r>
          </a:p>
        </p:txBody>
      </p:sp>
      <p:sp>
        <p:nvSpPr>
          <p:cNvPr id="18" name="TextBox 17"/>
          <p:cNvSpPr txBox="1"/>
          <p:nvPr/>
        </p:nvSpPr>
        <p:spPr>
          <a:xfrm>
            <a:off x="8147304" y="4919472"/>
            <a:ext cx="3383280" cy="914400"/>
          </a:xfrm>
          <a:prstGeom prst="rect">
            <a:avLst/>
          </a:prstGeom>
          <a:noFill/>
        </p:spPr>
        <p:txBody>
          <a:bodyPr wrap="square" lIns="0" rIns="0" tIns="0" bIns="0" anchor="t">
            <a:spAutoFit/>
          </a:bodyPr>
          <a:lstStyle/>
          <a:p>
            <a:pPr>
              <a:lnSpc>
                <a:spcPct val="108000"/>
              </a:lnSpc>
              <a:spcBef>
                <a:spcPts val="0"/>
              </a:spcBef>
              <a:spcAft>
                <a:spcPts val="0"/>
              </a:spcAft>
            </a:pPr>
            <a:r>
              <a:rPr sz="1700" b="0">
                <a:solidFill>
                  <a:srgbClr val="B7CDD0"/>
                </a:solidFill>
                <a:latin typeface="Arial"/>
              </a:rPr>
              <a:t>A clear next step for the person.</a:t>
            </a:r>
          </a:p>
          <a:p>
            <a:pPr>
              <a:lnSpc>
                <a:spcPct val="108000"/>
              </a:lnSpc>
              <a:spcBef>
                <a:spcPts val="0"/>
              </a:spcBef>
              <a:spcAft>
                <a:spcPts val="0"/>
              </a:spcAft>
            </a:pPr>
            <a:r>
              <a:rPr sz="1700" b="0">
                <a:solidFill>
                  <a:srgbClr val="B7CDD0"/>
                </a:solidFill>
                <a:latin typeface="Arial"/>
              </a:rPr>
              <a:t>A clear record for the operator.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3"/>
        </a:solidFill>
        <a:effectLst/>
      </p:bgPr>
    </p:bg>
    <p:spTree>
      <p:nvGrpSpPr>
        <p:cNvPr id="1" name=""/>
        <p:cNvGrpSpPr/>
        <p:nvPr/>
      </p:nvGrpSpPr>
      <p:grpSpPr/>
      <p:sp>
        <p:nvSpPr>
          <p:cNvPr id="2" name="TextBox 1"/>
          <p:cNvSpPr txBox="1"/>
          <p:nvPr/>
        </p:nvSpPr>
        <p:spPr>
          <a:xfrm>
            <a:off x="594360" y="384048"/>
            <a:ext cx="9692640" cy="201168"/>
          </a:xfrm>
          <a:prstGeom prst="rect">
            <a:avLst/>
          </a:prstGeom>
          <a:noFill/>
        </p:spPr>
        <p:txBody>
          <a:bodyPr wrap="square" lIns="0" rIns="0" tIns="0" bIns="0" anchor="t">
            <a:spAutoFit/>
          </a:bodyPr>
          <a:lstStyle/>
          <a:p>
            <a:pPr>
              <a:lnSpc>
                <a:spcPct val="108000"/>
              </a:lnSpc>
              <a:spcBef>
                <a:spcPts val="0"/>
              </a:spcBef>
              <a:spcAft>
                <a:spcPts val="0"/>
              </a:spcAft>
            </a:pPr>
            <a:r>
              <a:rPr sz="1100" b="1">
                <a:solidFill>
                  <a:srgbClr val="376C6F"/>
                </a:solidFill>
                <a:latin typeface="Arial"/>
              </a:rPr>
              <a:t>WHAT MAKES SAMRIT DIFFERENT</a:t>
            </a:r>
          </a:p>
        </p:txBody>
      </p:sp>
      <p:sp>
        <p:nvSpPr>
          <p:cNvPr id="3" name="TextBox 2"/>
          <p:cNvSpPr txBox="1"/>
          <p:nvPr/>
        </p:nvSpPr>
        <p:spPr>
          <a:xfrm>
            <a:off x="594360" y="877824"/>
            <a:ext cx="10972800" cy="987552"/>
          </a:xfrm>
          <a:prstGeom prst="rect">
            <a:avLst/>
          </a:prstGeom>
          <a:noFill/>
        </p:spPr>
        <p:txBody>
          <a:bodyPr wrap="square" lIns="0" rIns="0" tIns="0" bIns="0" anchor="t">
            <a:spAutoFit/>
          </a:bodyPr>
          <a:lstStyle/>
          <a:p>
            <a:pPr>
              <a:lnSpc>
                <a:spcPct val="108000"/>
              </a:lnSpc>
              <a:spcBef>
                <a:spcPts val="0"/>
              </a:spcBef>
              <a:spcAft>
                <a:spcPts val="0"/>
              </a:spcAft>
            </a:pPr>
            <a:r>
              <a:rPr sz="3400" b="0">
                <a:solidFill>
                  <a:srgbClr val="244557"/>
                </a:solidFill>
                <a:latin typeface="Arial Rounded MT Bold"/>
              </a:rPr>
              <a:t>Four capabilities. One coherent experience.</a:t>
            </a:r>
          </a:p>
        </p:txBody>
      </p:sp>
      <p:cxnSp>
        <p:nvCxnSpPr>
          <p:cNvPr id="4" name="Connector 3"/>
          <p:cNvCxnSpPr/>
          <p:nvPr/>
        </p:nvCxnSpPr>
        <p:spPr>
          <a:xfrm>
            <a:off x="594360" y="6428232"/>
            <a:ext cx="11000232" cy="0"/>
          </a:xfrm>
          <a:prstGeom prst="line">
            <a:avLst/>
          </a:prstGeom>
          <a:ln w="12700">
            <a:solidFill>
              <a:srgbClr val="D9E3D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94360" y="6537960"/>
            <a:ext cx="7772400" cy="164592"/>
          </a:xfrm>
          <a:prstGeom prst="rect">
            <a:avLst/>
          </a:prstGeom>
          <a:noFill/>
        </p:spPr>
        <p:txBody>
          <a:bodyPr wrap="square" lIns="0" rIns="0" tIns="0" bIns="0" anchor="t">
            <a:spAutoFit/>
          </a:bodyPr>
          <a:lstStyle/>
          <a:p>
            <a:pPr>
              <a:lnSpc>
                <a:spcPct val="108000"/>
              </a:lnSpc>
              <a:spcBef>
                <a:spcPts val="0"/>
              </a:spcBef>
              <a:spcAft>
                <a:spcPts val="0"/>
              </a:spcAft>
            </a:pPr>
            <a:r>
              <a:rPr sz="850" b="0">
                <a:solidFill>
                  <a:srgbClr val="484D48"/>
                </a:solidFill>
                <a:latin typeface="Arial"/>
              </a:rPr>
              <a:t>SAMRIT  /  A PLACE AT THE TABLE</a:t>
            </a:r>
          </a:p>
        </p:txBody>
      </p:sp>
      <p:sp>
        <p:nvSpPr>
          <p:cNvPr id="6" name="TextBox 5"/>
          <p:cNvSpPr txBox="1"/>
          <p:nvPr/>
        </p:nvSpPr>
        <p:spPr>
          <a:xfrm>
            <a:off x="11109960" y="6510528"/>
            <a:ext cx="457200" cy="210312"/>
          </a:xfrm>
          <a:prstGeom prst="rect">
            <a:avLst/>
          </a:prstGeom>
          <a:noFill/>
        </p:spPr>
        <p:txBody>
          <a:bodyPr wrap="square" lIns="0" rIns="0" tIns="0" bIns="0" anchor="t">
            <a:spAutoFit/>
          </a:bodyPr>
          <a:lstStyle/>
          <a:p>
            <a:pPr algn="r">
              <a:lnSpc>
                <a:spcPct val="108000"/>
              </a:lnSpc>
              <a:spcBef>
                <a:spcPts val="0"/>
              </a:spcBef>
              <a:spcAft>
                <a:spcPts val="0"/>
              </a:spcAft>
            </a:pPr>
            <a:r>
              <a:rPr sz="1100" b="0">
                <a:solidFill>
                  <a:srgbClr val="484D48"/>
                </a:solidFill>
                <a:latin typeface="Arial"/>
              </a:rPr>
              <a:t>05</a:t>
            </a:r>
          </a:p>
        </p:txBody>
      </p:sp>
      <p:sp>
        <p:nvSpPr>
          <p:cNvPr id="7" name="Rounded Rectangle 6"/>
          <p:cNvSpPr/>
          <p:nvPr/>
        </p:nvSpPr>
        <p:spPr>
          <a:xfrm>
            <a:off x="626364" y="2121408"/>
            <a:ext cx="5321808" cy="1609344"/>
          </a:xfrm>
          <a:prstGeom prst="roundRect">
            <a:avLst>
              <a:gd name="adj" fmla="val 12000"/>
            </a:avLst>
          </a:prstGeom>
          <a:solidFill>
            <a:srgbClr val="2F4F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94360" y="2057400"/>
            <a:ext cx="5321808" cy="1609344"/>
          </a:xfrm>
          <a:prstGeom prst="roundRect">
            <a:avLst>
              <a:gd name="adj" fmla="val 12000"/>
            </a:avLst>
          </a:prstGeom>
          <a:solidFill>
            <a:srgbClr val="FFFFFF"/>
          </a:solidFill>
          <a:ln w="12700">
            <a:solidFill>
              <a:srgbClr val="D9E3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304288"/>
            <a:ext cx="502920" cy="457200"/>
          </a:xfrm>
          <a:prstGeom prst="rect">
            <a:avLst/>
          </a:prstGeom>
          <a:noFill/>
        </p:spPr>
        <p:txBody>
          <a:bodyPr wrap="square" lIns="0" rIns="0" tIns="0" bIns="0" anchor="t">
            <a:spAutoFit/>
          </a:bodyPr>
          <a:lstStyle/>
          <a:p>
            <a:pPr>
              <a:lnSpc>
                <a:spcPct val="108000"/>
              </a:lnSpc>
              <a:spcBef>
                <a:spcPts val="0"/>
              </a:spcBef>
              <a:spcAft>
                <a:spcPts val="0"/>
              </a:spcAft>
            </a:pPr>
            <a:r>
              <a:rPr sz="2400" b="0">
                <a:solidFill>
                  <a:srgbClr val="537A5A"/>
                </a:solidFill>
                <a:latin typeface="Arial Rounded MT Bold"/>
              </a:rPr>
              <a:t>01</a:t>
            </a:r>
          </a:p>
        </p:txBody>
      </p:sp>
      <p:sp>
        <p:nvSpPr>
          <p:cNvPr id="10" name="TextBox 9"/>
          <p:cNvSpPr txBox="1"/>
          <p:nvPr/>
        </p:nvSpPr>
        <p:spPr>
          <a:xfrm>
            <a:off x="1453895" y="2286000"/>
            <a:ext cx="4206240" cy="475488"/>
          </a:xfrm>
          <a:prstGeom prst="rect">
            <a:avLst/>
          </a:prstGeom>
          <a:noFill/>
        </p:spPr>
        <p:txBody>
          <a:bodyPr wrap="square" lIns="0" rIns="0" tIns="0" bIns="0" anchor="t">
            <a:spAutoFit/>
          </a:bodyPr>
          <a:lstStyle/>
          <a:p>
            <a:pPr>
              <a:lnSpc>
                <a:spcPct val="108000"/>
              </a:lnSpc>
              <a:spcBef>
                <a:spcPts val="0"/>
              </a:spcBef>
              <a:spcAft>
                <a:spcPts val="0"/>
              </a:spcAft>
            </a:pPr>
            <a:r>
              <a:rPr sz="2300" b="1">
                <a:solidFill>
                  <a:srgbClr val="244557"/>
                </a:solidFill>
                <a:latin typeface="Arial"/>
              </a:rPr>
              <a:t>Dignified discovery</a:t>
            </a:r>
          </a:p>
        </p:txBody>
      </p:sp>
      <p:sp>
        <p:nvSpPr>
          <p:cNvPr id="11" name="TextBox 10"/>
          <p:cNvSpPr txBox="1"/>
          <p:nvPr/>
        </p:nvSpPr>
        <p:spPr>
          <a:xfrm>
            <a:off x="1453895" y="2916936"/>
            <a:ext cx="4160520" cy="603504"/>
          </a:xfrm>
          <a:prstGeom prst="rect">
            <a:avLst/>
          </a:prstGeom>
          <a:noFill/>
        </p:spPr>
        <p:txBody>
          <a:bodyPr wrap="square" lIns="0" rIns="0" tIns="0" bIns="0" anchor="t">
            <a:spAutoFit/>
          </a:bodyPr>
          <a:lstStyle/>
          <a:p>
            <a:pPr>
              <a:lnSpc>
                <a:spcPct val="108000"/>
              </a:lnSpc>
              <a:spcBef>
                <a:spcPts val="0"/>
              </a:spcBef>
              <a:spcAft>
                <a:spcPts val="0"/>
              </a:spcAft>
            </a:pPr>
            <a:r>
              <a:rPr sz="1700" b="0">
                <a:solidFill>
                  <a:srgbClr val="484D48"/>
                </a:solidFill>
                <a:latin typeface="Arial"/>
              </a:rPr>
              <a:t>Allergen and preference filtering,</a:t>
            </a:r>
          </a:p>
          <a:p>
            <a:pPr>
              <a:lnSpc>
                <a:spcPct val="108000"/>
              </a:lnSpc>
              <a:spcBef>
                <a:spcPts val="0"/>
              </a:spcBef>
              <a:spcAft>
                <a:spcPts val="0"/>
              </a:spcAft>
            </a:pPr>
            <a:r>
              <a:rPr sz="1700" b="0">
                <a:solidFill>
                  <a:srgbClr val="484D48"/>
                </a:solidFill>
                <a:latin typeface="Arial"/>
              </a:rPr>
              <a:t>with optional voice assistance.</a:t>
            </a:r>
          </a:p>
        </p:txBody>
      </p:sp>
      <p:sp>
        <p:nvSpPr>
          <p:cNvPr id="12" name="Rounded Rectangle 11"/>
          <p:cNvSpPr/>
          <p:nvPr/>
        </p:nvSpPr>
        <p:spPr>
          <a:xfrm>
            <a:off x="6277356" y="2121408"/>
            <a:ext cx="5321808" cy="1609344"/>
          </a:xfrm>
          <a:prstGeom prst="roundRect">
            <a:avLst>
              <a:gd name="adj" fmla="val 12000"/>
            </a:avLst>
          </a:prstGeom>
          <a:solidFill>
            <a:srgbClr val="2F4F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45352" y="2057400"/>
            <a:ext cx="5321808" cy="1609344"/>
          </a:xfrm>
          <a:prstGeom prst="roundRect">
            <a:avLst>
              <a:gd name="adj" fmla="val 12000"/>
            </a:avLst>
          </a:prstGeom>
          <a:solidFill>
            <a:srgbClr val="FFFFFF"/>
          </a:solidFill>
          <a:ln w="12700">
            <a:solidFill>
              <a:srgbClr val="D9E3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2304288"/>
            <a:ext cx="502920" cy="457200"/>
          </a:xfrm>
          <a:prstGeom prst="rect">
            <a:avLst/>
          </a:prstGeom>
          <a:noFill/>
        </p:spPr>
        <p:txBody>
          <a:bodyPr wrap="square" lIns="0" rIns="0" tIns="0" bIns="0" anchor="t">
            <a:spAutoFit/>
          </a:bodyPr>
          <a:lstStyle/>
          <a:p>
            <a:pPr>
              <a:lnSpc>
                <a:spcPct val="108000"/>
              </a:lnSpc>
              <a:spcBef>
                <a:spcPts val="0"/>
              </a:spcBef>
              <a:spcAft>
                <a:spcPts val="0"/>
              </a:spcAft>
            </a:pPr>
            <a:r>
              <a:rPr sz="2400" b="0">
                <a:solidFill>
                  <a:srgbClr val="537A5A"/>
                </a:solidFill>
                <a:latin typeface="Arial Rounded MT Bold"/>
              </a:rPr>
              <a:t>02</a:t>
            </a:r>
          </a:p>
        </p:txBody>
      </p:sp>
      <p:sp>
        <p:nvSpPr>
          <p:cNvPr id="15" name="TextBox 14"/>
          <p:cNvSpPr txBox="1"/>
          <p:nvPr/>
        </p:nvSpPr>
        <p:spPr>
          <a:xfrm>
            <a:off x="7104888" y="2286000"/>
            <a:ext cx="4206240" cy="475488"/>
          </a:xfrm>
          <a:prstGeom prst="rect">
            <a:avLst/>
          </a:prstGeom>
          <a:noFill/>
        </p:spPr>
        <p:txBody>
          <a:bodyPr wrap="square" lIns="0" rIns="0" tIns="0" bIns="0" anchor="t">
            <a:spAutoFit/>
          </a:bodyPr>
          <a:lstStyle/>
          <a:p>
            <a:pPr>
              <a:lnSpc>
                <a:spcPct val="108000"/>
              </a:lnSpc>
              <a:spcBef>
                <a:spcPts val="0"/>
              </a:spcBef>
              <a:spcAft>
                <a:spcPts val="0"/>
              </a:spcAft>
            </a:pPr>
            <a:r>
              <a:rPr sz="2300" b="1">
                <a:solidFill>
                  <a:srgbClr val="244557"/>
                </a:solidFill>
                <a:latin typeface="Arial"/>
              </a:rPr>
              <a:t>Menus into structured data</a:t>
            </a:r>
          </a:p>
        </p:txBody>
      </p:sp>
      <p:sp>
        <p:nvSpPr>
          <p:cNvPr id="16" name="TextBox 15"/>
          <p:cNvSpPr txBox="1"/>
          <p:nvPr/>
        </p:nvSpPr>
        <p:spPr>
          <a:xfrm>
            <a:off x="7104888" y="2916936"/>
            <a:ext cx="4160520" cy="603504"/>
          </a:xfrm>
          <a:prstGeom prst="rect">
            <a:avLst/>
          </a:prstGeom>
          <a:noFill/>
        </p:spPr>
        <p:txBody>
          <a:bodyPr wrap="square" lIns="0" rIns="0" tIns="0" bIns="0" anchor="t">
            <a:spAutoFit/>
          </a:bodyPr>
          <a:lstStyle/>
          <a:p>
            <a:pPr>
              <a:lnSpc>
                <a:spcPct val="108000"/>
              </a:lnSpc>
              <a:spcBef>
                <a:spcPts val="0"/>
              </a:spcBef>
              <a:spcAft>
                <a:spcPts val="0"/>
              </a:spcAft>
            </a:pPr>
            <a:r>
              <a:rPr sz="1700" b="0">
                <a:solidFill>
                  <a:srgbClr val="484D48"/>
                </a:solidFill>
                <a:latin typeface="Arial"/>
              </a:rPr>
              <a:t>Gemini OCR creates editable dish</a:t>
            </a:r>
          </a:p>
          <a:p>
            <a:pPr>
              <a:lnSpc>
                <a:spcPct val="108000"/>
              </a:lnSpc>
              <a:spcBef>
                <a:spcPts val="0"/>
              </a:spcBef>
              <a:spcAft>
                <a:spcPts val="0"/>
              </a:spcAft>
            </a:pPr>
            <a:r>
              <a:rPr sz="1700" b="0">
                <a:solidFill>
                  <a:srgbClr val="484D48"/>
                </a:solidFill>
                <a:latin typeface="Arial"/>
              </a:rPr>
              <a:t>candidates for human confirmation.</a:t>
            </a:r>
          </a:p>
        </p:txBody>
      </p:sp>
      <p:sp>
        <p:nvSpPr>
          <p:cNvPr id="17" name="Rounded Rectangle 16"/>
          <p:cNvSpPr/>
          <p:nvPr/>
        </p:nvSpPr>
        <p:spPr>
          <a:xfrm>
            <a:off x="626364" y="4041648"/>
            <a:ext cx="5321808" cy="1609344"/>
          </a:xfrm>
          <a:prstGeom prst="roundRect">
            <a:avLst>
              <a:gd name="adj" fmla="val 12000"/>
            </a:avLst>
          </a:prstGeom>
          <a:solidFill>
            <a:srgbClr val="2F4F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94360" y="3977639"/>
            <a:ext cx="5321808" cy="1609344"/>
          </a:xfrm>
          <a:prstGeom prst="roundRect">
            <a:avLst>
              <a:gd name="adj" fmla="val 12000"/>
            </a:avLst>
          </a:prstGeom>
          <a:solidFill>
            <a:srgbClr val="FFFFFF"/>
          </a:solidFill>
          <a:ln w="12700">
            <a:solidFill>
              <a:srgbClr val="D9E3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5528" y="4224527"/>
            <a:ext cx="502920" cy="457200"/>
          </a:xfrm>
          <a:prstGeom prst="rect">
            <a:avLst/>
          </a:prstGeom>
          <a:noFill/>
        </p:spPr>
        <p:txBody>
          <a:bodyPr wrap="square" lIns="0" rIns="0" tIns="0" bIns="0" anchor="t">
            <a:spAutoFit/>
          </a:bodyPr>
          <a:lstStyle/>
          <a:p>
            <a:pPr>
              <a:lnSpc>
                <a:spcPct val="108000"/>
              </a:lnSpc>
              <a:spcBef>
                <a:spcPts val="0"/>
              </a:spcBef>
              <a:spcAft>
                <a:spcPts val="0"/>
              </a:spcAft>
            </a:pPr>
            <a:r>
              <a:rPr sz="2400" b="0">
                <a:solidFill>
                  <a:srgbClr val="537A5A"/>
                </a:solidFill>
                <a:latin typeface="Arial Rounded MT Bold"/>
              </a:rPr>
              <a:t>03</a:t>
            </a:r>
          </a:p>
        </p:txBody>
      </p:sp>
      <p:sp>
        <p:nvSpPr>
          <p:cNvPr id="20" name="TextBox 19"/>
          <p:cNvSpPr txBox="1"/>
          <p:nvPr/>
        </p:nvSpPr>
        <p:spPr>
          <a:xfrm>
            <a:off x="1453895" y="4206240"/>
            <a:ext cx="4206240" cy="475488"/>
          </a:xfrm>
          <a:prstGeom prst="rect">
            <a:avLst/>
          </a:prstGeom>
          <a:noFill/>
        </p:spPr>
        <p:txBody>
          <a:bodyPr wrap="square" lIns="0" rIns="0" tIns="0" bIns="0" anchor="t">
            <a:spAutoFit/>
          </a:bodyPr>
          <a:lstStyle/>
          <a:p>
            <a:pPr>
              <a:lnSpc>
                <a:spcPct val="108000"/>
              </a:lnSpc>
              <a:spcBef>
                <a:spcPts val="0"/>
              </a:spcBef>
              <a:spcAft>
                <a:spcPts val="0"/>
              </a:spcAft>
            </a:pPr>
            <a:r>
              <a:rPr sz="2300" b="1">
                <a:solidFill>
                  <a:srgbClr val="244557"/>
                </a:solidFill>
                <a:latin typeface="Arial"/>
              </a:rPr>
              <a:t>Traceable handoffs</a:t>
            </a:r>
          </a:p>
        </p:txBody>
      </p:sp>
      <p:sp>
        <p:nvSpPr>
          <p:cNvPr id="21" name="TextBox 20"/>
          <p:cNvSpPr txBox="1"/>
          <p:nvPr/>
        </p:nvSpPr>
        <p:spPr>
          <a:xfrm>
            <a:off x="1453895" y="4837175"/>
            <a:ext cx="4160520" cy="603504"/>
          </a:xfrm>
          <a:prstGeom prst="rect">
            <a:avLst/>
          </a:prstGeom>
          <a:noFill/>
        </p:spPr>
        <p:txBody>
          <a:bodyPr wrap="square" lIns="0" rIns="0" tIns="0" bIns="0" anchor="t">
            <a:spAutoFit/>
          </a:bodyPr>
          <a:lstStyle/>
          <a:p>
            <a:pPr>
              <a:lnSpc>
                <a:spcPct val="108000"/>
              </a:lnSpc>
              <a:spcBef>
                <a:spcPts val="0"/>
              </a:spcBef>
              <a:spcAft>
                <a:spcPts val="0"/>
              </a:spcAft>
            </a:pPr>
            <a:r>
              <a:rPr sz="1700" b="0">
                <a:solidFill>
                  <a:srgbClr val="484D48"/>
                </a:solidFill>
                <a:latin typeface="Arial"/>
              </a:rPr>
              <a:t>QR events, photo hashes and</a:t>
            </a:r>
          </a:p>
          <a:p>
            <a:pPr>
              <a:lnSpc>
                <a:spcPct val="108000"/>
              </a:lnSpc>
              <a:spcBef>
                <a:spcPts val="0"/>
              </a:spcBef>
              <a:spcAft>
                <a:spcPts val="0"/>
              </a:spcAft>
            </a:pPr>
            <a:r>
              <a:rPr sz="1700" b="0">
                <a:solidFill>
                  <a:srgbClr val="484D48"/>
                </a:solidFill>
                <a:latin typeface="Arial"/>
              </a:rPr>
              <a:t>location provenance in one record.</a:t>
            </a:r>
          </a:p>
        </p:txBody>
      </p:sp>
      <p:sp>
        <p:nvSpPr>
          <p:cNvPr id="22" name="Rounded Rectangle 21"/>
          <p:cNvSpPr/>
          <p:nvPr/>
        </p:nvSpPr>
        <p:spPr>
          <a:xfrm>
            <a:off x="6277356" y="4041648"/>
            <a:ext cx="5321808" cy="1609344"/>
          </a:xfrm>
          <a:prstGeom prst="roundRect">
            <a:avLst>
              <a:gd name="adj" fmla="val 12000"/>
            </a:avLst>
          </a:prstGeom>
          <a:solidFill>
            <a:srgbClr val="2F4F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245352" y="3977639"/>
            <a:ext cx="5321808" cy="1609344"/>
          </a:xfrm>
          <a:prstGeom prst="roundRect">
            <a:avLst>
              <a:gd name="adj" fmla="val 12000"/>
            </a:avLst>
          </a:prstGeom>
          <a:solidFill>
            <a:srgbClr val="FFFFFF"/>
          </a:solidFill>
          <a:ln w="12700">
            <a:solidFill>
              <a:srgbClr val="D9E3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46520" y="4224527"/>
            <a:ext cx="502920" cy="457200"/>
          </a:xfrm>
          <a:prstGeom prst="rect">
            <a:avLst/>
          </a:prstGeom>
          <a:noFill/>
        </p:spPr>
        <p:txBody>
          <a:bodyPr wrap="square" lIns="0" rIns="0" tIns="0" bIns="0" anchor="t">
            <a:spAutoFit/>
          </a:bodyPr>
          <a:lstStyle/>
          <a:p>
            <a:pPr>
              <a:lnSpc>
                <a:spcPct val="108000"/>
              </a:lnSpc>
              <a:spcBef>
                <a:spcPts val="0"/>
              </a:spcBef>
              <a:spcAft>
                <a:spcPts val="0"/>
              </a:spcAft>
            </a:pPr>
            <a:r>
              <a:rPr sz="2400" b="0">
                <a:solidFill>
                  <a:srgbClr val="537A5A"/>
                </a:solidFill>
                <a:latin typeface="Arial Rounded MT Bold"/>
              </a:rPr>
              <a:t>04</a:t>
            </a:r>
          </a:p>
        </p:txBody>
      </p:sp>
      <p:sp>
        <p:nvSpPr>
          <p:cNvPr id="25" name="TextBox 24"/>
          <p:cNvSpPr txBox="1"/>
          <p:nvPr/>
        </p:nvSpPr>
        <p:spPr>
          <a:xfrm>
            <a:off x="7104888" y="4206240"/>
            <a:ext cx="4206240" cy="475488"/>
          </a:xfrm>
          <a:prstGeom prst="rect">
            <a:avLst/>
          </a:prstGeom>
          <a:noFill/>
        </p:spPr>
        <p:txBody>
          <a:bodyPr wrap="square" lIns="0" rIns="0" tIns="0" bIns="0" anchor="t">
            <a:spAutoFit/>
          </a:bodyPr>
          <a:lstStyle/>
          <a:p>
            <a:pPr>
              <a:lnSpc>
                <a:spcPct val="108000"/>
              </a:lnSpc>
              <a:spcBef>
                <a:spcPts val="0"/>
              </a:spcBef>
              <a:spcAft>
                <a:spcPts val="0"/>
              </a:spcAft>
            </a:pPr>
            <a:r>
              <a:rPr sz="2300" b="1">
                <a:solidFill>
                  <a:srgbClr val="244557"/>
                </a:solidFill>
                <a:latin typeface="Arial"/>
              </a:rPr>
              <a:t>Private quality learning</a:t>
            </a:r>
          </a:p>
        </p:txBody>
      </p:sp>
      <p:sp>
        <p:nvSpPr>
          <p:cNvPr id="26" name="TextBox 25"/>
          <p:cNvSpPr txBox="1"/>
          <p:nvPr/>
        </p:nvSpPr>
        <p:spPr>
          <a:xfrm>
            <a:off x="7104888" y="4837175"/>
            <a:ext cx="4160520" cy="603504"/>
          </a:xfrm>
          <a:prstGeom prst="rect">
            <a:avLst/>
          </a:prstGeom>
          <a:noFill/>
        </p:spPr>
        <p:txBody>
          <a:bodyPr wrap="square" lIns="0" rIns="0" tIns="0" bIns="0" anchor="t">
            <a:spAutoFit/>
          </a:bodyPr>
          <a:lstStyle/>
          <a:p>
            <a:pPr>
              <a:lnSpc>
                <a:spcPct val="108000"/>
              </a:lnSpc>
              <a:spcBef>
                <a:spcPts val="0"/>
              </a:spcBef>
              <a:spcAft>
                <a:spcPts val="0"/>
              </a:spcAft>
            </a:pPr>
            <a:r>
              <a:rPr sz="1700" b="0">
                <a:solidFill>
                  <a:srgbClr val="484D48"/>
                </a:solidFill>
                <a:latin typeface="Arial"/>
              </a:rPr>
              <a:t>Internal feedback helps the NGO</a:t>
            </a:r>
          </a:p>
          <a:p>
            <a:pPr>
              <a:lnSpc>
                <a:spcPct val="108000"/>
              </a:lnSpc>
              <a:spcBef>
                <a:spcPts val="0"/>
              </a:spcBef>
              <a:spcAft>
                <a:spcPts val="0"/>
              </a:spcAft>
            </a:pPr>
            <a:r>
              <a:rPr sz="1700" b="0">
                <a:solidFill>
                  <a:srgbClr val="484D48"/>
                </a:solidFill>
                <a:latin typeface="Arial"/>
              </a:rPr>
              <a:t>guide donors and venues.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42A33"/>
        </a:solidFill>
        <a:effectLst/>
      </p:bgPr>
    </p:bg>
    <p:spTree>
      <p:nvGrpSpPr>
        <p:cNvPr id="1" name=""/>
        <p:cNvGrpSpPr/>
        <p:nvPr/>
      </p:nvGrpSpPr>
      <p:grpSpPr/>
      <p:sp>
        <p:nvSpPr>
          <p:cNvPr id="2" name="TextBox 1"/>
          <p:cNvSpPr txBox="1"/>
          <p:nvPr/>
        </p:nvSpPr>
        <p:spPr>
          <a:xfrm>
            <a:off x="594360" y="384048"/>
            <a:ext cx="9692640" cy="201168"/>
          </a:xfrm>
          <a:prstGeom prst="rect">
            <a:avLst/>
          </a:prstGeom>
          <a:noFill/>
        </p:spPr>
        <p:txBody>
          <a:bodyPr wrap="square" lIns="0" rIns="0" tIns="0" bIns="0" anchor="t">
            <a:spAutoFit/>
          </a:bodyPr>
          <a:lstStyle/>
          <a:p>
            <a:pPr>
              <a:lnSpc>
                <a:spcPct val="108000"/>
              </a:lnSpc>
              <a:spcBef>
                <a:spcPts val="0"/>
              </a:spcBef>
              <a:spcAft>
                <a:spcPts val="0"/>
              </a:spcAft>
            </a:pPr>
            <a:r>
              <a:rPr sz="1100" b="1">
                <a:solidFill>
                  <a:srgbClr val="B5D588"/>
                </a:solidFill>
                <a:latin typeface="Arial"/>
              </a:rPr>
              <a:t>THE PLATFORM STRUCTURE</a:t>
            </a:r>
          </a:p>
        </p:txBody>
      </p:sp>
      <p:sp>
        <p:nvSpPr>
          <p:cNvPr id="3" name="TextBox 2"/>
          <p:cNvSpPr txBox="1"/>
          <p:nvPr/>
        </p:nvSpPr>
        <p:spPr>
          <a:xfrm>
            <a:off x="594360" y="877824"/>
            <a:ext cx="10972800" cy="987552"/>
          </a:xfrm>
          <a:prstGeom prst="rect">
            <a:avLst/>
          </a:prstGeom>
          <a:noFill/>
        </p:spPr>
        <p:txBody>
          <a:bodyPr wrap="square" lIns="0" rIns="0" tIns="0" bIns="0" anchor="t">
            <a:spAutoFit/>
          </a:bodyPr>
          <a:lstStyle/>
          <a:p>
            <a:pPr>
              <a:lnSpc>
                <a:spcPct val="108000"/>
              </a:lnSpc>
              <a:spcBef>
                <a:spcPts val="0"/>
              </a:spcBef>
              <a:spcAft>
                <a:spcPts val="0"/>
              </a:spcAft>
            </a:pPr>
            <a:r>
              <a:rPr sz="3400" b="0">
                <a:solidFill>
                  <a:srgbClr val="FFFFFF"/>
                </a:solidFill>
                <a:latin typeface="Arial Rounded MT Bold"/>
              </a:rPr>
              <a:t>Four faces. A shared responsibility.</a:t>
            </a:r>
          </a:p>
        </p:txBody>
      </p:sp>
      <p:cxnSp>
        <p:nvCxnSpPr>
          <p:cNvPr id="4" name="Connector 3"/>
          <p:cNvCxnSpPr/>
          <p:nvPr/>
        </p:nvCxnSpPr>
        <p:spPr>
          <a:xfrm>
            <a:off x="594360" y="6428232"/>
            <a:ext cx="11000232" cy="0"/>
          </a:xfrm>
          <a:prstGeom prst="line">
            <a:avLst/>
          </a:prstGeom>
          <a:ln w="12700">
            <a:solidFill>
              <a:srgbClr val="376C6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94360" y="6537960"/>
            <a:ext cx="7772400" cy="164592"/>
          </a:xfrm>
          <a:prstGeom prst="rect">
            <a:avLst/>
          </a:prstGeom>
          <a:noFill/>
        </p:spPr>
        <p:txBody>
          <a:bodyPr wrap="square" lIns="0" rIns="0" tIns="0" bIns="0" anchor="t">
            <a:spAutoFit/>
          </a:bodyPr>
          <a:lstStyle/>
          <a:p>
            <a:pPr>
              <a:lnSpc>
                <a:spcPct val="108000"/>
              </a:lnSpc>
              <a:spcBef>
                <a:spcPts val="0"/>
              </a:spcBef>
              <a:spcAft>
                <a:spcPts val="0"/>
              </a:spcAft>
            </a:pPr>
            <a:r>
              <a:rPr sz="850" b="0">
                <a:solidFill>
                  <a:srgbClr val="B7CDD0"/>
                </a:solidFill>
                <a:latin typeface="Arial"/>
              </a:rPr>
              <a:t>SAMRIT  /  A PLACE AT THE TABLE</a:t>
            </a:r>
          </a:p>
        </p:txBody>
      </p:sp>
      <p:sp>
        <p:nvSpPr>
          <p:cNvPr id="6" name="TextBox 5"/>
          <p:cNvSpPr txBox="1"/>
          <p:nvPr/>
        </p:nvSpPr>
        <p:spPr>
          <a:xfrm>
            <a:off x="11109960" y="6510528"/>
            <a:ext cx="457200" cy="210312"/>
          </a:xfrm>
          <a:prstGeom prst="rect">
            <a:avLst/>
          </a:prstGeom>
          <a:noFill/>
        </p:spPr>
        <p:txBody>
          <a:bodyPr wrap="square" lIns="0" rIns="0" tIns="0" bIns="0" anchor="t">
            <a:spAutoFit/>
          </a:bodyPr>
          <a:lstStyle/>
          <a:p>
            <a:pPr algn="r">
              <a:lnSpc>
                <a:spcPct val="108000"/>
              </a:lnSpc>
              <a:spcBef>
                <a:spcPts val="0"/>
              </a:spcBef>
              <a:spcAft>
                <a:spcPts val="0"/>
              </a:spcAft>
            </a:pPr>
            <a:r>
              <a:rPr sz="1100" b="0">
                <a:solidFill>
                  <a:srgbClr val="B7CDD0"/>
                </a:solidFill>
                <a:latin typeface="Arial"/>
              </a:rPr>
              <a:t>06</a:t>
            </a:r>
          </a:p>
        </p:txBody>
      </p:sp>
      <p:sp>
        <p:nvSpPr>
          <p:cNvPr id="7" name="Rounded Rectangle 6"/>
          <p:cNvSpPr/>
          <p:nvPr/>
        </p:nvSpPr>
        <p:spPr>
          <a:xfrm>
            <a:off x="594360" y="2304288"/>
            <a:ext cx="2542032" cy="3209544"/>
          </a:xfrm>
          <a:prstGeom prst="roundRect">
            <a:avLst>
              <a:gd name="adj" fmla="val 12000"/>
            </a:avLst>
          </a:prstGeom>
          <a:solidFill>
            <a:srgbClr val="376C6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578608"/>
            <a:ext cx="914400" cy="594360"/>
          </a:xfrm>
          <a:prstGeom prst="rect">
            <a:avLst/>
          </a:prstGeom>
          <a:noFill/>
        </p:spPr>
        <p:txBody>
          <a:bodyPr wrap="square" lIns="0" rIns="0" tIns="0" bIns="0" anchor="t">
            <a:spAutoFit/>
          </a:bodyPr>
          <a:lstStyle/>
          <a:p>
            <a:pPr>
              <a:lnSpc>
                <a:spcPct val="108000"/>
              </a:lnSpc>
              <a:spcBef>
                <a:spcPts val="0"/>
              </a:spcBef>
              <a:spcAft>
                <a:spcPts val="0"/>
              </a:spcAft>
            </a:pPr>
            <a:r>
              <a:rPr sz="3400" b="0">
                <a:solidFill>
                  <a:srgbClr val="B5D588"/>
                </a:solidFill>
                <a:latin typeface="Arial Rounded MT Bold"/>
              </a:rPr>
              <a:t>01</a:t>
            </a:r>
          </a:p>
        </p:txBody>
      </p:sp>
      <p:sp>
        <p:nvSpPr>
          <p:cNvPr id="9" name="TextBox 8"/>
          <p:cNvSpPr txBox="1"/>
          <p:nvPr/>
        </p:nvSpPr>
        <p:spPr>
          <a:xfrm>
            <a:off x="804672" y="3465576"/>
            <a:ext cx="2176272" cy="877824"/>
          </a:xfrm>
          <a:prstGeom prst="rect">
            <a:avLst/>
          </a:prstGeom>
          <a:noFill/>
        </p:spPr>
        <p:txBody>
          <a:bodyPr wrap="square" lIns="0" rIns="0" tIns="0" bIns="0" anchor="t">
            <a:spAutoFit/>
          </a:bodyPr>
          <a:lstStyle/>
          <a:p>
            <a:pPr>
              <a:lnSpc>
                <a:spcPct val="108000"/>
              </a:lnSpc>
              <a:spcBef>
                <a:spcPts val="0"/>
              </a:spcBef>
              <a:spcAft>
                <a:spcPts val="0"/>
              </a:spcAft>
            </a:pPr>
            <a:r>
              <a:rPr sz="2300" b="1">
                <a:solidFill>
                  <a:srgbClr val="FFFFFF"/>
                </a:solidFill>
                <a:latin typeface="Arial"/>
              </a:rPr>
              <a:t>People seeking</a:t>
            </a:r>
          </a:p>
          <a:p>
            <a:pPr>
              <a:lnSpc>
                <a:spcPct val="108000"/>
              </a:lnSpc>
              <a:spcBef>
                <a:spcPts val="0"/>
              </a:spcBef>
              <a:spcAft>
                <a:spcPts val="0"/>
              </a:spcAft>
            </a:pPr>
            <a:r>
              <a:rPr sz="2300" b="1">
                <a:solidFill>
                  <a:srgbClr val="FFFFFF"/>
                </a:solidFill>
                <a:latin typeface="Arial"/>
              </a:rPr>
              <a:t>meals</a:t>
            </a:r>
          </a:p>
        </p:txBody>
      </p:sp>
      <p:sp>
        <p:nvSpPr>
          <p:cNvPr id="10" name="TextBox 9"/>
          <p:cNvSpPr txBox="1"/>
          <p:nvPr/>
        </p:nvSpPr>
        <p:spPr>
          <a:xfrm>
            <a:off x="804672" y="4681728"/>
            <a:ext cx="2194560" cy="640080"/>
          </a:xfrm>
          <a:prstGeom prst="rect">
            <a:avLst/>
          </a:prstGeom>
          <a:noFill/>
        </p:spPr>
        <p:txBody>
          <a:bodyPr wrap="square" lIns="0" rIns="0" tIns="0" bIns="0" anchor="t">
            <a:spAutoFit/>
          </a:bodyPr>
          <a:lstStyle/>
          <a:p>
            <a:pPr>
              <a:lnSpc>
                <a:spcPct val="108000"/>
              </a:lnSpc>
              <a:spcBef>
                <a:spcPts val="0"/>
              </a:spcBef>
              <a:spcAft>
                <a:spcPts val="0"/>
              </a:spcAft>
            </a:pPr>
            <a:r>
              <a:rPr sz="1700" b="0">
                <a:solidFill>
                  <a:srgbClr val="B7CDD0"/>
                </a:solidFill>
                <a:latin typeface="Arial"/>
              </a:rPr>
              <a:t>Discover, choose,</a:t>
            </a:r>
          </a:p>
          <a:p>
            <a:pPr>
              <a:lnSpc>
                <a:spcPct val="108000"/>
              </a:lnSpc>
              <a:spcBef>
                <a:spcPts val="0"/>
              </a:spcBef>
              <a:spcAft>
                <a:spcPts val="0"/>
              </a:spcAft>
            </a:pPr>
            <a:r>
              <a:rPr sz="1700" b="0">
                <a:solidFill>
                  <a:srgbClr val="B7CDD0"/>
                </a:solidFill>
                <a:latin typeface="Arial"/>
              </a:rPr>
              <a:t>check in and review.</a:t>
            </a:r>
          </a:p>
        </p:txBody>
      </p:sp>
      <p:sp>
        <p:nvSpPr>
          <p:cNvPr id="11" name="Rounded Rectangle 10"/>
          <p:cNvSpPr/>
          <p:nvPr/>
        </p:nvSpPr>
        <p:spPr>
          <a:xfrm>
            <a:off x="3429000" y="2304288"/>
            <a:ext cx="2542032" cy="3209544"/>
          </a:xfrm>
          <a:prstGeom prst="roundRect">
            <a:avLst>
              <a:gd name="adj" fmla="val 12000"/>
            </a:avLst>
          </a:prstGeom>
          <a:solidFill>
            <a:srgbClr val="244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39312" y="2578608"/>
            <a:ext cx="914400" cy="594360"/>
          </a:xfrm>
          <a:prstGeom prst="rect">
            <a:avLst/>
          </a:prstGeom>
          <a:noFill/>
        </p:spPr>
        <p:txBody>
          <a:bodyPr wrap="square" lIns="0" rIns="0" tIns="0" bIns="0" anchor="t">
            <a:spAutoFit/>
          </a:bodyPr>
          <a:lstStyle/>
          <a:p>
            <a:pPr>
              <a:lnSpc>
                <a:spcPct val="108000"/>
              </a:lnSpc>
              <a:spcBef>
                <a:spcPts val="0"/>
              </a:spcBef>
              <a:spcAft>
                <a:spcPts val="0"/>
              </a:spcAft>
            </a:pPr>
            <a:r>
              <a:rPr sz="3400" b="0">
                <a:solidFill>
                  <a:srgbClr val="B5D588"/>
                </a:solidFill>
                <a:latin typeface="Arial Rounded MT Bold"/>
              </a:rPr>
              <a:t>02</a:t>
            </a:r>
          </a:p>
        </p:txBody>
      </p:sp>
      <p:sp>
        <p:nvSpPr>
          <p:cNvPr id="13" name="TextBox 12"/>
          <p:cNvSpPr txBox="1"/>
          <p:nvPr/>
        </p:nvSpPr>
        <p:spPr>
          <a:xfrm>
            <a:off x="3639312" y="3465576"/>
            <a:ext cx="2176272" cy="877824"/>
          </a:xfrm>
          <a:prstGeom prst="rect">
            <a:avLst/>
          </a:prstGeom>
          <a:noFill/>
        </p:spPr>
        <p:txBody>
          <a:bodyPr wrap="square" lIns="0" rIns="0" tIns="0" bIns="0" anchor="t">
            <a:spAutoFit/>
          </a:bodyPr>
          <a:lstStyle/>
          <a:p>
            <a:pPr>
              <a:lnSpc>
                <a:spcPct val="108000"/>
              </a:lnSpc>
              <a:spcBef>
                <a:spcPts val="0"/>
              </a:spcBef>
              <a:spcAft>
                <a:spcPts val="0"/>
              </a:spcAft>
            </a:pPr>
            <a:r>
              <a:rPr sz="2300" b="1">
                <a:solidFill>
                  <a:srgbClr val="FFFFFF"/>
                </a:solidFill>
                <a:latin typeface="Arial"/>
              </a:rPr>
              <a:t>Distribution</a:t>
            </a:r>
          </a:p>
          <a:p>
            <a:pPr>
              <a:lnSpc>
                <a:spcPct val="108000"/>
              </a:lnSpc>
              <a:spcBef>
                <a:spcPts val="0"/>
              </a:spcBef>
              <a:spcAft>
                <a:spcPts val="0"/>
              </a:spcAft>
            </a:pPr>
            <a:r>
              <a:rPr sz="2300" b="1">
                <a:solidFill>
                  <a:srgbClr val="FFFFFF"/>
                </a:solidFill>
                <a:latin typeface="Arial"/>
              </a:rPr>
              <a:t>centers</a:t>
            </a:r>
          </a:p>
        </p:txBody>
      </p:sp>
      <p:sp>
        <p:nvSpPr>
          <p:cNvPr id="14" name="TextBox 13"/>
          <p:cNvSpPr txBox="1"/>
          <p:nvPr/>
        </p:nvSpPr>
        <p:spPr>
          <a:xfrm>
            <a:off x="3639312" y="4681728"/>
            <a:ext cx="2194560" cy="640080"/>
          </a:xfrm>
          <a:prstGeom prst="rect">
            <a:avLst/>
          </a:prstGeom>
          <a:noFill/>
        </p:spPr>
        <p:txBody>
          <a:bodyPr wrap="square" lIns="0" rIns="0" tIns="0" bIns="0" anchor="t">
            <a:spAutoFit/>
          </a:bodyPr>
          <a:lstStyle/>
          <a:p>
            <a:pPr>
              <a:lnSpc>
                <a:spcPct val="108000"/>
              </a:lnSpc>
              <a:spcBef>
                <a:spcPts val="0"/>
              </a:spcBef>
              <a:spcAft>
                <a:spcPts val="0"/>
              </a:spcAft>
            </a:pPr>
            <a:r>
              <a:rPr sz="1700" b="0">
                <a:solidFill>
                  <a:srgbClr val="B7CDD0"/>
                </a:solidFill>
                <a:latin typeface="Arial"/>
              </a:rPr>
              <a:t>Profile capacity,</a:t>
            </a:r>
          </a:p>
          <a:p>
            <a:pPr>
              <a:lnSpc>
                <a:spcPct val="108000"/>
              </a:lnSpc>
              <a:spcBef>
                <a:spcPts val="0"/>
              </a:spcBef>
              <a:spcAft>
                <a:spcPts val="0"/>
              </a:spcAft>
            </a:pPr>
            <a:r>
              <a:rPr sz="1700" b="0">
                <a:solidFill>
                  <a:srgbClr val="B7CDD0"/>
                </a:solidFill>
                <a:latin typeface="Arial"/>
              </a:rPr>
              <a:t>receive and verify.</a:t>
            </a:r>
          </a:p>
        </p:txBody>
      </p:sp>
      <p:sp>
        <p:nvSpPr>
          <p:cNvPr id="15" name="Rounded Rectangle 14"/>
          <p:cNvSpPr/>
          <p:nvPr/>
        </p:nvSpPr>
        <p:spPr>
          <a:xfrm>
            <a:off x="6263640" y="2304288"/>
            <a:ext cx="2542032" cy="3209544"/>
          </a:xfrm>
          <a:prstGeom prst="roundRect">
            <a:avLst>
              <a:gd name="adj" fmla="val 12000"/>
            </a:avLst>
          </a:prstGeom>
          <a:solidFill>
            <a:srgbClr val="244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73952" y="2578608"/>
            <a:ext cx="914400" cy="594360"/>
          </a:xfrm>
          <a:prstGeom prst="rect">
            <a:avLst/>
          </a:prstGeom>
          <a:noFill/>
        </p:spPr>
        <p:txBody>
          <a:bodyPr wrap="square" lIns="0" rIns="0" tIns="0" bIns="0" anchor="t">
            <a:spAutoFit/>
          </a:bodyPr>
          <a:lstStyle/>
          <a:p>
            <a:pPr>
              <a:lnSpc>
                <a:spcPct val="108000"/>
              </a:lnSpc>
              <a:spcBef>
                <a:spcPts val="0"/>
              </a:spcBef>
              <a:spcAft>
                <a:spcPts val="0"/>
              </a:spcAft>
            </a:pPr>
            <a:r>
              <a:rPr sz="3400" b="0">
                <a:solidFill>
                  <a:srgbClr val="B5D588"/>
                </a:solidFill>
                <a:latin typeface="Arial Rounded MT Bold"/>
              </a:rPr>
              <a:t>03</a:t>
            </a:r>
          </a:p>
        </p:txBody>
      </p:sp>
      <p:sp>
        <p:nvSpPr>
          <p:cNvPr id="17" name="TextBox 16"/>
          <p:cNvSpPr txBox="1"/>
          <p:nvPr/>
        </p:nvSpPr>
        <p:spPr>
          <a:xfrm>
            <a:off x="6473952" y="3465576"/>
            <a:ext cx="2176272" cy="877824"/>
          </a:xfrm>
          <a:prstGeom prst="rect">
            <a:avLst/>
          </a:prstGeom>
          <a:noFill/>
        </p:spPr>
        <p:txBody>
          <a:bodyPr wrap="square" lIns="0" rIns="0" tIns="0" bIns="0" anchor="t">
            <a:spAutoFit/>
          </a:bodyPr>
          <a:lstStyle/>
          <a:p>
            <a:pPr>
              <a:lnSpc>
                <a:spcPct val="108000"/>
              </a:lnSpc>
              <a:spcBef>
                <a:spcPts val="0"/>
              </a:spcBef>
              <a:spcAft>
                <a:spcPts val="0"/>
              </a:spcAft>
            </a:pPr>
            <a:r>
              <a:rPr sz="2300" b="1">
                <a:solidFill>
                  <a:srgbClr val="FFFFFF"/>
                </a:solidFill>
                <a:latin typeface="Arial"/>
              </a:rPr>
              <a:t>Donors &amp;</a:t>
            </a:r>
          </a:p>
          <a:p>
            <a:pPr>
              <a:lnSpc>
                <a:spcPct val="108000"/>
              </a:lnSpc>
              <a:spcBef>
                <a:spcPts val="0"/>
              </a:spcBef>
              <a:spcAft>
                <a:spcPts val="0"/>
              </a:spcAft>
            </a:pPr>
            <a:r>
              <a:rPr sz="2300" b="1">
                <a:solidFill>
                  <a:srgbClr val="FFFFFF"/>
                </a:solidFill>
                <a:latin typeface="Arial"/>
              </a:rPr>
              <a:t>organizers</a:t>
            </a:r>
          </a:p>
        </p:txBody>
      </p:sp>
      <p:sp>
        <p:nvSpPr>
          <p:cNvPr id="18" name="TextBox 17"/>
          <p:cNvSpPr txBox="1"/>
          <p:nvPr/>
        </p:nvSpPr>
        <p:spPr>
          <a:xfrm>
            <a:off x="6473952" y="4681728"/>
            <a:ext cx="2194560" cy="640080"/>
          </a:xfrm>
          <a:prstGeom prst="rect">
            <a:avLst/>
          </a:prstGeom>
          <a:noFill/>
        </p:spPr>
        <p:txBody>
          <a:bodyPr wrap="square" lIns="0" rIns="0" tIns="0" bIns="0" anchor="t">
            <a:spAutoFit/>
          </a:bodyPr>
          <a:lstStyle/>
          <a:p>
            <a:pPr>
              <a:lnSpc>
                <a:spcPct val="108000"/>
              </a:lnSpc>
              <a:spcBef>
                <a:spcPts val="0"/>
              </a:spcBef>
              <a:spcAft>
                <a:spcPts val="0"/>
              </a:spcAft>
            </a:pPr>
            <a:r>
              <a:rPr sz="1700" b="0">
                <a:solidFill>
                  <a:srgbClr val="B7CDD0"/>
                </a:solidFill>
                <a:latin typeface="Arial"/>
              </a:rPr>
              <a:t>Confirm menus,</a:t>
            </a:r>
          </a:p>
          <a:p>
            <a:pPr>
              <a:lnSpc>
                <a:spcPct val="108000"/>
              </a:lnSpc>
              <a:spcBef>
                <a:spcPts val="0"/>
              </a:spcBef>
              <a:spcAft>
                <a:spcPts val="0"/>
              </a:spcAft>
            </a:pPr>
            <a:r>
              <a:rPr sz="1700" b="0">
                <a:solidFill>
                  <a:srgbClr val="B7CDD0"/>
                </a:solidFill>
                <a:latin typeface="Arial"/>
              </a:rPr>
              <a:t>offer leftovers.</a:t>
            </a:r>
          </a:p>
        </p:txBody>
      </p:sp>
      <p:sp>
        <p:nvSpPr>
          <p:cNvPr id="19" name="Rounded Rectangle 18"/>
          <p:cNvSpPr/>
          <p:nvPr/>
        </p:nvSpPr>
        <p:spPr>
          <a:xfrm>
            <a:off x="9098280" y="2304288"/>
            <a:ext cx="2542032" cy="3209544"/>
          </a:xfrm>
          <a:prstGeom prst="roundRect">
            <a:avLst>
              <a:gd name="adj" fmla="val 12000"/>
            </a:avLst>
          </a:prstGeom>
          <a:solidFill>
            <a:srgbClr val="244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08592" y="2578608"/>
            <a:ext cx="914400" cy="594360"/>
          </a:xfrm>
          <a:prstGeom prst="rect">
            <a:avLst/>
          </a:prstGeom>
          <a:noFill/>
        </p:spPr>
        <p:txBody>
          <a:bodyPr wrap="square" lIns="0" rIns="0" tIns="0" bIns="0" anchor="t">
            <a:spAutoFit/>
          </a:bodyPr>
          <a:lstStyle/>
          <a:p>
            <a:pPr>
              <a:lnSpc>
                <a:spcPct val="108000"/>
              </a:lnSpc>
              <a:spcBef>
                <a:spcPts val="0"/>
              </a:spcBef>
              <a:spcAft>
                <a:spcPts val="0"/>
              </a:spcAft>
            </a:pPr>
            <a:r>
              <a:rPr sz="3400" b="0">
                <a:solidFill>
                  <a:srgbClr val="B5D588"/>
                </a:solidFill>
                <a:latin typeface="Arial Rounded MT Bold"/>
              </a:rPr>
              <a:t>04</a:t>
            </a:r>
          </a:p>
        </p:txBody>
      </p:sp>
      <p:sp>
        <p:nvSpPr>
          <p:cNvPr id="21" name="TextBox 20"/>
          <p:cNvSpPr txBox="1"/>
          <p:nvPr/>
        </p:nvSpPr>
        <p:spPr>
          <a:xfrm>
            <a:off x="9308592" y="3465576"/>
            <a:ext cx="2176272" cy="877824"/>
          </a:xfrm>
          <a:prstGeom prst="rect">
            <a:avLst/>
          </a:prstGeom>
          <a:noFill/>
        </p:spPr>
        <p:txBody>
          <a:bodyPr wrap="square" lIns="0" rIns="0" tIns="0" bIns="0" anchor="t">
            <a:spAutoFit/>
          </a:bodyPr>
          <a:lstStyle/>
          <a:p>
            <a:pPr>
              <a:lnSpc>
                <a:spcPct val="108000"/>
              </a:lnSpc>
              <a:spcBef>
                <a:spcPts val="0"/>
              </a:spcBef>
              <a:spcAft>
                <a:spcPts val="0"/>
              </a:spcAft>
            </a:pPr>
            <a:r>
              <a:rPr sz="2300" b="1">
                <a:solidFill>
                  <a:srgbClr val="FFFFFF"/>
                </a:solidFill>
                <a:latin typeface="Arial"/>
              </a:rPr>
              <a:t>Central NGO</a:t>
            </a:r>
          </a:p>
        </p:txBody>
      </p:sp>
      <p:sp>
        <p:nvSpPr>
          <p:cNvPr id="22" name="TextBox 21"/>
          <p:cNvSpPr txBox="1"/>
          <p:nvPr/>
        </p:nvSpPr>
        <p:spPr>
          <a:xfrm>
            <a:off x="9308592" y="4681728"/>
            <a:ext cx="2194560" cy="640080"/>
          </a:xfrm>
          <a:prstGeom prst="rect">
            <a:avLst/>
          </a:prstGeom>
          <a:noFill/>
        </p:spPr>
        <p:txBody>
          <a:bodyPr wrap="square" lIns="0" rIns="0" tIns="0" bIns="0" anchor="t">
            <a:spAutoFit/>
          </a:bodyPr>
          <a:lstStyle/>
          <a:p>
            <a:pPr>
              <a:lnSpc>
                <a:spcPct val="108000"/>
              </a:lnSpc>
              <a:spcBef>
                <a:spcPts val="0"/>
              </a:spcBef>
              <a:spcAft>
                <a:spcPts val="0"/>
              </a:spcAft>
            </a:pPr>
            <a:r>
              <a:rPr sz="1700" b="0">
                <a:solidFill>
                  <a:srgbClr val="B7CDD0"/>
                </a:solidFill>
                <a:latin typeface="Arial"/>
              </a:rPr>
              <a:t>Approve, dispatch,</a:t>
            </a:r>
          </a:p>
          <a:p>
            <a:pPr>
              <a:lnSpc>
                <a:spcPct val="108000"/>
              </a:lnSpc>
              <a:spcBef>
                <a:spcPts val="0"/>
              </a:spcBef>
              <a:spcAft>
                <a:spcPts val="0"/>
              </a:spcAft>
            </a:pPr>
            <a:r>
              <a:rPr sz="1700" b="0">
                <a:solidFill>
                  <a:srgbClr val="B7CDD0"/>
                </a:solidFill>
                <a:latin typeface="Arial"/>
              </a:rPr>
              <a:t>review and guide.</a:t>
            </a:r>
          </a:p>
        </p:txBody>
      </p:sp>
      <p:sp>
        <p:nvSpPr>
          <p:cNvPr id="23" name="TextBox 22"/>
          <p:cNvSpPr txBox="1"/>
          <p:nvPr/>
        </p:nvSpPr>
        <p:spPr>
          <a:xfrm>
            <a:off x="594360" y="6071616"/>
            <a:ext cx="10972800" cy="265176"/>
          </a:xfrm>
          <a:prstGeom prst="rect">
            <a:avLst/>
          </a:prstGeom>
          <a:noFill/>
        </p:spPr>
        <p:txBody>
          <a:bodyPr wrap="square" lIns="0" rIns="0" tIns="0" bIns="0" anchor="t">
            <a:spAutoFit/>
          </a:bodyPr>
          <a:lstStyle/>
          <a:p>
            <a:pPr>
              <a:lnSpc>
                <a:spcPct val="108000"/>
              </a:lnSpc>
              <a:spcBef>
                <a:spcPts val="0"/>
              </a:spcBef>
              <a:spcAft>
                <a:spcPts val="0"/>
              </a:spcAft>
            </a:pPr>
            <a:r>
              <a:rPr sz="1000" b="0">
                <a:solidFill>
                  <a:srgbClr val="B7CDD0"/>
                </a:solidFill>
                <a:latin typeface="Arial"/>
              </a:rPr>
              <a:t>The NGO face includes its driver mobile view. Drivers are provisioned by the NGO, not recruited through public signup.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3"/>
        </a:solidFill>
        <a:effectLst/>
      </p:bgPr>
    </p:bg>
    <p:spTree>
      <p:nvGrpSpPr>
        <p:cNvPr id="1" name=""/>
        <p:cNvGrpSpPr/>
        <p:nvPr/>
      </p:nvGrpSpPr>
      <p:grpSpPr/>
      <p:sp>
        <p:nvSpPr>
          <p:cNvPr id="2" name="TextBox 1"/>
          <p:cNvSpPr txBox="1"/>
          <p:nvPr/>
        </p:nvSpPr>
        <p:spPr>
          <a:xfrm>
            <a:off x="594360" y="384048"/>
            <a:ext cx="9692640" cy="201168"/>
          </a:xfrm>
          <a:prstGeom prst="rect">
            <a:avLst/>
          </a:prstGeom>
          <a:noFill/>
        </p:spPr>
        <p:txBody>
          <a:bodyPr wrap="square" lIns="0" rIns="0" tIns="0" bIns="0" anchor="t">
            <a:spAutoFit/>
          </a:bodyPr>
          <a:lstStyle/>
          <a:p>
            <a:pPr>
              <a:lnSpc>
                <a:spcPct val="108000"/>
              </a:lnSpc>
              <a:spcBef>
                <a:spcPts val="0"/>
              </a:spcBef>
              <a:spcAft>
                <a:spcPts val="0"/>
              </a:spcAft>
            </a:pPr>
            <a:r>
              <a:rPr sz="1100" b="1">
                <a:solidFill>
                  <a:srgbClr val="376C6F"/>
                </a:solidFill>
                <a:latin typeface="Arial"/>
              </a:rPr>
              <a:t>FACE 01 · PEOPLE SEEKING MEALS</a:t>
            </a:r>
          </a:p>
        </p:txBody>
      </p:sp>
      <p:sp>
        <p:nvSpPr>
          <p:cNvPr id="3" name="TextBox 2"/>
          <p:cNvSpPr txBox="1"/>
          <p:nvPr/>
        </p:nvSpPr>
        <p:spPr>
          <a:xfrm>
            <a:off x="594360" y="877824"/>
            <a:ext cx="10972800" cy="987552"/>
          </a:xfrm>
          <a:prstGeom prst="rect">
            <a:avLst/>
          </a:prstGeom>
          <a:noFill/>
        </p:spPr>
        <p:txBody>
          <a:bodyPr wrap="square" lIns="0" rIns="0" tIns="0" bIns="0" anchor="t">
            <a:spAutoFit/>
          </a:bodyPr>
          <a:lstStyle/>
          <a:p>
            <a:pPr>
              <a:lnSpc>
                <a:spcPct val="108000"/>
              </a:lnSpc>
              <a:spcBef>
                <a:spcPts val="0"/>
              </a:spcBef>
              <a:spcAft>
                <a:spcPts val="0"/>
              </a:spcAft>
            </a:pPr>
            <a:r>
              <a:rPr sz="3400" b="0">
                <a:solidFill>
                  <a:srgbClr val="244557"/>
                </a:solidFill>
                <a:latin typeface="Arial Rounded MT Bold"/>
              </a:rPr>
              <a:t>Find a place that works for you.</a:t>
            </a:r>
          </a:p>
        </p:txBody>
      </p:sp>
      <p:cxnSp>
        <p:nvCxnSpPr>
          <p:cNvPr id="4" name="Connector 3"/>
          <p:cNvCxnSpPr/>
          <p:nvPr/>
        </p:nvCxnSpPr>
        <p:spPr>
          <a:xfrm>
            <a:off x="594360" y="6428232"/>
            <a:ext cx="11000232" cy="0"/>
          </a:xfrm>
          <a:prstGeom prst="line">
            <a:avLst/>
          </a:prstGeom>
          <a:ln w="12700">
            <a:solidFill>
              <a:srgbClr val="D9E3D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94360" y="6537960"/>
            <a:ext cx="7772400" cy="164592"/>
          </a:xfrm>
          <a:prstGeom prst="rect">
            <a:avLst/>
          </a:prstGeom>
          <a:noFill/>
        </p:spPr>
        <p:txBody>
          <a:bodyPr wrap="square" lIns="0" rIns="0" tIns="0" bIns="0" anchor="t">
            <a:spAutoFit/>
          </a:bodyPr>
          <a:lstStyle/>
          <a:p>
            <a:pPr>
              <a:lnSpc>
                <a:spcPct val="108000"/>
              </a:lnSpc>
              <a:spcBef>
                <a:spcPts val="0"/>
              </a:spcBef>
              <a:spcAft>
                <a:spcPts val="0"/>
              </a:spcAft>
            </a:pPr>
            <a:r>
              <a:rPr sz="850" b="0">
                <a:solidFill>
                  <a:srgbClr val="484D48"/>
                </a:solidFill>
                <a:latin typeface="Arial"/>
              </a:rPr>
              <a:t>SAMRIT  /  A PLACE AT THE TABLE</a:t>
            </a:r>
          </a:p>
        </p:txBody>
      </p:sp>
      <p:sp>
        <p:nvSpPr>
          <p:cNvPr id="6" name="TextBox 5"/>
          <p:cNvSpPr txBox="1"/>
          <p:nvPr/>
        </p:nvSpPr>
        <p:spPr>
          <a:xfrm>
            <a:off x="11109960" y="6510528"/>
            <a:ext cx="457200" cy="210312"/>
          </a:xfrm>
          <a:prstGeom prst="rect">
            <a:avLst/>
          </a:prstGeom>
          <a:noFill/>
        </p:spPr>
        <p:txBody>
          <a:bodyPr wrap="square" lIns="0" rIns="0" tIns="0" bIns="0" anchor="t">
            <a:spAutoFit/>
          </a:bodyPr>
          <a:lstStyle/>
          <a:p>
            <a:pPr algn="r">
              <a:lnSpc>
                <a:spcPct val="108000"/>
              </a:lnSpc>
              <a:spcBef>
                <a:spcPts val="0"/>
              </a:spcBef>
              <a:spcAft>
                <a:spcPts val="0"/>
              </a:spcAft>
            </a:pPr>
            <a:r>
              <a:rPr sz="1100" b="0">
                <a:solidFill>
                  <a:srgbClr val="484D48"/>
                </a:solidFill>
                <a:latin typeface="Arial"/>
              </a:rPr>
              <a:t>07</a:t>
            </a:r>
          </a:p>
        </p:txBody>
      </p:sp>
      <p:sp>
        <p:nvSpPr>
          <p:cNvPr id="7" name="TextBox 6"/>
          <p:cNvSpPr txBox="1"/>
          <p:nvPr/>
        </p:nvSpPr>
        <p:spPr>
          <a:xfrm>
            <a:off x="594360" y="2148840"/>
            <a:ext cx="411480" cy="365760"/>
          </a:xfrm>
          <a:prstGeom prst="rect">
            <a:avLst/>
          </a:prstGeom>
          <a:noFill/>
        </p:spPr>
        <p:txBody>
          <a:bodyPr wrap="square" lIns="0" rIns="0" tIns="0" bIns="0" anchor="t">
            <a:spAutoFit/>
          </a:bodyPr>
          <a:lstStyle/>
          <a:p>
            <a:pPr>
              <a:lnSpc>
                <a:spcPct val="108000"/>
              </a:lnSpc>
              <a:spcBef>
                <a:spcPts val="0"/>
              </a:spcBef>
              <a:spcAft>
                <a:spcPts val="0"/>
              </a:spcAft>
            </a:pPr>
            <a:r>
              <a:rPr sz="1700" b="1">
                <a:solidFill>
                  <a:srgbClr val="537A5A"/>
                </a:solidFill>
                <a:latin typeface="Arial"/>
              </a:rPr>
              <a:t>01</a:t>
            </a:r>
          </a:p>
        </p:txBody>
      </p:sp>
      <p:sp>
        <p:nvSpPr>
          <p:cNvPr id="8" name="TextBox 7"/>
          <p:cNvSpPr txBox="1"/>
          <p:nvPr/>
        </p:nvSpPr>
        <p:spPr>
          <a:xfrm>
            <a:off x="1124712" y="2139696"/>
            <a:ext cx="3218687" cy="384048"/>
          </a:xfrm>
          <a:prstGeom prst="rect">
            <a:avLst/>
          </a:prstGeom>
          <a:noFill/>
        </p:spPr>
        <p:txBody>
          <a:bodyPr wrap="square" lIns="0" rIns="0" tIns="0" bIns="0" anchor="t">
            <a:spAutoFit/>
          </a:bodyPr>
          <a:lstStyle/>
          <a:p>
            <a:pPr>
              <a:lnSpc>
                <a:spcPct val="108000"/>
              </a:lnSpc>
              <a:spcBef>
                <a:spcPts val="0"/>
              </a:spcBef>
              <a:spcAft>
                <a:spcPts val="0"/>
              </a:spcAft>
            </a:pPr>
            <a:r>
              <a:rPr sz="2100" b="1">
                <a:solidFill>
                  <a:srgbClr val="244557"/>
                </a:solidFill>
                <a:latin typeface="Arial"/>
              </a:rPr>
              <a:t>Choose what fits.</a:t>
            </a:r>
          </a:p>
        </p:txBody>
      </p:sp>
      <p:sp>
        <p:nvSpPr>
          <p:cNvPr id="9" name="TextBox 8"/>
          <p:cNvSpPr txBox="1"/>
          <p:nvPr/>
        </p:nvSpPr>
        <p:spPr>
          <a:xfrm>
            <a:off x="1124712" y="2569464"/>
            <a:ext cx="3200399" cy="804672"/>
          </a:xfrm>
          <a:prstGeom prst="rect">
            <a:avLst/>
          </a:prstGeom>
          <a:noFill/>
        </p:spPr>
        <p:txBody>
          <a:bodyPr wrap="square" lIns="0" rIns="0" tIns="0" bIns="0" anchor="t">
            <a:spAutoFit/>
          </a:bodyPr>
          <a:lstStyle/>
          <a:p>
            <a:pPr>
              <a:lnSpc>
                <a:spcPct val="108000"/>
              </a:lnSpc>
              <a:spcBef>
                <a:spcPts val="0"/>
              </a:spcBef>
              <a:spcAft>
                <a:spcPts val="0"/>
              </a:spcAft>
            </a:pPr>
            <a:r>
              <a:rPr sz="1700" b="0">
                <a:solidFill>
                  <a:srgbClr val="484D48"/>
                </a:solidFill>
                <a:latin typeface="Arial"/>
              </a:rPr>
              <a:t>Nine major-allergen categories</a:t>
            </a:r>
          </a:p>
          <a:p>
            <a:pPr>
              <a:lnSpc>
                <a:spcPct val="108000"/>
              </a:lnSpc>
              <a:spcBef>
                <a:spcPts val="0"/>
              </a:spcBef>
              <a:spcAft>
                <a:spcPts val="0"/>
              </a:spcAft>
            </a:pPr>
            <a:r>
              <a:rPr sz="1700" b="0">
                <a:solidFill>
                  <a:srgbClr val="484D48"/>
                </a:solidFill>
                <a:latin typeface="Arial"/>
              </a:rPr>
              <a:t>and natural-language preferences.</a:t>
            </a:r>
          </a:p>
        </p:txBody>
      </p:sp>
      <p:sp>
        <p:nvSpPr>
          <p:cNvPr id="10" name="TextBox 9"/>
          <p:cNvSpPr txBox="1"/>
          <p:nvPr/>
        </p:nvSpPr>
        <p:spPr>
          <a:xfrm>
            <a:off x="594360" y="3474720"/>
            <a:ext cx="411480" cy="365760"/>
          </a:xfrm>
          <a:prstGeom prst="rect">
            <a:avLst/>
          </a:prstGeom>
          <a:noFill/>
        </p:spPr>
        <p:txBody>
          <a:bodyPr wrap="square" lIns="0" rIns="0" tIns="0" bIns="0" anchor="t">
            <a:spAutoFit/>
          </a:bodyPr>
          <a:lstStyle/>
          <a:p>
            <a:pPr>
              <a:lnSpc>
                <a:spcPct val="108000"/>
              </a:lnSpc>
              <a:spcBef>
                <a:spcPts val="0"/>
              </a:spcBef>
              <a:spcAft>
                <a:spcPts val="0"/>
              </a:spcAft>
            </a:pPr>
            <a:r>
              <a:rPr sz="1700" b="1">
                <a:solidFill>
                  <a:srgbClr val="537A5A"/>
                </a:solidFill>
                <a:latin typeface="Arial"/>
              </a:rPr>
              <a:t>02</a:t>
            </a:r>
          </a:p>
        </p:txBody>
      </p:sp>
      <p:sp>
        <p:nvSpPr>
          <p:cNvPr id="11" name="TextBox 10"/>
          <p:cNvSpPr txBox="1"/>
          <p:nvPr/>
        </p:nvSpPr>
        <p:spPr>
          <a:xfrm>
            <a:off x="1124712" y="3465576"/>
            <a:ext cx="3218687" cy="384048"/>
          </a:xfrm>
          <a:prstGeom prst="rect">
            <a:avLst/>
          </a:prstGeom>
          <a:noFill/>
        </p:spPr>
        <p:txBody>
          <a:bodyPr wrap="square" lIns="0" rIns="0" tIns="0" bIns="0" anchor="t">
            <a:spAutoFit/>
          </a:bodyPr>
          <a:lstStyle/>
          <a:p>
            <a:pPr>
              <a:lnSpc>
                <a:spcPct val="108000"/>
              </a:lnSpc>
              <a:spcBef>
                <a:spcPts val="0"/>
              </a:spcBef>
              <a:spcAft>
                <a:spcPts val="0"/>
              </a:spcAft>
            </a:pPr>
            <a:r>
              <a:rPr sz="2100" b="1">
                <a:solidFill>
                  <a:srgbClr val="244557"/>
                </a:solidFill>
                <a:latin typeface="Arial"/>
              </a:rPr>
              <a:t>Stay in control.</a:t>
            </a:r>
          </a:p>
        </p:txBody>
      </p:sp>
      <p:sp>
        <p:nvSpPr>
          <p:cNvPr id="12" name="TextBox 11"/>
          <p:cNvSpPr txBox="1"/>
          <p:nvPr/>
        </p:nvSpPr>
        <p:spPr>
          <a:xfrm>
            <a:off x="1124712" y="3895344"/>
            <a:ext cx="3200399" cy="804672"/>
          </a:xfrm>
          <a:prstGeom prst="rect">
            <a:avLst/>
          </a:prstGeom>
          <a:noFill/>
        </p:spPr>
        <p:txBody>
          <a:bodyPr wrap="square" lIns="0" rIns="0" tIns="0" bIns="0" anchor="t">
            <a:spAutoFit/>
          </a:bodyPr>
          <a:lstStyle/>
          <a:p>
            <a:pPr>
              <a:lnSpc>
                <a:spcPct val="108000"/>
              </a:lnSpc>
              <a:spcBef>
                <a:spcPts val="0"/>
              </a:spcBef>
              <a:spcAft>
                <a:spcPts val="0"/>
              </a:spcAft>
            </a:pPr>
            <a:r>
              <a:rPr sz="1700" b="0">
                <a:solidFill>
                  <a:srgbClr val="484D48"/>
                </a:solidFill>
                <a:latin typeface="Arial"/>
              </a:rPr>
              <a:t>Visible selections, optional voice</a:t>
            </a:r>
          </a:p>
          <a:p>
            <a:pPr>
              <a:lnSpc>
                <a:spcPct val="108000"/>
              </a:lnSpc>
              <a:spcBef>
                <a:spcPts val="0"/>
              </a:spcBef>
              <a:spcAft>
                <a:spcPts val="0"/>
              </a:spcAft>
            </a:pPr>
            <a:r>
              <a:rPr sz="1700" b="0">
                <a:solidFill>
                  <a:srgbClr val="484D48"/>
                </a:solidFill>
                <a:latin typeface="Arial"/>
              </a:rPr>
              <a:t>and no public account requirement.</a:t>
            </a:r>
          </a:p>
        </p:txBody>
      </p:sp>
      <p:sp>
        <p:nvSpPr>
          <p:cNvPr id="13" name="TextBox 12"/>
          <p:cNvSpPr txBox="1"/>
          <p:nvPr/>
        </p:nvSpPr>
        <p:spPr>
          <a:xfrm>
            <a:off x="594360" y="4791456"/>
            <a:ext cx="411480" cy="365760"/>
          </a:xfrm>
          <a:prstGeom prst="rect">
            <a:avLst/>
          </a:prstGeom>
          <a:noFill/>
        </p:spPr>
        <p:txBody>
          <a:bodyPr wrap="square" lIns="0" rIns="0" tIns="0" bIns="0" anchor="t">
            <a:spAutoFit/>
          </a:bodyPr>
          <a:lstStyle/>
          <a:p>
            <a:pPr>
              <a:lnSpc>
                <a:spcPct val="108000"/>
              </a:lnSpc>
              <a:spcBef>
                <a:spcPts val="0"/>
              </a:spcBef>
              <a:spcAft>
                <a:spcPts val="0"/>
              </a:spcAft>
            </a:pPr>
            <a:r>
              <a:rPr sz="1700" b="1">
                <a:solidFill>
                  <a:srgbClr val="537A5A"/>
                </a:solidFill>
                <a:latin typeface="Arial"/>
              </a:rPr>
              <a:t>03</a:t>
            </a:r>
          </a:p>
        </p:txBody>
      </p:sp>
      <p:sp>
        <p:nvSpPr>
          <p:cNvPr id="14" name="TextBox 13"/>
          <p:cNvSpPr txBox="1"/>
          <p:nvPr/>
        </p:nvSpPr>
        <p:spPr>
          <a:xfrm>
            <a:off x="1124712" y="4782312"/>
            <a:ext cx="3218687" cy="384048"/>
          </a:xfrm>
          <a:prstGeom prst="rect">
            <a:avLst/>
          </a:prstGeom>
          <a:noFill/>
        </p:spPr>
        <p:txBody>
          <a:bodyPr wrap="square" lIns="0" rIns="0" tIns="0" bIns="0" anchor="t">
            <a:spAutoFit/>
          </a:bodyPr>
          <a:lstStyle/>
          <a:p>
            <a:pPr>
              <a:lnSpc>
                <a:spcPct val="108000"/>
              </a:lnSpc>
              <a:spcBef>
                <a:spcPts val="0"/>
              </a:spcBef>
              <a:spcAft>
                <a:spcPts val="0"/>
              </a:spcAft>
            </a:pPr>
            <a:r>
              <a:rPr sz="2100" b="1">
                <a:solidFill>
                  <a:srgbClr val="244557"/>
                </a:solidFill>
                <a:latin typeface="Arial"/>
              </a:rPr>
              <a:t>Be heard privately.</a:t>
            </a:r>
          </a:p>
        </p:txBody>
      </p:sp>
      <p:sp>
        <p:nvSpPr>
          <p:cNvPr id="15" name="TextBox 14"/>
          <p:cNvSpPr txBox="1"/>
          <p:nvPr/>
        </p:nvSpPr>
        <p:spPr>
          <a:xfrm>
            <a:off x="1124712" y="5212080"/>
            <a:ext cx="3200399" cy="804672"/>
          </a:xfrm>
          <a:prstGeom prst="rect">
            <a:avLst/>
          </a:prstGeom>
          <a:noFill/>
        </p:spPr>
        <p:txBody>
          <a:bodyPr wrap="square" lIns="0" rIns="0" tIns="0" bIns="0" anchor="t">
            <a:spAutoFit/>
          </a:bodyPr>
          <a:lstStyle/>
          <a:p>
            <a:pPr>
              <a:lnSpc>
                <a:spcPct val="108000"/>
              </a:lnSpc>
              <a:spcBef>
                <a:spcPts val="0"/>
              </a:spcBef>
              <a:spcAft>
                <a:spcPts val="0"/>
              </a:spcAft>
            </a:pPr>
            <a:r>
              <a:rPr sz="1700" b="0">
                <a:solidFill>
                  <a:srgbClr val="484D48"/>
                </a:solidFill>
                <a:latin typeface="Arial"/>
              </a:rPr>
              <a:t>One venue QR, finish the visit,</a:t>
            </a:r>
          </a:p>
          <a:p>
            <a:pPr>
              <a:lnSpc>
                <a:spcPct val="108000"/>
              </a:lnSpc>
              <a:spcBef>
                <a:spcPts val="0"/>
              </a:spcBef>
              <a:spcAft>
                <a:spcPts val="0"/>
              </a:spcAft>
            </a:pPr>
            <a:r>
              <a:rPr sz="1700" b="0">
                <a:solidFill>
                  <a:srgbClr val="484D48"/>
                </a:solidFill>
                <a:latin typeface="Arial"/>
              </a:rPr>
              <a:t>then leave private feedback.</a:t>
            </a:r>
          </a:p>
        </p:txBody>
      </p:sp>
      <p:sp>
        <p:nvSpPr>
          <p:cNvPr id="16" name="Rounded Rectangle 15"/>
          <p:cNvSpPr/>
          <p:nvPr/>
        </p:nvSpPr>
        <p:spPr>
          <a:xfrm>
            <a:off x="4695444" y="1943100"/>
            <a:ext cx="6903720" cy="4343400"/>
          </a:xfrm>
          <a:prstGeom prst="roundRect">
            <a:avLst>
              <a:gd name="adj" fmla="val 12000"/>
            </a:avLst>
          </a:prstGeom>
          <a:solidFill>
            <a:srgbClr val="244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663440" y="1874519"/>
            <a:ext cx="6903720" cy="4343400"/>
          </a:xfrm>
          <a:prstGeom prst="roundRect">
            <a:avLst>
              <a:gd name="adj" fmla="val 12000"/>
            </a:avLst>
          </a:prstGeom>
          <a:solidFill>
            <a:srgbClr val="FFFFFF"/>
          </a:solidFill>
          <a:ln w="12700">
            <a:solidFill>
              <a:srgbClr val="D9E3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Samrit interface screenshot or test fixture: consumer"/>
          <p:cNvPicPr>
            <a:picLocks noChangeAspect="1"/>
          </p:cNvPicPr>
          <p:nvPr/>
        </p:nvPicPr>
        <p:blipFill>
          <a:blip r:embed="rId2"/>
          <a:srcRect/>
          <a:stretch>
            <a:fillRect/>
          </a:stretch>
        </p:blipFill>
        <p:spPr>
          <a:xfrm>
            <a:off x="4940046" y="1929384"/>
            <a:ext cx="6350507" cy="423367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7F3"/>
        </a:solidFill>
        <a:effectLst/>
      </p:bgPr>
    </p:bg>
    <p:spTree>
      <p:nvGrpSpPr>
        <p:cNvPr id="1" name=""/>
        <p:cNvGrpSpPr/>
        <p:nvPr/>
      </p:nvGrpSpPr>
      <p:grpSpPr/>
      <p:sp>
        <p:nvSpPr>
          <p:cNvPr id="2" name="TextBox 1"/>
          <p:cNvSpPr txBox="1"/>
          <p:nvPr/>
        </p:nvSpPr>
        <p:spPr>
          <a:xfrm>
            <a:off x="594360" y="384048"/>
            <a:ext cx="9692640" cy="201168"/>
          </a:xfrm>
          <a:prstGeom prst="rect">
            <a:avLst/>
          </a:prstGeom>
          <a:noFill/>
        </p:spPr>
        <p:txBody>
          <a:bodyPr wrap="square" lIns="0" rIns="0" tIns="0" bIns="0" anchor="t">
            <a:spAutoFit/>
          </a:bodyPr>
          <a:lstStyle/>
          <a:p>
            <a:pPr>
              <a:lnSpc>
                <a:spcPct val="108000"/>
              </a:lnSpc>
              <a:spcBef>
                <a:spcPts val="0"/>
              </a:spcBef>
              <a:spcAft>
                <a:spcPts val="0"/>
              </a:spcAft>
            </a:pPr>
            <a:r>
              <a:rPr sz="1100" b="1">
                <a:solidFill>
                  <a:srgbClr val="376C6F"/>
                </a:solidFill>
                <a:latin typeface="Arial"/>
              </a:rPr>
              <a:t>FACE 02 · DISTRIBUTION CENTERS</a:t>
            </a:r>
          </a:p>
        </p:txBody>
      </p:sp>
      <p:sp>
        <p:nvSpPr>
          <p:cNvPr id="3" name="TextBox 2"/>
          <p:cNvSpPr txBox="1"/>
          <p:nvPr/>
        </p:nvSpPr>
        <p:spPr>
          <a:xfrm>
            <a:off x="594360" y="877824"/>
            <a:ext cx="10972800" cy="987552"/>
          </a:xfrm>
          <a:prstGeom prst="rect">
            <a:avLst/>
          </a:prstGeom>
          <a:noFill/>
        </p:spPr>
        <p:txBody>
          <a:bodyPr wrap="square" lIns="0" rIns="0" tIns="0" bIns="0" anchor="t">
            <a:spAutoFit/>
          </a:bodyPr>
          <a:lstStyle/>
          <a:p>
            <a:pPr>
              <a:lnSpc>
                <a:spcPct val="108000"/>
              </a:lnSpc>
              <a:spcBef>
                <a:spcPts val="0"/>
              </a:spcBef>
              <a:spcAft>
                <a:spcPts val="0"/>
              </a:spcAft>
            </a:pPr>
            <a:r>
              <a:rPr sz="3400" b="0">
                <a:solidFill>
                  <a:srgbClr val="244557"/>
                </a:solidFill>
                <a:latin typeface="Arial Rounded MT Bold"/>
              </a:rPr>
              <a:t>A welcoming place, ready to receive.</a:t>
            </a:r>
          </a:p>
        </p:txBody>
      </p:sp>
      <p:cxnSp>
        <p:nvCxnSpPr>
          <p:cNvPr id="4" name="Connector 3"/>
          <p:cNvCxnSpPr/>
          <p:nvPr/>
        </p:nvCxnSpPr>
        <p:spPr>
          <a:xfrm>
            <a:off x="594360" y="6428232"/>
            <a:ext cx="11000232" cy="0"/>
          </a:xfrm>
          <a:prstGeom prst="line">
            <a:avLst/>
          </a:prstGeom>
          <a:ln w="12700">
            <a:solidFill>
              <a:srgbClr val="D9E3D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94360" y="6537960"/>
            <a:ext cx="7772400" cy="164592"/>
          </a:xfrm>
          <a:prstGeom prst="rect">
            <a:avLst/>
          </a:prstGeom>
          <a:noFill/>
        </p:spPr>
        <p:txBody>
          <a:bodyPr wrap="square" lIns="0" rIns="0" tIns="0" bIns="0" anchor="t">
            <a:spAutoFit/>
          </a:bodyPr>
          <a:lstStyle/>
          <a:p>
            <a:pPr>
              <a:lnSpc>
                <a:spcPct val="108000"/>
              </a:lnSpc>
              <a:spcBef>
                <a:spcPts val="0"/>
              </a:spcBef>
              <a:spcAft>
                <a:spcPts val="0"/>
              </a:spcAft>
            </a:pPr>
            <a:r>
              <a:rPr sz="850" b="0">
                <a:solidFill>
                  <a:srgbClr val="484D48"/>
                </a:solidFill>
                <a:latin typeface="Arial"/>
              </a:rPr>
              <a:t>SAMRIT  /  A PLACE AT THE TABLE</a:t>
            </a:r>
          </a:p>
        </p:txBody>
      </p:sp>
      <p:sp>
        <p:nvSpPr>
          <p:cNvPr id="6" name="TextBox 5"/>
          <p:cNvSpPr txBox="1"/>
          <p:nvPr/>
        </p:nvSpPr>
        <p:spPr>
          <a:xfrm>
            <a:off x="11109960" y="6510528"/>
            <a:ext cx="457200" cy="210312"/>
          </a:xfrm>
          <a:prstGeom prst="rect">
            <a:avLst/>
          </a:prstGeom>
          <a:noFill/>
        </p:spPr>
        <p:txBody>
          <a:bodyPr wrap="square" lIns="0" rIns="0" tIns="0" bIns="0" anchor="t">
            <a:spAutoFit/>
          </a:bodyPr>
          <a:lstStyle/>
          <a:p>
            <a:pPr algn="r">
              <a:lnSpc>
                <a:spcPct val="108000"/>
              </a:lnSpc>
              <a:spcBef>
                <a:spcPts val="0"/>
              </a:spcBef>
              <a:spcAft>
                <a:spcPts val="0"/>
              </a:spcAft>
            </a:pPr>
            <a:r>
              <a:rPr sz="1100" b="0">
                <a:solidFill>
                  <a:srgbClr val="484D48"/>
                </a:solidFill>
                <a:latin typeface="Arial"/>
              </a:rPr>
              <a:t>08</a:t>
            </a:r>
          </a:p>
        </p:txBody>
      </p:sp>
      <p:sp>
        <p:nvSpPr>
          <p:cNvPr id="7" name="Rounded Rectangle 6"/>
          <p:cNvSpPr/>
          <p:nvPr/>
        </p:nvSpPr>
        <p:spPr>
          <a:xfrm>
            <a:off x="626364" y="2016252"/>
            <a:ext cx="6967728" cy="4215384"/>
          </a:xfrm>
          <a:prstGeom prst="roundRect">
            <a:avLst>
              <a:gd name="adj" fmla="val 12000"/>
            </a:avLst>
          </a:prstGeom>
          <a:solidFill>
            <a:srgbClr val="244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94360" y="1947672"/>
            <a:ext cx="6967728" cy="4215384"/>
          </a:xfrm>
          <a:prstGeom prst="roundRect">
            <a:avLst>
              <a:gd name="adj" fmla="val 12000"/>
            </a:avLst>
          </a:prstGeom>
          <a:solidFill>
            <a:srgbClr val="FFFFFF"/>
          </a:solidFill>
          <a:ln w="12700">
            <a:solidFill>
              <a:srgbClr val="D9E3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amrit interface screenshot or test fixture: center"/>
          <p:cNvPicPr>
            <a:picLocks noChangeAspect="1"/>
          </p:cNvPicPr>
          <p:nvPr/>
        </p:nvPicPr>
        <p:blipFill>
          <a:blip r:embed="rId2"/>
          <a:srcRect/>
          <a:stretch>
            <a:fillRect/>
          </a:stretch>
        </p:blipFill>
        <p:spPr>
          <a:xfrm>
            <a:off x="998981" y="2002536"/>
            <a:ext cx="6158484" cy="4105656"/>
          </a:xfrm>
          <a:prstGeom prst="rect">
            <a:avLst/>
          </a:prstGeom>
        </p:spPr>
      </p:pic>
      <p:sp>
        <p:nvSpPr>
          <p:cNvPr id="10" name="TextBox 9"/>
          <p:cNvSpPr txBox="1"/>
          <p:nvPr/>
        </p:nvSpPr>
        <p:spPr>
          <a:xfrm>
            <a:off x="7955279" y="2240280"/>
            <a:ext cx="411480" cy="365760"/>
          </a:xfrm>
          <a:prstGeom prst="rect">
            <a:avLst/>
          </a:prstGeom>
          <a:noFill/>
        </p:spPr>
        <p:txBody>
          <a:bodyPr wrap="square" lIns="0" rIns="0" tIns="0" bIns="0" anchor="t">
            <a:spAutoFit/>
          </a:bodyPr>
          <a:lstStyle/>
          <a:p>
            <a:pPr>
              <a:lnSpc>
                <a:spcPct val="108000"/>
              </a:lnSpc>
              <a:spcBef>
                <a:spcPts val="0"/>
              </a:spcBef>
              <a:spcAft>
                <a:spcPts val="0"/>
              </a:spcAft>
            </a:pPr>
            <a:r>
              <a:rPr sz="1700" b="1">
                <a:solidFill>
                  <a:srgbClr val="537A5A"/>
                </a:solidFill>
                <a:latin typeface="Arial"/>
              </a:rPr>
              <a:t>01</a:t>
            </a:r>
          </a:p>
        </p:txBody>
      </p:sp>
      <p:sp>
        <p:nvSpPr>
          <p:cNvPr id="11" name="TextBox 10"/>
          <p:cNvSpPr txBox="1"/>
          <p:nvPr/>
        </p:nvSpPr>
        <p:spPr>
          <a:xfrm>
            <a:off x="8485632" y="2231136"/>
            <a:ext cx="3081528" cy="384048"/>
          </a:xfrm>
          <a:prstGeom prst="rect">
            <a:avLst/>
          </a:prstGeom>
          <a:noFill/>
        </p:spPr>
        <p:txBody>
          <a:bodyPr wrap="square" lIns="0" rIns="0" tIns="0" bIns="0" anchor="t">
            <a:spAutoFit/>
          </a:bodyPr>
          <a:lstStyle/>
          <a:p>
            <a:pPr>
              <a:lnSpc>
                <a:spcPct val="108000"/>
              </a:lnSpc>
              <a:spcBef>
                <a:spcPts val="0"/>
              </a:spcBef>
              <a:spcAft>
                <a:spcPts val="0"/>
              </a:spcAft>
            </a:pPr>
            <a:r>
              <a:rPr sz="2100" b="1">
                <a:solidFill>
                  <a:srgbClr val="244557"/>
                </a:solidFill>
                <a:latin typeface="Arial"/>
              </a:rPr>
              <a:t>Capacity first.</a:t>
            </a:r>
          </a:p>
        </p:txBody>
      </p:sp>
      <p:sp>
        <p:nvSpPr>
          <p:cNvPr id="12" name="TextBox 11"/>
          <p:cNvSpPr txBox="1"/>
          <p:nvPr/>
        </p:nvSpPr>
        <p:spPr>
          <a:xfrm>
            <a:off x="8485632" y="2660904"/>
            <a:ext cx="3063240" cy="804672"/>
          </a:xfrm>
          <a:prstGeom prst="rect">
            <a:avLst/>
          </a:prstGeom>
          <a:noFill/>
        </p:spPr>
        <p:txBody>
          <a:bodyPr wrap="square" lIns="0" rIns="0" tIns="0" bIns="0" anchor="t">
            <a:spAutoFit/>
          </a:bodyPr>
          <a:lstStyle/>
          <a:p>
            <a:pPr>
              <a:lnSpc>
                <a:spcPct val="108000"/>
              </a:lnSpc>
              <a:spcBef>
                <a:spcPts val="0"/>
              </a:spcBef>
              <a:spcAft>
                <a:spcPts val="0"/>
              </a:spcAft>
            </a:pPr>
            <a:r>
              <a:rPr sz="1700" b="0">
                <a:solidFill>
                  <a:srgbClr val="484D48"/>
                </a:solidFill>
                <a:latin typeface="Arial"/>
              </a:rPr>
              <a:t>Hours, seating, staffing and</a:t>
            </a:r>
          </a:p>
          <a:p>
            <a:pPr>
              <a:lnSpc>
                <a:spcPct val="108000"/>
              </a:lnSpc>
              <a:spcBef>
                <a:spcPts val="0"/>
              </a:spcBef>
              <a:spcAft>
                <a:spcPts val="0"/>
              </a:spcAft>
            </a:pPr>
            <a:r>
              <a:rPr sz="1700" b="0">
                <a:solidFill>
                  <a:srgbClr val="484D48"/>
                </a:solidFill>
                <a:latin typeface="Arial"/>
              </a:rPr>
              <a:t>hot / chilled / frozen capability.</a:t>
            </a:r>
          </a:p>
        </p:txBody>
      </p:sp>
      <p:sp>
        <p:nvSpPr>
          <p:cNvPr id="13" name="TextBox 12"/>
          <p:cNvSpPr txBox="1"/>
          <p:nvPr/>
        </p:nvSpPr>
        <p:spPr>
          <a:xfrm>
            <a:off x="7955279" y="3602736"/>
            <a:ext cx="411480" cy="365760"/>
          </a:xfrm>
          <a:prstGeom prst="rect">
            <a:avLst/>
          </a:prstGeom>
          <a:noFill/>
        </p:spPr>
        <p:txBody>
          <a:bodyPr wrap="square" lIns="0" rIns="0" tIns="0" bIns="0" anchor="t">
            <a:spAutoFit/>
          </a:bodyPr>
          <a:lstStyle/>
          <a:p>
            <a:pPr>
              <a:lnSpc>
                <a:spcPct val="108000"/>
              </a:lnSpc>
              <a:spcBef>
                <a:spcPts val="0"/>
              </a:spcBef>
              <a:spcAft>
                <a:spcPts val="0"/>
              </a:spcAft>
            </a:pPr>
            <a:r>
              <a:rPr sz="1700" b="1">
                <a:solidFill>
                  <a:srgbClr val="537A5A"/>
                </a:solidFill>
                <a:latin typeface="Arial"/>
              </a:rPr>
              <a:t>02</a:t>
            </a:r>
          </a:p>
        </p:txBody>
      </p:sp>
      <p:sp>
        <p:nvSpPr>
          <p:cNvPr id="14" name="TextBox 13"/>
          <p:cNvSpPr txBox="1"/>
          <p:nvPr/>
        </p:nvSpPr>
        <p:spPr>
          <a:xfrm>
            <a:off x="8485632" y="3593592"/>
            <a:ext cx="3081528" cy="384048"/>
          </a:xfrm>
          <a:prstGeom prst="rect">
            <a:avLst/>
          </a:prstGeom>
          <a:noFill/>
        </p:spPr>
        <p:txBody>
          <a:bodyPr wrap="square" lIns="0" rIns="0" tIns="0" bIns="0" anchor="t">
            <a:spAutoFit/>
          </a:bodyPr>
          <a:lstStyle/>
          <a:p>
            <a:pPr>
              <a:lnSpc>
                <a:spcPct val="108000"/>
              </a:lnSpc>
              <a:spcBef>
                <a:spcPts val="0"/>
              </a:spcBef>
              <a:spcAft>
                <a:spcPts val="0"/>
              </a:spcAft>
            </a:pPr>
            <a:r>
              <a:rPr sz="2100" b="1">
                <a:solidFill>
                  <a:srgbClr val="244557"/>
                </a:solidFill>
                <a:latin typeface="Arial"/>
              </a:rPr>
              <a:t>NGO-approved.</a:t>
            </a:r>
          </a:p>
        </p:txBody>
      </p:sp>
      <p:sp>
        <p:nvSpPr>
          <p:cNvPr id="15" name="TextBox 14"/>
          <p:cNvSpPr txBox="1"/>
          <p:nvPr/>
        </p:nvSpPr>
        <p:spPr>
          <a:xfrm>
            <a:off x="8485632" y="4023360"/>
            <a:ext cx="3063240" cy="804672"/>
          </a:xfrm>
          <a:prstGeom prst="rect">
            <a:avLst/>
          </a:prstGeom>
          <a:noFill/>
        </p:spPr>
        <p:txBody>
          <a:bodyPr wrap="square" lIns="0" rIns="0" tIns="0" bIns="0" anchor="t">
            <a:spAutoFit/>
          </a:bodyPr>
          <a:lstStyle/>
          <a:p>
            <a:pPr>
              <a:lnSpc>
                <a:spcPct val="108000"/>
              </a:lnSpc>
              <a:spcBef>
                <a:spcPts val="0"/>
              </a:spcBef>
              <a:spcAft>
                <a:spcPts val="0"/>
              </a:spcAft>
            </a:pPr>
            <a:r>
              <a:rPr sz="1700" b="0">
                <a:solidFill>
                  <a:srgbClr val="484D48"/>
                </a:solidFill>
                <a:latin typeface="Arial"/>
              </a:rPr>
              <a:t>The central NGO verifies</a:t>
            </a:r>
          </a:p>
          <a:p>
            <a:pPr>
              <a:lnSpc>
                <a:spcPct val="108000"/>
              </a:lnSpc>
              <a:spcBef>
                <a:spcPts val="0"/>
              </a:spcBef>
              <a:spcAft>
                <a:spcPts val="0"/>
              </a:spcAft>
            </a:pPr>
            <a:r>
              <a:rPr sz="1700" b="0">
                <a:solidFill>
                  <a:srgbClr val="484D48"/>
                </a:solidFill>
                <a:latin typeface="Arial"/>
              </a:rPr>
              <a:t>participating facilities.</a:t>
            </a:r>
          </a:p>
        </p:txBody>
      </p:sp>
      <p:sp>
        <p:nvSpPr>
          <p:cNvPr id="16" name="TextBox 15"/>
          <p:cNvSpPr txBox="1"/>
          <p:nvPr/>
        </p:nvSpPr>
        <p:spPr>
          <a:xfrm>
            <a:off x="7955279" y="4928616"/>
            <a:ext cx="411480" cy="365760"/>
          </a:xfrm>
          <a:prstGeom prst="rect">
            <a:avLst/>
          </a:prstGeom>
          <a:noFill/>
        </p:spPr>
        <p:txBody>
          <a:bodyPr wrap="square" lIns="0" rIns="0" tIns="0" bIns="0" anchor="t">
            <a:spAutoFit/>
          </a:bodyPr>
          <a:lstStyle/>
          <a:p>
            <a:pPr>
              <a:lnSpc>
                <a:spcPct val="108000"/>
              </a:lnSpc>
              <a:spcBef>
                <a:spcPts val="0"/>
              </a:spcBef>
              <a:spcAft>
                <a:spcPts val="0"/>
              </a:spcAft>
            </a:pPr>
            <a:r>
              <a:rPr sz="1700" b="1">
                <a:solidFill>
                  <a:srgbClr val="537A5A"/>
                </a:solidFill>
                <a:latin typeface="Arial"/>
              </a:rPr>
              <a:t>03</a:t>
            </a:r>
          </a:p>
        </p:txBody>
      </p:sp>
      <p:sp>
        <p:nvSpPr>
          <p:cNvPr id="17" name="TextBox 16"/>
          <p:cNvSpPr txBox="1"/>
          <p:nvPr/>
        </p:nvSpPr>
        <p:spPr>
          <a:xfrm>
            <a:off x="8485632" y="4919472"/>
            <a:ext cx="3081528" cy="384048"/>
          </a:xfrm>
          <a:prstGeom prst="rect">
            <a:avLst/>
          </a:prstGeom>
          <a:noFill/>
        </p:spPr>
        <p:txBody>
          <a:bodyPr wrap="square" lIns="0" rIns="0" tIns="0" bIns="0" anchor="t">
            <a:spAutoFit/>
          </a:bodyPr>
          <a:lstStyle/>
          <a:p>
            <a:pPr>
              <a:lnSpc>
                <a:spcPct val="108000"/>
              </a:lnSpc>
              <a:spcBef>
                <a:spcPts val="0"/>
              </a:spcBef>
              <a:spcAft>
                <a:spcPts val="0"/>
              </a:spcAft>
            </a:pPr>
            <a:r>
              <a:rPr sz="2100" b="1">
                <a:solidFill>
                  <a:srgbClr val="244557"/>
                </a:solidFill>
                <a:latin typeface="Arial"/>
              </a:rPr>
              <a:t>Staff confirm intake.</a:t>
            </a:r>
          </a:p>
        </p:txBody>
      </p:sp>
      <p:sp>
        <p:nvSpPr>
          <p:cNvPr id="18" name="TextBox 17"/>
          <p:cNvSpPr txBox="1"/>
          <p:nvPr/>
        </p:nvSpPr>
        <p:spPr>
          <a:xfrm>
            <a:off x="8485632" y="5349240"/>
            <a:ext cx="3063240" cy="804672"/>
          </a:xfrm>
          <a:prstGeom prst="rect">
            <a:avLst/>
          </a:prstGeom>
          <a:noFill/>
        </p:spPr>
        <p:txBody>
          <a:bodyPr wrap="square" lIns="0" rIns="0" tIns="0" bIns="0" anchor="t">
            <a:spAutoFit/>
          </a:bodyPr>
          <a:lstStyle/>
          <a:p>
            <a:pPr>
              <a:lnSpc>
                <a:spcPct val="108000"/>
              </a:lnSpc>
              <a:spcBef>
                <a:spcPts val="0"/>
              </a:spcBef>
              <a:spcAft>
                <a:spcPts val="0"/>
              </a:spcAft>
            </a:pPr>
            <a:r>
              <a:rPr sz="1700" b="0">
                <a:solidFill>
                  <a:srgbClr val="484D48"/>
                </a:solidFill>
                <a:latin typeface="Arial"/>
              </a:rPr>
              <a:t>A shared venue QR and staff</a:t>
            </a:r>
          </a:p>
          <a:p>
            <a:pPr>
              <a:lnSpc>
                <a:spcPct val="108000"/>
              </a:lnSpc>
              <a:spcBef>
                <a:spcPts val="0"/>
              </a:spcBef>
              <a:spcAft>
                <a:spcPts val="0"/>
              </a:spcAft>
            </a:pPr>
            <a:r>
              <a:rPr sz="1700" b="0">
                <a:solidFill>
                  <a:srgbClr val="484D48"/>
                </a:solidFill>
                <a:latin typeface="Arial"/>
              </a:rPr>
              <a:t>arrival-photo confirmation.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3"/>
        </a:solidFill>
        <a:effectLst/>
      </p:bgPr>
    </p:bg>
    <p:spTree>
      <p:nvGrpSpPr>
        <p:cNvPr id="1" name=""/>
        <p:cNvGrpSpPr/>
        <p:nvPr/>
      </p:nvGrpSpPr>
      <p:grpSpPr/>
      <p:sp>
        <p:nvSpPr>
          <p:cNvPr id="2" name="TextBox 1"/>
          <p:cNvSpPr txBox="1"/>
          <p:nvPr/>
        </p:nvSpPr>
        <p:spPr>
          <a:xfrm>
            <a:off x="594360" y="384048"/>
            <a:ext cx="9692640" cy="201168"/>
          </a:xfrm>
          <a:prstGeom prst="rect">
            <a:avLst/>
          </a:prstGeom>
          <a:noFill/>
        </p:spPr>
        <p:txBody>
          <a:bodyPr wrap="square" lIns="0" rIns="0" tIns="0" bIns="0" anchor="t">
            <a:spAutoFit/>
          </a:bodyPr>
          <a:lstStyle/>
          <a:p>
            <a:pPr>
              <a:lnSpc>
                <a:spcPct val="108000"/>
              </a:lnSpc>
              <a:spcBef>
                <a:spcPts val="0"/>
              </a:spcBef>
              <a:spcAft>
                <a:spcPts val="0"/>
              </a:spcAft>
            </a:pPr>
            <a:r>
              <a:rPr sz="1100" b="1">
                <a:solidFill>
                  <a:srgbClr val="376C6F"/>
                </a:solidFill>
                <a:latin typeface="Arial"/>
              </a:rPr>
              <a:t>FACE 03 · EVENT ORGANIZERS &amp; DONORS</a:t>
            </a:r>
          </a:p>
        </p:txBody>
      </p:sp>
      <p:sp>
        <p:nvSpPr>
          <p:cNvPr id="3" name="TextBox 2"/>
          <p:cNvSpPr txBox="1"/>
          <p:nvPr/>
        </p:nvSpPr>
        <p:spPr>
          <a:xfrm>
            <a:off x="594360" y="877824"/>
            <a:ext cx="10972800" cy="987552"/>
          </a:xfrm>
          <a:prstGeom prst="rect">
            <a:avLst/>
          </a:prstGeom>
          <a:noFill/>
        </p:spPr>
        <p:txBody>
          <a:bodyPr wrap="square" lIns="0" rIns="0" tIns="0" bIns="0" anchor="t">
            <a:spAutoFit/>
          </a:bodyPr>
          <a:lstStyle/>
          <a:p>
            <a:pPr>
              <a:lnSpc>
                <a:spcPct val="108000"/>
              </a:lnSpc>
              <a:spcBef>
                <a:spcPts val="0"/>
              </a:spcBef>
              <a:spcAft>
                <a:spcPts val="0"/>
              </a:spcAft>
            </a:pPr>
            <a:r>
              <a:rPr sz="3400" b="0">
                <a:solidFill>
                  <a:srgbClr val="244557"/>
                </a:solidFill>
                <a:latin typeface="Arial Rounded MT Bold"/>
              </a:rPr>
              <a:t>From a menu photo to a rescue batch.</a:t>
            </a:r>
          </a:p>
        </p:txBody>
      </p:sp>
      <p:cxnSp>
        <p:nvCxnSpPr>
          <p:cNvPr id="4" name="Connector 3"/>
          <p:cNvCxnSpPr/>
          <p:nvPr/>
        </p:nvCxnSpPr>
        <p:spPr>
          <a:xfrm>
            <a:off x="594360" y="6428232"/>
            <a:ext cx="11000232" cy="0"/>
          </a:xfrm>
          <a:prstGeom prst="line">
            <a:avLst/>
          </a:prstGeom>
          <a:ln w="12700">
            <a:solidFill>
              <a:srgbClr val="D9E3D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94360" y="6537960"/>
            <a:ext cx="7772400" cy="164592"/>
          </a:xfrm>
          <a:prstGeom prst="rect">
            <a:avLst/>
          </a:prstGeom>
          <a:noFill/>
        </p:spPr>
        <p:txBody>
          <a:bodyPr wrap="square" lIns="0" rIns="0" tIns="0" bIns="0" anchor="t">
            <a:spAutoFit/>
          </a:bodyPr>
          <a:lstStyle/>
          <a:p>
            <a:pPr>
              <a:lnSpc>
                <a:spcPct val="108000"/>
              </a:lnSpc>
              <a:spcBef>
                <a:spcPts val="0"/>
              </a:spcBef>
              <a:spcAft>
                <a:spcPts val="0"/>
              </a:spcAft>
            </a:pPr>
            <a:r>
              <a:rPr sz="850" b="0">
                <a:solidFill>
                  <a:srgbClr val="484D48"/>
                </a:solidFill>
                <a:latin typeface="Arial"/>
              </a:rPr>
              <a:t>SAMRIT  /  A PLACE AT THE TABLE</a:t>
            </a:r>
          </a:p>
        </p:txBody>
      </p:sp>
      <p:sp>
        <p:nvSpPr>
          <p:cNvPr id="6" name="TextBox 5"/>
          <p:cNvSpPr txBox="1"/>
          <p:nvPr/>
        </p:nvSpPr>
        <p:spPr>
          <a:xfrm>
            <a:off x="11109960" y="6510528"/>
            <a:ext cx="457200" cy="210312"/>
          </a:xfrm>
          <a:prstGeom prst="rect">
            <a:avLst/>
          </a:prstGeom>
          <a:noFill/>
        </p:spPr>
        <p:txBody>
          <a:bodyPr wrap="square" lIns="0" rIns="0" tIns="0" bIns="0" anchor="t">
            <a:spAutoFit/>
          </a:bodyPr>
          <a:lstStyle/>
          <a:p>
            <a:pPr algn="r">
              <a:lnSpc>
                <a:spcPct val="108000"/>
              </a:lnSpc>
              <a:spcBef>
                <a:spcPts val="0"/>
              </a:spcBef>
              <a:spcAft>
                <a:spcPts val="0"/>
              </a:spcAft>
            </a:pPr>
            <a:r>
              <a:rPr sz="1100" b="0">
                <a:solidFill>
                  <a:srgbClr val="484D48"/>
                </a:solidFill>
                <a:latin typeface="Arial"/>
              </a:rPr>
              <a:t>09</a:t>
            </a:r>
          </a:p>
        </p:txBody>
      </p:sp>
      <p:sp>
        <p:nvSpPr>
          <p:cNvPr id="7" name="Rounded Rectangle 6"/>
          <p:cNvSpPr/>
          <p:nvPr/>
        </p:nvSpPr>
        <p:spPr>
          <a:xfrm>
            <a:off x="626364" y="2007108"/>
            <a:ext cx="3154680" cy="3639312"/>
          </a:xfrm>
          <a:prstGeom prst="roundRect">
            <a:avLst>
              <a:gd name="adj" fmla="val 12000"/>
            </a:avLst>
          </a:prstGeom>
          <a:solidFill>
            <a:srgbClr val="244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94360" y="1938528"/>
            <a:ext cx="3154680" cy="3639312"/>
          </a:xfrm>
          <a:prstGeom prst="roundRect">
            <a:avLst>
              <a:gd name="adj" fmla="val 12000"/>
            </a:avLst>
          </a:prstGeom>
          <a:solidFill>
            <a:srgbClr val="FFFFFF"/>
          </a:solidFill>
          <a:ln w="12700">
            <a:solidFill>
              <a:srgbClr val="D9E3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amrit interface screenshot or test fixture: 04 sample menu"/>
          <p:cNvPicPr>
            <a:picLocks noChangeAspect="1"/>
          </p:cNvPicPr>
          <p:nvPr/>
        </p:nvPicPr>
        <p:blipFill>
          <a:blip r:embed="rId2"/>
          <a:srcRect/>
          <a:stretch>
            <a:fillRect/>
          </a:stretch>
        </p:blipFill>
        <p:spPr>
          <a:xfrm>
            <a:off x="649224" y="2374114"/>
            <a:ext cx="3044952" cy="2768138"/>
          </a:xfrm>
          <a:prstGeom prst="rect">
            <a:avLst/>
          </a:prstGeom>
        </p:spPr>
      </p:pic>
      <p:sp>
        <p:nvSpPr>
          <p:cNvPr id="10" name="Rounded Rectangle 9"/>
          <p:cNvSpPr/>
          <p:nvPr/>
        </p:nvSpPr>
        <p:spPr>
          <a:xfrm>
            <a:off x="4128516" y="2007108"/>
            <a:ext cx="7470648" cy="3639312"/>
          </a:xfrm>
          <a:prstGeom prst="roundRect">
            <a:avLst>
              <a:gd name="adj" fmla="val 12000"/>
            </a:avLst>
          </a:prstGeom>
          <a:solidFill>
            <a:srgbClr val="244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096512" y="1938528"/>
            <a:ext cx="7470648" cy="3639312"/>
          </a:xfrm>
          <a:prstGeom prst="roundRect">
            <a:avLst>
              <a:gd name="adj" fmla="val 12000"/>
            </a:avLst>
          </a:prstGeom>
          <a:solidFill>
            <a:srgbClr val="FFFFFF"/>
          </a:solidFill>
          <a:ln w="12700">
            <a:solidFill>
              <a:srgbClr val="D9E3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amrit interface screenshot or test fixture: donor"/>
          <p:cNvPicPr>
            <a:picLocks noChangeAspect="1"/>
          </p:cNvPicPr>
          <p:nvPr/>
        </p:nvPicPr>
        <p:blipFill>
          <a:blip r:embed="rId3"/>
          <a:srcRect/>
          <a:stretch>
            <a:fillRect/>
          </a:stretch>
        </p:blipFill>
        <p:spPr>
          <a:xfrm>
            <a:off x="5184648" y="1993392"/>
            <a:ext cx="5294375" cy="3529583"/>
          </a:xfrm>
          <a:prstGeom prst="rect">
            <a:avLst/>
          </a:prstGeom>
        </p:spPr>
      </p:pic>
      <p:sp>
        <p:nvSpPr>
          <p:cNvPr id="13" name="TextBox 12"/>
          <p:cNvSpPr txBox="1"/>
          <p:nvPr/>
        </p:nvSpPr>
        <p:spPr>
          <a:xfrm>
            <a:off x="685800" y="5751576"/>
            <a:ext cx="3474720" cy="210312"/>
          </a:xfrm>
          <a:prstGeom prst="rect">
            <a:avLst/>
          </a:prstGeom>
          <a:noFill/>
        </p:spPr>
        <p:txBody>
          <a:bodyPr wrap="square" lIns="0" rIns="0" tIns="0" bIns="0" anchor="t">
            <a:spAutoFit/>
          </a:bodyPr>
          <a:lstStyle/>
          <a:p>
            <a:pPr>
              <a:lnSpc>
                <a:spcPct val="108000"/>
              </a:lnSpc>
              <a:spcBef>
                <a:spcPts val="0"/>
              </a:spcBef>
              <a:spcAft>
                <a:spcPts val="0"/>
              </a:spcAft>
            </a:pPr>
            <a:r>
              <a:rPr sz="1200" b="1">
                <a:solidFill>
                  <a:srgbClr val="376C6F"/>
                </a:solidFill>
                <a:latin typeface="Arial"/>
              </a:rPr>
              <a:t>EXTRACT</a:t>
            </a:r>
          </a:p>
        </p:txBody>
      </p:sp>
      <p:sp>
        <p:nvSpPr>
          <p:cNvPr id="14" name="TextBox 13"/>
          <p:cNvSpPr txBox="1"/>
          <p:nvPr/>
        </p:nvSpPr>
        <p:spPr>
          <a:xfrm>
            <a:off x="685800" y="6053328"/>
            <a:ext cx="3566160" cy="210312"/>
          </a:xfrm>
          <a:prstGeom prst="rect">
            <a:avLst/>
          </a:prstGeom>
          <a:noFill/>
        </p:spPr>
        <p:txBody>
          <a:bodyPr wrap="square" lIns="0" rIns="0" tIns="0" bIns="0" anchor="t">
            <a:spAutoFit/>
          </a:bodyPr>
          <a:lstStyle/>
          <a:p>
            <a:pPr>
              <a:lnSpc>
                <a:spcPct val="108000"/>
              </a:lnSpc>
              <a:spcBef>
                <a:spcPts val="0"/>
              </a:spcBef>
              <a:spcAft>
                <a:spcPts val="0"/>
              </a:spcAft>
            </a:pPr>
            <a:r>
              <a:rPr sz="1100" b="0">
                <a:solidFill>
                  <a:srgbClr val="484D48"/>
                </a:solidFill>
                <a:latin typeface="Arial"/>
              </a:rPr>
              <a:t>Gemini reads the menu / invoice.</a:t>
            </a:r>
          </a:p>
        </p:txBody>
      </p:sp>
      <p:sp>
        <p:nvSpPr>
          <p:cNvPr id="15" name="TextBox 14"/>
          <p:cNvSpPr txBox="1"/>
          <p:nvPr/>
        </p:nvSpPr>
        <p:spPr>
          <a:xfrm>
            <a:off x="4489704" y="5751576"/>
            <a:ext cx="3474720" cy="210312"/>
          </a:xfrm>
          <a:prstGeom prst="rect">
            <a:avLst/>
          </a:prstGeom>
          <a:noFill/>
        </p:spPr>
        <p:txBody>
          <a:bodyPr wrap="square" lIns="0" rIns="0" tIns="0" bIns="0" anchor="t">
            <a:spAutoFit/>
          </a:bodyPr>
          <a:lstStyle/>
          <a:p>
            <a:pPr>
              <a:lnSpc>
                <a:spcPct val="108000"/>
              </a:lnSpc>
              <a:spcBef>
                <a:spcPts val="0"/>
              </a:spcBef>
              <a:spcAft>
                <a:spcPts val="0"/>
              </a:spcAft>
            </a:pPr>
            <a:r>
              <a:rPr sz="1200" b="1">
                <a:solidFill>
                  <a:srgbClr val="376C6F"/>
                </a:solidFill>
                <a:latin typeface="Arial"/>
              </a:rPr>
              <a:t>CONFIRM</a:t>
            </a:r>
          </a:p>
        </p:txBody>
      </p:sp>
      <p:sp>
        <p:nvSpPr>
          <p:cNvPr id="16" name="TextBox 15"/>
          <p:cNvSpPr txBox="1"/>
          <p:nvPr/>
        </p:nvSpPr>
        <p:spPr>
          <a:xfrm>
            <a:off x="4489704" y="6053328"/>
            <a:ext cx="3566160" cy="210312"/>
          </a:xfrm>
          <a:prstGeom prst="rect">
            <a:avLst/>
          </a:prstGeom>
          <a:noFill/>
        </p:spPr>
        <p:txBody>
          <a:bodyPr wrap="square" lIns="0" rIns="0" tIns="0" bIns="0" anchor="t">
            <a:spAutoFit/>
          </a:bodyPr>
          <a:lstStyle/>
          <a:p>
            <a:pPr>
              <a:lnSpc>
                <a:spcPct val="108000"/>
              </a:lnSpc>
              <a:spcBef>
                <a:spcPts val="0"/>
              </a:spcBef>
              <a:spcAft>
                <a:spcPts val="0"/>
              </a:spcAft>
            </a:pPr>
            <a:r>
              <a:rPr sz="1100" b="0">
                <a:solidFill>
                  <a:srgbClr val="484D48"/>
                </a:solidFill>
                <a:latin typeface="Arial"/>
              </a:rPr>
              <a:t>The donor verifies every dish.</a:t>
            </a:r>
          </a:p>
        </p:txBody>
      </p:sp>
      <p:sp>
        <p:nvSpPr>
          <p:cNvPr id="17" name="TextBox 16"/>
          <p:cNvSpPr txBox="1"/>
          <p:nvPr/>
        </p:nvSpPr>
        <p:spPr>
          <a:xfrm>
            <a:off x="8293608" y="5751576"/>
            <a:ext cx="3474720" cy="210312"/>
          </a:xfrm>
          <a:prstGeom prst="rect">
            <a:avLst/>
          </a:prstGeom>
          <a:noFill/>
        </p:spPr>
        <p:txBody>
          <a:bodyPr wrap="square" lIns="0" rIns="0" tIns="0" bIns="0" anchor="t">
            <a:spAutoFit/>
          </a:bodyPr>
          <a:lstStyle/>
          <a:p>
            <a:pPr>
              <a:lnSpc>
                <a:spcPct val="108000"/>
              </a:lnSpc>
              <a:spcBef>
                <a:spcPts val="0"/>
              </a:spcBef>
              <a:spcAft>
                <a:spcPts val="0"/>
              </a:spcAft>
            </a:pPr>
            <a:r>
              <a:rPr sz="1200" b="1">
                <a:solidFill>
                  <a:srgbClr val="376C6F"/>
                </a:solidFill>
                <a:latin typeface="Arial"/>
              </a:rPr>
              <a:t>SELECT LEFTOVERS</a:t>
            </a:r>
          </a:p>
        </p:txBody>
      </p:sp>
      <p:sp>
        <p:nvSpPr>
          <p:cNvPr id="18" name="TextBox 17"/>
          <p:cNvSpPr txBox="1"/>
          <p:nvPr/>
        </p:nvSpPr>
        <p:spPr>
          <a:xfrm>
            <a:off x="8293608" y="6053328"/>
            <a:ext cx="3566160" cy="210312"/>
          </a:xfrm>
          <a:prstGeom prst="rect">
            <a:avLst/>
          </a:prstGeom>
          <a:noFill/>
        </p:spPr>
        <p:txBody>
          <a:bodyPr wrap="square" lIns="0" rIns="0" tIns="0" bIns="0" anchor="t">
            <a:spAutoFit/>
          </a:bodyPr>
          <a:lstStyle/>
          <a:p>
            <a:pPr>
              <a:lnSpc>
                <a:spcPct val="108000"/>
              </a:lnSpc>
              <a:spcBef>
                <a:spcPts val="0"/>
              </a:spcBef>
              <a:spcAft>
                <a:spcPts val="0"/>
              </a:spcAft>
            </a:pPr>
            <a:r>
              <a:rPr sz="1100" b="0">
                <a:solidFill>
                  <a:srgbClr val="484D48"/>
                </a:solidFill>
                <a:latin typeface="Arial"/>
              </a:rPr>
              <a:t>Positive servings + handling types.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7F3"/>
        </a:solidFill>
        <a:effectLst/>
      </p:bgPr>
    </p:bg>
    <p:spTree>
      <p:nvGrpSpPr>
        <p:cNvPr id="1" name=""/>
        <p:cNvGrpSpPr/>
        <p:nvPr/>
      </p:nvGrpSpPr>
      <p:grpSpPr/>
      <p:sp>
        <p:nvSpPr>
          <p:cNvPr id="2" name="TextBox 1"/>
          <p:cNvSpPr txBox="1"/>
          <p:nvPr/>
        </p:nvSpPr>
        <p:spPr>
          <a:xfrm>
            <a:off x="594360" y="384048"/>
            <a:ext cx="9692640" cy="201168"/>
          </a:xfrm>
          <a:prstGeom prst="rect">
            <a:avLst/>
          </a:prstGeom>
          <a:noFill/>
        </p:spPr>
        <p:txBody>
          <a:bodyPr wrap="square" lIns="0" rIns="0" tIns="0" bIns="0" anchor="t">
            <a:spAutoFit/>
          </a:bodyPr>
          <a:lstStyle/>
          <a:p>
            <a:pPr>
              <a:lnSpc>
                <a:spcPct val="108000"/>
              </a:lnSpc>
              <a:spcBef>
                <a:spcPts val="0"/>
              </a:spcBef>
              <a:spcAft>
                <a:spcPts val="0"/>
              </a:spcAft>
            </a:pPr>
            <a:r>
              <a:rPr sz="1100" b="1">
                <a:solidFill>
                  <a:srgbClr val="376C6F"/>
                </a:solidFill>
                <a:latin typeface="Arial"/>
              </a:rPr>
              <a:t>FACE 04 · CENTRAL NGO + DRIVER VIEW</a:t>
            </a:r>
          </a:p>
        </p:txBody>
      </p:sp>
      <p:sp>
        <p:nvSpPr>
          <p:cNvPr id="3" name="TextBox 2"/>
          <p:cNvSpPr txBox="1"/>
          <p:nvPr/>
        </p:nvSpPr>
        <p:spPr>
          <a:xfrm>
            <a:off x="594360" y="877824"/>
            <a:ext cx="10972800" cy="987552"/>
          </a:xfrm>
          <a:prstGeom prst="rect">
            <a:avLst/>
          </a:prstGeom>
          <a:noFill/>
        </p:spPr>
        <p:txBody>
          <a:bodyPr wrap="square" lIns="0" rIns="0" tIns="0" bIns="0" anchor="t">
            <a:spAutoFit/>
          </a:bodyPr>
          <a:lstStyle/>
          <a:p>
            <a:pPr>
              <a:lnSpc>
                <a:spcPct val="108000"/>
              </a:lnSpc>
              <a:spcBef>
                <a:spcPts val="0"/>
              </a:spcBef>
              <a:spcAft>
                <a:spcPts val="0"/>
              </a:spcAft>
            </a:pPr>
            <a:r>
              <a:rPr sz="3400" b="0">
                <a:solidFill>
                  <a:srgbClr val="244557"/>
                </a:solidFill>
                <a:latin typeface="Arial Rounded MT Bold"/>
              </a:rPr>
              <a:t>The right food. The right destination.</a:t>
            </a:r>
          </a:p>
        </p:txBody>
      </p:sp>
      <p:cxnSp>
        <p:nvCxnSpPr>
          <p:cNvPr id="4" name="Connector 3"/>
          <p:cNvCxnSpPr/>
          <p:nvPr/>
        </p:nvCxnSpPr>
        <p:spPr>
          <a:xfrm>
            <a:off x="594360" y="6428232"/>
            <a:ext cx="11000232" cy="0"/>
          </a:xfrm>
          <a:prstGeom prst="line">
            <a:avLst/>
          </a:prstGeom>
          <a:ln w="12700">
            <a:solidFill>
              <a:srgbClr val="D9E3D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94360" y="6537960"/>
            <a:ext cx="7772400" cy="164592"/>
          </a:xfrm>
          <a:prstGeom prst="rect">
            <a:avLst/>
          </a:prstGeom>
          <a:noFill/>
        </p:spPr>
        <p:txBody>
          <a:bodyPr wrap="square" lIns="0" rIns="0" tIns="0" bIns="0" anchor="t">
            <a:spAutoFit/>
          </a:bodyPr>
          <a:lstStyle/>
          <a:p>
            <a:pPr>
              <a:lnSpc>
                <a:spcPct val="108000"/>
              </a:lnSpc>
              <a:spcBef>
                <a:spcPts val="0"/>
              </a:spcBef>
              <a:spcAft>
                <a:spcPts val="0"/>
              </a:spcAft>
            </a:pPr>
            <a:r>
              <a:rPr sz="850" b="0">
                <a:solidFill>
                  <a:srgbClr val="484D48"/>
                </a:solidFill>
                <a:latin typeface="Arial"/>
              </a:rPr>
              <a:t>SAMRIT  /  A PLACE AT THE TABLE</a:t>
            </a:r>
          </a:p>
        </p:txBody>
      </p:sp>
      <p:sp>
        <p:nvSpPr>
          <p:cNvPr id="6" name="TextBox 5"/>
          <p:cNvSpPr txBox="1"/>
          <p:nvPr/>
        </p:nvSpPr>
        <p:spPr>
          <a:xfrm>
            <a:off x="11109960" y="6510528"/>
            <a:ext cx="457200" cy="210312"/>
          </a:xfrm>
          <a:prstGeom prst="rect">
            <a:avLst/>
          </a:prstGeom>
          <a:noFill/>
        </p:spPr>
        <p:txBody>
          <a:bodyPr wrap="square" lIns="0" rIns="0" tIns="0" bIns="0" anchor="t">
            <a:spAutoFit/>
          </a:bodyPr>
          <a:lstStyle/>
          <a:p>
            <a:pPr algn="r">
              <a:lnSpc>
                <a:spcPct val="108000"/>
              </a:lnSpc>
              <a:spcBef>
                <a:spcPts val="0"/>
              </a:spcBef>
              <a:spcAft>
                <a:spcPts val="0"/>
              </a:spcAft>
            </a:pPr>
            <a:r>
              <a:rPr sz="1100" b="0">
                <a:solidFill>
                  <a:srgbClr val="484D48"/>
                </a:solidFill>
                <a:latin typeface="Arial"/>
              </a:rPr>
              <a:t>10</a:t>
            </a:r>
          </a:p>
        </p:txBody>
      </p:sp>
      <p:sp>
        <p:nvSpPr>
          <p:cNvPr id="7" name="TextBox 6"/>
          <p:cNvSpPr txBox="1"/>
          <p:nvPr/>
        </p:nvSpPr>
        <p:spPr>
          <a:xfrm>
            <a:off x="594360" y="2121408"/>
            <a:ext cx="411480" cy="365760"/>
          </a:xfrm>
          <a:prstGeom prst="rect">
            <a:avLst/>
          </a:prstGeom>
          <a:noFill/>
        </p:spPr>
        <p:txBody>
          <a:bodyPr wrap="square" lIns="0" rIns="0" tIns="0" bIns="0" anchor="t">
            <a:spAutoFit/>
          </a:bodyPr>
          <a:lstStyle/>
          <a:p>
            <a:pPr>
              <a:lnSpc>
                <a:spcPct val="108000"/>
              </a:lnSpc>
              <a:spcBef>
                <a:spcPts val="0"/>
              </a:spcBef>
              <a:spcAft>
                <a:spcPts val="0"/>
              </a:spcAft>
            </a:pPr>
            <a:r>
              <a:rPr sz="1700" b="1">
                <a:solidFill>
                  <a:srgbClr val="537A5A"/>
                </a:solidFill>
                <a:latin typeface="Arial"/>
              </a:rPr>
              <a:t>01</a:t>
            </a:r>
          </a:p>
        </p:txBody>
      </p:sp>
      <p:sp>
        <p:nvSpPr>
          <p:cNvPr id="8" name="TextBox 7"/>
          <p:cNvSpPr txBox="1"/>
          <p:nvPr/>
        </p:nvSpPr>
        <p:spPr>
          <a:xfrm>
            <a:off x="1124712" y="2112264"/>
            <a:ext cx="3264408" cy="384048"/>
          </a:xfrm>
          <a:prstGeom prst="rect">
            <a:avLst/>
          </a:prstGeom>
          <a:noFill/>
        </p:spPr>
        <p:txBody>
          <a:bodyPr wrap="square" lIns="0" rIns="0" tIns="0" bIns="0" anchor="t">
            <a:spAutoFit/>
          </a:bodyPr>
          <a:lstStyle/>
          <a:p>
            <a:pPr>
              <a:lnSpc>
                <a:spcPct val="108000"/>
              </a:lnSpc>
              <a:spcBef>
                <a:spcPts val="0"/>
              </a:spcBef>
              <a:spcAft>
                <a:spcPts val="0"/>
              </a:spcAft>
            </a:pPr>
            <a:r>
              <a:rPr sz="2100" b="1">
                <a:solidFill>
                  <a:srgbClr val="244557"/>
                </a:solidFill>
                <a:latin typeface="Arial"/>
              </a:rPr>
              <a:t>Existing resources.</a:t>
            </a:r>
          </a:p>
        </p:txBody>
      </p:sp>
      <p:sp>
        <p:nvSpPr>
          <p:cNvPr id="9" name="TextBox 8"/>
          <p:cNvSpPr txBox="1"/>
          <p:nvPr/>
        </p:nvSpPr>
        <p:spPr>
          <a:xfrm>
            <a:off x="1124712" y="2542032"/>
            <a:ext cx="3246120" cy="804672"/>
          </a:xfrm>
          <a:prstGeom prst="rect">
            <a:avLst/>
          </a:prstGeom>
          <a:noFill/>
        </p:spPr>
        <p:txBody>
          <a:bodyPr wrap="square" lIns="0" rIns="0" tIns="0" bIns="0" anchor="t">
            <a:spAutoFit/>
          </a:bodyPr>
          <a:lstStyle/>
          <a:p>
            <a:pPr>
              <a:lnSpc>
                <a:spcPct val="108000"/>
              </a:lnSpc>
              <a:spcBef>
                <a:spcPts val="0"/>
              </a:spcBef>
              <a:spcAft>
                <a:spcPts val="0"/>
              </a:spcAft>
            </a:pPr>
            <a:r>
              <a:rPr sz="1700" b="0">
                <a:solidFill>
                  <a:srgbClr val="484D48"/>
                </a:solidFill>
                <a:latin typeface="Arial"/>
              </a:rPr>
              <a:t>Approve venues; provision drivers;</a:t>
            </a:r>
          </a:p>
          <a:p>
            <a:pPr>
              <a:lnSpc>
                <a:spcPct val="108000"/>
              </a:lnSpc>
              <a:spcBef>
                <a:spcPts val="0"/>
              </a:spcBef>
              <a:spcAft>
                <a:spcPts val="0"/>
              </a:spcAft>
            </a:pPr>
            <a:r>
              <a:rPr sz="1700" b="0">
                <a:solidFill>
                  <a:srgbClr val="484D48"/>
                </a:solidFill>
                <a:latin typeface="Arial"/>
              </a:rPr>
              <a:t>maintain vehicles and equipment.</a:t>
            </a:r>
          </a:p>
        </p:txBody>
      </p:sp>
      <p:sp>
        <p:nvSpPr>
          <p:cNvPr id="10" name="TextBox 9"/>
          <p:cNvSpPr txBox="1"/>
          <p:nvPr/>
        </p:nvSpPr>
        <p:spPr>
          <a:xfrm>
            <a:off x="594360" y="3511296"/>
            <a:ext cx="411480" cy="365760"/>
          </a:xfrm>
          <a:prstGeom prst="rect">
            <a:avLst/>
          </a:prstGeom>
          <a:noFill/>
        </p:spPr>
        <p:txBody>
          <a:bodyPr wrap="square" lIns="0" rIns="0" tIns="0" bIns="0" anchor="t">
            <a:spAutoFit/>
          </a:bodyPr>
          <a:lstStyle/>
          <a:p>
            <a:pPr>
              <a:lnSpc>
                <a:spcPct val="108000"/>
              </a:lnSpc>
              <a:spcBef>
                <a:spcPts val="0"/>
              </a:spcBef>
              <a:spcAft>
                <a:spcPts val="0"/>
              </a:spcAft>
            </a:pPr>
            <a:r>
              <a:rPr sz="1700" b="1">
                <a:solidFill>
                  <a:srgbClr val="537A5A"/>
                </a:solidFill>
                <a:latin typeface="Arial"/>
              </a:rPr>
              <a:t>02</a:t>
            </a:r>
          </a:p>
        </p:txBody>
      </p:sp>
      <p:sp>
        <p:nvSpPr>
          <p:cNvPr id="11" name="TextBox 10"/>
          <p:cNvSpPr txBox="1"/>
          <p:nvPr/>
        </p:nvSpPr>
        <p:spPr>
          <a:xfrm>
            <a:off x="1124712" y="3502152"/>
            <a:ext cx="3264408" cy="384048"/>
          </a:xfrm>
          <a:prstGeom prst="rect">
            <a:avLst/>
          </a:prstGeom>
          <a:noFill/>
        </p:spPr>
        <p:txBody>
          <a:bodyPr wrap="square" lIns="0" rIns="0" tIns="0" bIns="0" anchor="t">
            <a:spAutoFit/>
          </a:bodyPr>
          <a:lstStyle/>
          <a:p>
            <a:pPr>
              <a:lnSpc>
                <a:spcPct val="108000"/>
              </a:lnSpc>
              <a:spcBef>
                <a:spcPts val="0"/>
              </a:spcBef>
              <a:spcAft>
                <a:spcPts val="0"/>
              </a:spcAft>
            </a:pPr>
            <a:r>
              <a:rPr sz="2100" b="1">
                <a:solidFill>
                  <a:srgbClr val="244557"/>
                </a:solidFill>
                <a:latin typeface="Arial"/>
              </a:rPr>
              <a:t>Compatible dispatch.</a:t>
            </a:r>
          </a:p>
        </p:txBody>
      </p:sp>
      <p:sp>
        <p:nvSpPr>
          <p:cNvPr id="12" name="TextBox 11"/>
          <p:cNvSpPr txBox="1"/>
          <p:nvPr/>
        </p:nvSpPr>
        <p:spPr>
          <a:xfrm>
            <a:off x="1124712" y="3931920"/>
            <a:ext cx="3246120" cy="804672"/>
          </a:xfrm>
          <a:prstGeom prst="rect">
            <a:avLst/>
          </a:prstGeom>
          <a:noFill/>
        </p:spPr>
        <p:txBody>
          <a:bodyPr wrap="square" lIns="0" rIns="0" tIns="0" bIns="0" anchor="t">
            <a:spAutoFit/>
          </a:bodyPr>
          <a:lstStyle/>
          <a:p>
            <a:pPr>
              <a:lnSpc>
                <a:spcPct val="108000"/>
              </a:lnSpc>
              <a:spcBef>
                <a:spcPts val="0"/>
              </a:spcBef>
              <a:spcAft>
                <a:spcPts val="0"/>
              </a:spcAft>
            </a:pPr>
            <a:r>
              <a:rPr sz="1700" b="0">
                <a:solidFill>
                  <a:srgbClr val="484D48"/>
                </a:solidFill>
                <a:latin typeface="Arial"/>
              </a:rPr>
              <a:t>Match total capacity, handling,</a:t>
            </a:r>
          </a:p>
          <a:p>
            <a:pPr>
              <a:lnSpc>
                <a:spcPct val="108000"/>
              </a:lnSpc>
              <a:spcBef>
                <a:spcPts val="0"/>
              </a:spcBef>
              <a:spcAft>
                <a:spcPts val="0"/>
              </a:spcAft>
            </a:pPr>
            <a:r>
              <a:rPr sz="1700" b="0">
                <a:solidFill>
                  <a:srgbClr val="484D48"/>
                </a:solidFill>
                <a:latin typeface="Arial"/>
              </a:rPr>
              <a:t>opening hours and food expiry.</a:t>
            </a:r>
          </a:p>
        </p:txBody>
      </p:sp>
      <p:sp>
        <p:nvSpPr>
          <p:cNvPr id="13" name="TextBox 12"/>
          <p:cNvSpPr txBox="1"/>
          <p:nvPr/>
        </p:nvSpPr>
        <p:spPr>
          <a:xfrm>
            <a:off x="594360" y="4892040"/>
            <a:ext cx="411480" cy="365760"/>
          </a:xfrm>
          <a:prstGeom prst="rect">
            <a:avLst/>
          </a:prstGeom>
          <a:noFill/>
        </p:spPr>
        <p:txBody>
          <a:bodyPr wrap="square" lIns="0" rIns="0" tIns="0" bIns="0" anchor="t">
            <a:spAutoFit/>
          </a:bodyPr>
          <a:lstStyle/>
          <a:p>
            <a:pPr>
              <a:lnSpc>
                <a:spcPct val="108000"/>
              </a:lnSpc>
              <a:spcBef>
                <a:spcPts val="0"/>
              </a:spcBef>
              <a:spcAft>
                <a:spcPts val="0"/>
              </a:spcAft>
            </a:pPr>
            <a:r>
              <a:rPr sz="1700" b="1">
                <a:solidFill>
                  <a:srgbClr val="537A5A"/>
                </a:solidFill>
                <a:latin typeface="Arial"/>
              </a:rPr>
              <a:t>03</a:t>
            </a:r>
          </a:p>
        </p:txBody>
      </p:sp>
      <p:sp>
        <p:nvSpPr>
          <p:cNvPr id="14" name="TextBox 13"/>
          <p:cNvSpPr txBox="1"/>
          <p:nvPr/>
        </p:nvSpPr>
        <p:spPr>
          <a:xfrm>
            <a:off x="1124712" y="4882896"/>
            <a:ext cx="3264408" cy="384048"/>
          </a:xfrm>
          <a:prstGeom prst="rect">
            <a:avLst/>
          </a:prstGeom>
          <a:noFill/>
        </p:spPr>
        <p:txBody>
          <a:bodyPr wrap="square" lIns="0" rIns="0" tIns="0" bIns="0" anchor="t">
            <a:spAutoFit/>
          </a:bodyPr>
          <a:lstStyle/>
          <a:p>
            <a:pPr>
              <a:lnSpc>
                <a:spcPct val="108000"/>
              </a:lnSpc>
              <a:spcBef>
                <a:spcPts val="0"/>
              </a:spcBef>
              <a:spcAft>
                <a:spcPts val="0"/>
              </a:spcAft>
            </a:pPr>
            <a:r>
              <a:rPr sz="2100" b="1">
                <a:solidFill>
                  <a:srgbClr val="244557"/>
                </a:solidFill>
                <a:latin typeface="Arial"/>
              </a:rPr>
              <a:t>Clear driver steps.</a:t>
            </a:r>
          </a:p>
        </p:txBody>
      </p:sp>
      <p:sp>
        <p:nvSpPr>
          <p:cNvPr id="15" name="TextBox 14"/>
          <p:cNvSpPr txBox="1"/>
          <p:nvPr/>
        </p:nvSpPr>
        <p:spPr>
          <a:xfrm>
            <a:off x="1124712" y="5312664"/>
            <a:ext cx="3246120" cy="804672"/>
          </a:xfrm>
          <a:prstGeom prst="rect">
            <a:avLst/>
          </a:prstGeom>
          <a:noFill/>
        </p:spPr>
        <p:txBody>
          <a:bodyPr wrap="square" lIns="0" rIns="0" tIns="0" bIns="0" anchor="t">
            <a:spAutoFit/>
          </a:bodyPr>
          <a:lstStyle/>
          <a:p>
            <a:pPr>
              <a:lnSpc>
                <a:spcPct val="108000"/>
              </a:lnSpc>
              <a:spcBef>
                <a:spcPts val="0"/>
              </a:spcBef>
              <a:spcAft>
                <a:spcPts val="0"/>
              </a:spcAft>
            </a:pPr>
            <a:r>
              <a:rPr sz="1700" b="0">
                <a:solidFill>
                  <a:srgbClr val="484D48"/>
                </a:solidFill>
                <a:latin typeface="Arial"/>
              </a:rPr>
              <a:t>Event QR → pickup photo → sticker</a:t>
            </a:r>
          </a:p>
          <a:p>
            <a:pPr>
              <a:lnSpc>
                <a:spcPct val="108000"/>
              </a:lnSpc>
              <a:spcBef>
                <a:spcPts val="0"/>
              </a:spcBef>
              <a:spcAft>
                <a:spcPts val="0"/>
              </a:spcAft>
            </a:pPr>
            <a:r>
              <a:rPr sz="1700" b="0">
                <a:solidFill>
                  <a:srgbClr val="484D48"/>
                </a:solidFill>
                <a:latin typeface="Arial"/>
              </a:rPr>
              <a:t>→ venue QR → staff receipt.</a:t>
            </a:r>
          </a:p>
        </p:txBody>
      </p:sp>
      <p:sp>
        <p:nvSpPr>
          <p:cNvPr id="16" name="Rounded Rectangle 15"/>
          <p:cNvSpPr/>
          <p:nvPr/>
        </p:nvSpPr>
        <p:spPr>
          <a:xfrm>
            <a:off x="4732020" y="1943100"/>
            <a:ext cx="6858000" cy="4343400"/>
          </a:xfrm>
          <a:prstGeom prst="roundRect">
            <a:avLst>
              <a:gd name="adj" fmla="val 12000"/>
            </a:avLst>
          </a:prstGeom>
          <a:solidFill>
            <a:srgbClr val="244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700016" y="1874519"/>
            <a:ext cx="6858000" cy="4343400"/>
          </a:xfrm>
          <a:prstGeom prst="roundRect">
            <a:avLst>
              <a:gd name="adj" fmla="val 12000"/>
            </a:avLst>
          </a:prstGeom>
          <a:solidFill>
            <a:srgbClr val="FFFFFF"/>
          </a:solidFill>
          <a:ln w="12700">
            <a:solidFill>
              <a:srgbClr val="D9E3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Samrit interface screenshot or test fixture: admin"/>
          <p:cNvPicPr>
            <a:picLocks noChangeAspect="1"/>
          </p:cNvPicPr>
          <p:nvPr/>
        </p:nvPicPr>
        <p:blipFill>
          <a:blip r:embed="rId2"/>
          <a:srcRect/>
          <a:stretch>
            <a:fillRect/>
          </a:stretch>
        </p:blipFill>
        <p:spPr>
          <a:xfrm>
            <a:off x="4953762" y="1929384"/>
            <a:ext cx="6350507" cy="423367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2A33"/>
        </a:solidFill>
        <a:effectLst/>
      </p:bgPr>
    </p:bg>
    <p:spTree>
      <p:nvGrpSpPr>
        <p:cNvPr id="1" name=""/>
        <p:cNvGrpSpPr/>
        <p:nvPr/>
      </p:nvGrpSpPr>
      <p:grpSpPr/>
      <p:sp>
        <p:nvSpPr>
          <p:cNvPr id="2" name="TextBox 1"/>
          <p:cNvSpPr txBox="1"/>
          <p:nvPr/>
        </p:nvSpPr>
        <p:spPr>
          <a:xfrm>
            <a:off x="594360" y="384048"/>
            <a:ext cx="9692640" cy="201168"/>
          </a:xfrm>
          <a:prstGeom prst="rect">
            <a:avLst/>
          </a:prstGeom>
          <a:noFill/>
        </p:spPr>
        <p:txBody>
          <a:bodyPr wrap="square" lIns="0" rIns="0" tIns="0" bIns="0" anchor="t">
            <a:spAutoFit/>
          </a:bodyPr>
          <a:lstStyle/>
          <a:p>
            <a:pPr>
              <a:lnSpc>
                <a:spcPct val="108000"/>
              </a:lnSpc>
              <a:spcBef>
                <a:spcPts val="0"/>
              </a:spcBef>
              <a:spcAft>
                <a:spcPts val="0"/>
              </a:spcAft>
            </a:pPr>
            <a:r>
              <a:rPr sz="1100" b="1">
                <a:solidFill>
                  <a:srgbClr val="B5D588"/>
                </a:solidFill>
                <a:latin typeface="Arial"/>
              </a:rPr>
              <a:t>OPTIONAL, NATURAL-LANGUAGE OPERATION</a:t>
            </a:r>
          </a:p>
        </p:txBody>
      </p:sp>
      <p:sp>
        <p:nvSpPr>
          <p:cNvPr id="3" name="TextBox 2"/>
          <p:cNvSpPr txBox="1"/>
          <p:nvPr/>
        </p:nvSpPr>
        <p:spPr>
          <a:xfrm>
            <a:off x="594360" y="877824"/>
            <a:ext cx="10972800" cy="1463040"/>
          </a:xfrm>
          <a:prstGeom prst="rect">
            <a:avLst/>
          </a:prstGeom>
          <a:noFill/>
        </p:spPr>
        <p:txBody>
          <a:bodyPr wrap="square" lIns="0" rIns="0" tIns="0" bIns="0" anchor="t">
            <a:spAutoFit/>
          </a:bodyPr>
          <a:lstStyle/>
          <a:p>
            <a:pPr>
              <a:lnSpc>
                <a:spcPct val="108000"/>
              </a:lnSpc>
              <a:spcBef>
                <a:spcPts val="0"/>
              </a:spcBef>
              <a:spcAft>
                <a:spcPts val="0"/>
              </a:spcAft>
            </a:pPr>
            <a:r>
              <a:rPr sz="3500" b="0">
                <a:solidFill>
                  <a:srgbClr val="FFFFFF"/>
                </a:solidFill>
                <a:latin typeface="Arial Rounded MT Bold"/>
              </a:rPr>
              <a:t>Speak the intent.</a:t>
            </a:r>
          </a:p>
          <a:p>
            <a:pPr>
              <a:lnSpc>
                <a:spcPct val="108000"/>
              </a:lnSpc>
              <a:spcBef>
                <a:spcPts val="0"/>
              </a:spcBef>
              <a:spcAft>
                <a:spcPts val="0"/>
              </a:spcAft>
            </a:pPr>
            <a:r>
              <a:rPr sz="3500" b="0">
                <a:solidFill>
                  <a:srgbClr val="FFFFFF"/>
                </a:solidFill>
                <a:latin typeface="Arial Rounded MT Bold"/>
              </a:rPr>
              <a:t>Let the interface handle the steps.</a:t>
            </a:r>
          </a:p>
        </p:txBody>
      </p:sp>
      <p:cxnSp>
        <p:nvCxnSpPr>
          <p:cNvPr id="4" name="Connector 3"/>
          <p:cNvCxnSpPr/>
          <p:nvPr/>
        </p:nvCxnSpPr>
        <p:spPr>
          <a:xfrm>
            <a:off x="594360" y="6428232"/>
            <a:ext cx="11000232" cy="0"/>
          </a:xfrm>
          <a:prstGeom prst="line">
            <a:avLst/>
          </a:prstGeom>
          <a:ln w="12700">
            <a:solidFill>
              <a:srgbClr val="376C6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94360" y="6537960"/>
            <a:ext cx="7772400" cy="164592"/>
          </a:xfrm>
          <a:prstGeom prst="rect">
            <a:avLst/>
          </a:prstGeom>
          <a:noFill/>
        </p:spPr>
        <p:txBody>
          <a:bodyPr wrap="square" lIns="0" rIns="0" tIns="0" bIns="0" anchor="t">
            <a:spAutoFit/>
          </a:bodyPr>
          <a:lstStyle/>
          <a:p>
            <a:pPr>
              <a:lnSpc>
                <a:spcPct val="108000"/>
              </a:lnSpc>
              <a:spcBef>
                <a:spcPts val="0"/>
              </a:spcBef>
              <a:spcAft>
                <a:spcPts val="0"/>
              </a:spcAft>
            </a:pPr>
            <a:r>
              <a:rPr sz="850" b="0">
                <a:solidFill>
                  <a:srgbClr val="B7CDD0"/>
                </a:solidFill>
                <a:latin typeface="Arial"/>
              </a:rPr>
              <a:t>SAMRIT  /  A PLACE AT THE TABLE</a:t>
            </a:r>
          </a:p>
        </p:txBody>
      </p:sp>
      <p:sp>
        <p:nvSpPr>
          <p:cNvPr id="6" name="TextBox 5"/>
          <p:cNvSpPr txBox="1"/>
          <p:nvPr/>
        </p:nvSpPr>
        <p:spPr>
          <a:xfrm>
            <a:off x="11109960" y="6510528"/>
            <a:ext cx="457200" cy="210312"/>
          </a:xfrm>
          <a:prstGeom prst="rect">
            <a:avLst/>
          </a:prstGeom>
          <a:noFill/>
        </p:spPr>
        <p:txBody>
          <a:bodyPr wrap="square" lIns="0" rIns="0" tIns="0" bIns="0" anchor="t">
            <a:spAutoFit/>
          </a:bodyPr>
          <a:lstStyle/>
          <a:p>
            <a:pPr algn="r">
              <a:lnSpc>
                <a:spcPct val="108000"/>
              </a:lnSpc>
              <a:spcBef>
                <a:spcPts val="0"/>
              </a:spcBef>
              <a:spcAft>
                <a:spcPts val="0"/>
              </a:spcAft>
            </a:pPr>
            <a:r>
              <a:rPr sz="1100" b="0">
                <a:solidFill>
                  <a:srgbClr val="B7CDD0"/>
                </a:solidFill>
                <a:latin typeface="Arial"/>
              </a:rPr>
              <a:t>11</a:t>
            </a:r>
          </a:p>
        </p:txBody>
      </p:sp>
      <p:sp>
        <p:nvSpPr>
          <p:cNvPr id="7" name="Rounded Rectangle 6"/>
          <p:cNvSpPr/>
          <p:nvPr/>
        </p:nvSpPr>
        <p:spPr>
          <a:xfrm>
            <a:off x="621792" y="2350008"/>
            <a:ext cx="7013448" cy="932688"/>
          </a:xfrm>
          <a:prstGeom prst="roundRect">
            <a:avLst>
              <a:gd name="adj" fmla="val 12000"/>
            </a:avLst>
          </a:prstGeom>
          <a:solidFill>
            <a:srgbClr val="2445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2624328"/>
            <a:ext cx="6419088" cy="420624"/>
          </a:xfrm>
          <a:prstGeom prst="rect">
            <a:avLst/>
          </a:prstGeom>
          <a:noFill/>
        </p:spPr>
        <p:txBody>
          <a:bodyPr wrap="square" lIns="0" rIns="0" tIns="0" bIns="0" anchor="t">
            <a:spAutoFit/>
          </a:bodyPr>
          <a:lstStyle/>
          <a:p>
            <a:pPr>
              <a:lnSpc>
                <a:spcPct val="108000"/>
              </a:lnSpc>
              <a:spcBef>
                <a:spcPts val="0"/>
              </a:spcBef>
              <a:spcAft>
                <a:spcPts val="0"/>
              </a:spcAft>
            </a:pPr>
            <a:r>
              <a:rPr sz="2300" b="0">
                <a:solidFill>
                  <a:srgbClr val="FFFFFF"/>
                </a:solidFill>
                <a:latin typeface="Arial"/>
              </a:rPr>
              <a:t>“I can’t eat cold food. Avoid peanuts.”</a:t>
            </a:r>
          </a:p>
        </p:txBody>
      </p:sp>
      <p:sp>
        <p:nvSpPr>
          <p:cNvPr id="9" name="TextBox 8"/>
          <p:cNvSpPr txBox="1"/>
          <p:nvPr/>
        </p:nvSpPr>
        <p:spPr>
          <a:xfrm>
            <a:off x="685800" y="3639312"/>
            <a:ext cx="1737360" cy="310896"/>
          </a:xfrm>
          <a:prstGeom prst="rect">
            <a:avLst/>
          </a:prstGeom>
          <a:noFill/>
        </p:spPr>
        <p:txBody>
          <a:bodyPr wrap="square" lIns="0" rIns="0" tIns="0" bIns="0" anchor="t">
            <a:spAutoFit/>
          </a:bodyPr>
          <a:lstStyle/>
          <a:p>
            <a:pPr>
              <a:lnSpc>
                <a:spcPct val="108000"/>
              </a:lnSpc>
              <a:spcBef>
                <a:spcPts val="0"/>
              </a:spcBef>
              <a:spcAft>
                <a:spcPts val="0"/>
              </a:spcAft>
            </a:pPr>
            <a:r>
              <a:rPr sz="1800" b="1">
                <a:solidFill>
                  <a:srgbClr val="B5D588"/>
                </a:solidFill>
                <a:latin typeface="Arial"/>
              </a:rPr>
              <a:t>ElevenLabs</a:t>
            </a:r>
          </a:p>
        </p:txBody>
      </p:sp>
      <p:sp>
        <p:nvSpPr>
          <p:cNvPr id="10" name="TextBox 9"/>
          <p:cNvSpPr txBox="1"/>
          <p:nvPr/>
        </p:nvSpPr>
        <p:spPr>
          <a:xfrm>
            <a:off x="2660904" y="3639312"/>
            <a:ext cx="4846320" cy="347472"/>
          </a:xfrm>
          <a:prstGeom prst="rect">
            <a:avLst/>
          </a:prstGeom>
          <a:noFill/>
        </p:spPr>
        <p:txBody>
          <a:bodyPr wrap="square" lIns="0" rIns="0" tIns="0" bIns="0" anchor="t">
            <a:spAutoFit/>
          </a:bodyPr>
          <a:lstStyle/>
          <a:p>
            <a:pPr>
              <a:lnSpc>
                <a:spcPct val="108000"/>
              </a:lnSpc>
              <a:spcBef>
                <a:spcPts val="0"/>
              </a:spcBef>
              <a:spcAft>
                <a:spcPts val="0"/>
              </a:spcAft>
            </a:pPr>
            <a:r>
              <a:rPr sz="1800" b="0">
                <a:solidFill>
                  <a:srgbClr val="FFFFFF"/>
                </a:solidFill>
                <a:latin typeface="Arial"/>
              </a:rPr>
              <a:t>Speech → text</a:t>
            </a:r>
          </a:p>
        </p:txBody>
      </p:sp>
      <p:cxnSp>
        <p:nvCxnSpPr>
          <p:cNvPr id="11" name="Connector 10"/>
          <p:cNvCxnSpPr/>
          <p:nvPr/>
        </p:nvCxnSpPr>
        <p:spPr>
          <a:xfrm>
            <a:off x="694944" y="4096512"/>
            <a:ext cx="6848856" cy="0"/>
          </a:xfrm>
          <a:prstGeom prst="line">
            <a:avLst/>
          </a:prstGeom>
          <a:ln w="12700">
            <a:solidFill>
              <a:srgbClr val="376C6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85800" y="4279392"/>
            <a:ext cx="1737360" cy="310896"/>
          </a:xfrm>
          <a:prstGeom prst="rect">
            <a:avLst/>
          </a:prstGeom>
          <a:noFill/>
        </p:spPr>
        <p:txBody>
          <a:bodyPr wrap="square" lIns="0" rIns="0" tIns="0" bIns="0" anchor="t">
            <a:spAutoFit/>
          </a:bodyPr>
          <a:lstStyle/>
          <a:p>
            <a:pPr>
              <a:lnSpc>
                <a:spcPct val="108000"/>
              </a:lnSpc>
              <a:spcBef>
                <a:spcPts val="0"/>
              </a:spcBef>
              <a:spcAft>
                <a:spcPts val="0"/>
              </a:spcAft>
            </a:pPr>
            <a:r>
              <a:rPr sz="1800" b="1">
                <a:solidFill>
                  <a:srgbClr val="B5D588"/>
                </a:solidFill>
                <a:latin typeface="Arial"/>
              </a:rPr>
              <a:t>Gemini</a:t>
            </a:r>
          </a:p>
        </p:txBody>
      </p:sp>
      <p:sp>
        <p:nvSpPr>
          <p:cNvPr id="13" name="TextBox 12"/>
          <p:cNvSpPr txBox="1"/>
          <p:nvPr/>
        </p:nvSpPr>
        <p:spPr>
          <a:xfrm>
            <a:off x="2660904" y="4279392"/>
            <a:ext cx="4846320" cy="347472"/>
          </a:xfrm>
          <a:prstGeom prst="rect">
            <a:avLst/>
          </a:prstGeom>
          <a:noFill/>
        </p:spPr>
        <p:txBody>
          <a:bodyPr wrap="square" lIns="0" rIns="0" tIns="0" bIns="0" anchor="t">
            <a:spAutoFit/>
          </a:bodyPr>
          <a:lstStyle/>
          <a:p>
            <a:pPr>
              <a:lnSpc>
                <a:spcPct val="108000"/>
              </a:lnSpc>
              <a:spcBef>
                <a:spcPts val="0"/>
              </a:spcBef>
              <a:spcAft>
                <a:spcPts val="0"/>
              </a:spcAft>
            </a:pPr>
            <a:r>
              <a:rPr sz="1800" b="0">
                <a:solidFill>
                  <a:srgbClr val="FFFFFF"/>
                </a:solidFill>
                <a:latin typeface="Arial"/>
              </a:rPr>
              <a:t>Correct → interpret → choose an action</a:t>
            </a:r>
          </a:p>
        </p:txBody>
      </p:sp>
      <p:cxnSp>
        <p:nvCxnSpPr>
          <p:cNvPr id="14" name="Connector 13"/>
          <p:cNvCxnSpPr/>
          <p:nvPr/>
        </p:nvCxnSpPr>
        <p:spPr>
          <a:xfrm>
            <a:off x="694944" y="4736592"/>
            <a:ext cx="6848856" cy="0"/>
          </a:xfrm>
          <a:prstGeom prst="line">
            <a:avLst/>
          </a:prstGeom>
          <a:ln w="12700">
            <a:solidFill>
              <a:srgbClr val="376C6F"/>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685800" y="4919472"/>
            <a:ext cx="1737360" cy="310896"/>
          </a:xfrm>
          <a:prstGeom prst="rect">
            <a:avLst/>
          </a:prstGeom>
          <a:noFill/>
        </p:spPr>
        <p:txBody>
          <a:bodyPr wrap="square" lIns="0" rIns="0" tIns="0" bIns="0" anchor="t">
            <a:spAutoFit/>
          </a:bodyPr>
          <a:lstStyle/>
          <a:p>
            <a:pPr>
              <a:lnSpc>
                <a:spcPct val="108000"/>
              </a:lnSpc>
              <a:spcBef>
                <a:spcPts val="0"/>
              </a:spcBef>
              <a:spcAft>
                <a:spcPts val="0"/>
              </a:spcAft>
            </a:pPr>
            <a:r>
              <a:rPr sz="1800" b="1">
                <a:solidFill>
                  <a:srgbClr val="B5D588"/>
                </a:solidFill>
                <a:latin typeface="Arial"/>
              </a:rPr>
              <a:t>ElevenLabs</a:t>
            </a:r>
          </a:p>
        </p:txBody>
      </p:sp>
      <p:sp>
        <p:nvSpPr>
          <p:cNvPr id="16" name="TextBox 15"/>
          <p:cNvSpPr txBox="1"/>
          <p:nvPr/>
        </p:nvSpPr>
        <p:spPr>
          <a:xfrm>
            <a:off x="2660904" y="4919472"/>
            <a:ext cx="4846320" cy="347472"/>
          </a:xfrm>
          <a:prstGeom prst="rect">
            <a:avLst/>
          </a:prstGeom>
          <a:noFill/>
        </p:spPr>
        <p:txBody>
          <a:bodyPr wrap="square" lIns="0" rIns="0" tIns="0" bIns="0" anchor="t">
            <a:spAutoFit/>
          </a:bodyPr>
          <a:lstStyle/>
          <a:p>
            <a:pPr>
              <a:lnSpc>
                <a:spcPct val="108000"/>
              </a:lnSpc>
              <a:spcBef>
                <a:spcPts val="0"/>
              </a:spcBef>
              <a:spcAft>
                <a:spcPts val="0"/>
              </a:spcAft>
            </a:pPr>
            <a:r>
              <a:rPr sz="1800" b="0">
                <a:solidFill>
                  <a:srgbClr val="FFFFFF"/>
                </a:solidFill>
                <a:latin typeface="Arial"/>
              </a:rPr>
              <a:t>Text → spoken reply</a:t>
            </a:r>
          </a:p>
        </p:txBody>
      </p:sp>
      <p:pic>
        <p:nvPicPr>
          <p:cNvPr id="17" name="Picture 16" descr="Samrit interface screenshot or test fixture: voice mobile"/>
          <p:cNvPicPr>
            <a:picLocks noChangeAspect="1"/>
          </p:cNvPicPr>
          <p:nvPr/>
        </p:nvPicPr>
        <p:blipFill>
          <a:blip r:embed="rId2"/>
          <a:srcRect/>
          <a:stretch>
            <a:fillRect/>
          </a:stretch>
        </p:blipFill>
        <p:spPr>
          <a:xfrm>
            <a:off x="8613648" y="1464962"/>
            <a:ext cx="2093976" cy="4531578"/>
          </a:xfrm>
          <a:prstGeom prst="rect">
            <a:avLst/>
          </a:prstGeom>
        </p:spPr>
      </p:pic>
      <p:sp>
        <p:nvSpPr>
          <p:cNvPr id="18" name="TextBox 17"/>
          <p:cNvSpPr txBox="1"/>
          <p:nvPr/>
        </p:nvSpPr>
        <p:spPr>
          <a:xfrm>
            <a:off x="594360" y="6071616"/>
            <a:ext cx="10972800" cy="265176"/>
          </a:xfrm>
          <a:prstGeom prst="rect">
            <a:avLst/>
          </a:prstGeom>
          <a:noFill/>
        </p:spPr>
        <p:txBody>
          <a:bodyPr wrap="square" lIns="0" rIns="0" tIns="0" bIns="0" anchor="t">
            <a:spAutoFit/>
          </a:bodyPr>
          <a:lstStyle/>
          <a:p>
            <a:pPr>
              <a:lnSpc>
                <a:spcPct val="108000"/>
              </a:lnSpc>
              <a:spcBef>
                <a:spcPts val="0"/>
              </a:spcBef>
              <a:spcAft>
                <a:spcPts val="0"/>
              </a:spcAft>
            </a:pPr>
            <a:r>
              <a:rPr sz="1000" b="0">
                <a:solidFill>
                  <a:srgbClr val="B7CDD0"/>
                </a:solidFill>
                <a:latin typeface="Arial"/>
              </a:rPr>
              <a:t>Optional alongside manual controls. “Leave a review” opens the sequence; “Submit my review” sends the ready draft once.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42A33"/>
        </a:solidFill>
        <a:effectLst/>
      </p:bgPr>
    </p:bg>
    <p:spTree>
      <p:nvGrpSpPr>
        <p:cNvPr id="1" name=""/>
        <p:cNvGrpSpPr/>
        <p:nvPr/>
      </p:nvGrpSpPr>
      <p:grpSpPr/>
      <p:sp>
        <p:nvSpPr>
          <p:cNvPr id="2" name="TextBox 1"/>
          <p:cNvSpPr txBox="1"/>
          <p:nvPr/>
        </p:nvSpPr>
        <p:spPr>
          <a:xfrm>
            <a:off x="594360" y="384048"/>
            <a:ext cx="9692640" cy="201168"/>
          </a:xfrm>
          <a:prstGeom prst="rect">
            <a:avLst/>
          </a:prstGeom>
          <a:noFill/>
        </p:spPr>
        <p:txBody>
          <a:bodyPr wrap="square" lIns="0" rIns="0" tIns="0" bIns="0" anchor="t">
            <a:spAutoFit/>
          </a:bodyPr>
          <a:lstStyle/>
          <a:p>
            <a:pPr>
              <a:lnSpc>
                <a:spcPct val="108000"/>
              </a:lnSpc>
              <a:spcBef>
                <a:spcPts val="0"/>
              </a:spcBef>
              <a:spcAft>
                <a:spcPts val="0"/>
              </a:spcAft>
            </a:pPr>
            <a:r>
              <a:rPr sz="1100" b="1">
                <a:solidFill>
                  <a:srgbClr val="B5D588"/>
                </a:solidFill>
                <a:latin typeface="Arial"/>
              </a:rPr>
              <a:t>ACCOUNTABILITY AT EVERY HANDOFF</a:t>
            </a:r>
          </a:p>
        </p:txBody>
      </p:sp>
      <p:sp>
        <p:nvSpPr>
          <p:cNvPr id="3" name="TextBox 2"/>
          <p:cNvSpPr txBox="1"/>
          <p:nvPr/>
        </p:nvSpPr>
        <p:spPr>
          <a:xfrm>
            <a:off x="594360" y="877824"/>
            <a:ext cx="10972800" cy="987552"/>
          </a:xfrm>
          <a:prstGeom prst="rect">
            <a:avLst/>
          </a:prstGeom>
          <a:noFill/>
        </p:spPr>
        <p:txBody>
          <a:bodyPr wrap="square" lIns="0" rIns="0" tIns="0" bIns="0" anchor="t">
            <a:spAutoFit/>
          </a:bodyPr>
          <a:lstStyle/>
          <a:p>
            <a:pPr>
              <a:lnSpc>
                <a:spcPct val="108000"/>
              </a:lnSpc>
              <a:spcBef>
                <a:spcPts val="0"/>
              </a:spcBef>
              <a:spcAft>
                <a:spcPts val="0"/>
              </a:spcAft>
            </a:pPr>
            <a:r>
              <a:rPr sz="3600" b="0">
                <a:solidFill>
                  <a:srgbClr val="FFFFFF"/>
                </a:solidFill>
                <a:latin typeface="Arial Rounded MT Bold"/>
              </a:rPr>
              <a:t>An append-style QR evidence trail.</a:t>
            </a:r>
          </a:p>
        </p:txBody>
      </p:sp>
      <p:cxnSp>
        <p:nvCxnSpPr>
          <p:cNvPr id="4" name="Connector 3"/>
          <p:cNvCxnSpPr/>
          <p:nvPr/>
        </p:nvCxnSpPr>
        <p:spPr>
          <a:xfrm>
            <a:off x="594360" y="6428232"/>
            <a:ext cx="11000232" cy="0"/>
          </a:xfrm>
          <a:prstGeom prst="line">
            <a:avLst/>
          </a:prstGeom>
          <a:ln w="12700">
            <a:solidFill>
              <a:srgbClr val="376C6F"/>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94360" y="6537960"/>
            <a:ext cx="7772400" cy="164592"/>
          </a:xfrm>
          <a:prstGeom prst="rect">
            <a:avLst/>
          </a:prstGeom>
          <a:noFill/>
        </p:spPr>
        <p:txBody>
          <a:bodyPr wrap="square" lIns="0" rIns="0" tIns="0" bIns="0" anchor="t">
            <a:spAutoFit/>
          </a:bodyPr>
          <a:lstStyle/>
          <a:p>
            <a:pPr>
              <a:lnSpc>
                <a:spcPct val="108000"/>
              </a:lnSpc>
              <a:spcBef>
                <a:spcPts val="0"/>
              </a:spcBef>
              <a:spcAft>
                <a:spcPts val="0"/>
              </a:spcAft>
            </a:pPr>
            <a:r>
              <a:rPr sz="850" b="0">
                <a:solidFill>
                  <a:srgbClr val="B7CDD0"/>
                </a:solidFill>
                <a:latin typeface="Arial"/>
              </a:rPr>
              <a:t>SAMRIT  /  A PLACE AT THE TABLE</a:t>
            </a:r>
          </a:p>
        </p:txBody>
      </p:sp>
      <p:sp>
        <p:nvSpPr>
          <p:cNvPr id="6" name="TextBox 5"/>
          <p:cNvSpPr txBox="1"/>
          <p:nvPr/>
        </p:nvSpPr>
        <p:spPr>
          <a:xfrm>
            <a:off x="11109960" y="6510528"/>
            <a:ext cx="457200" cy="210312"/>
          </a:xfrm>
          <a:prstGeom prst="rect">
            <a:avLst/>
          </a:prstGeom>
          <a:noFill/>
        </p:spPr>
        <p:txBody>
          <a:bodyPr wrap="square" lIns="0" rIns="0" tIns="0" bIns="0" anchor="t">
            <a:spAutoFit/>
          </a:bodyPr>
          <a:lstStyle/>
          <a:p>
            <a:pPr algn="r">
              <a:lnSpc>
                <a:spcPct val="108000"/>
              </a:lnSpc>
              <a:spcBef>
                <a:spcPts val="0"/>
              </a:spcBef>
              <a:spcAft>
                <a:spcPts val="0"/>
              </a:spcAft>
            </a:pPr>
            <a:r>
              <a:rPr sz="1100" b="0">
                <a:solidFill>
                  <a:srgbClr val="B7CDD0"/>
                </a:solidFill>
                <a:latin typeface="Arial"/>
              </a:rPr>
              <a:t>12</a:t>
            </a:r>
          </a:p>
        </p:txBody>
      </p:sp>
      <p:cxnSp>
        <p:nvCxnSpPr>
          <p:cNvPr id="7" name="Connector 6"/>
          <p:cNvCxnSpPr/>
          <p:nvPr/>
        </p:nvCxnSpPr>
        <p:spPr>
          <a:xfrm>
            <a:off x="1325880" y="2761488"/>
            <a:ext cx="9509760" cy="0"/>
          </a:xfrm>
          <a:prstGeom prst="line">
            <a:avLst/>
          </a:prstGeom>
          <a:ln w="50800">
            <a:solidFill>
              <a:srgbClr val="376C6F"/>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1088136" y="2368296"/>
            <a:ext cx="786384" cy="786384"/>
          </a:xfrm>
          <a:prstGeom prst="ellipse">
            <a:avLst/>
          </a:prstGeom>
          <a:solidFill>
            <a:srgbClr val="53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88136" y="2496312"/>
            <a:ext cx="786384" cy="457200"/>
          </a:xfrm>
          <a:prstGeom prst="rect">
            <a:avLst/>
          </a:prstGeom>
          <a:noFill/>
        </p:spPr>
        <p:txBody>
          <a:bodyPr wrap="square" lIns="0" rIns="0" tIns="0" bIns="0" anchor="t">
            <a:spAutoFit/>
          </a:bodyPr>
          <a:lstStyle/>
          <a:p>
            <a:pPr algn="ctr">
              <a:lnSpc>
                <a:spcPct val="108000"/>
              </a:lnSpc>
              <a:spcBef>
                <a:spcPts val="0"/>
              </a:spcBef>
              <a:spcAft>
                <a:spcPts val="0"/>
              </a:spcAft>
            </a:pPr>
            <a:r>
              <a:rPr sz="2800" b="1">
                <a:solidFill>
                  <a:srgbClr val="FFFFFF"/>
                </a:solidFill>
                <a:latin typeface="Arial"/>
              </a:rPr>
              <a:t>1</a:t>
            </a:r>
          </a:p>
        </p:txBody>
      </p:sp>
      <p:sp>
        <p:nvSpPr>
          <p:cNvPr id="10" name="TextBox 9"/>
          <p:cNvSpPr txBox="1"/>
          <p:nvPr/>
        </p:nvSpPr>
        <p:spPr>
          <a:xfrm>
            <a:off x="694944" y="3584448"/>
            <a:ext cx="1591056" cy="822960"/>
          </a:xfrm>
          <a:prstGeom prst="rect">
            <a:avLst/>
          </a:prstGeom>
          <a:noFill/>
        </p:spPr>
        <p:txBody>
          <a:bodyPr wrap="square" lIns="0" rIns="0" tIns="0" bIns="0" anchor="t">
            <a:spAutoFit/>
          </a:bodyPr>
          <a:lstStyle/>
          <a:p>
            <a:pPr algn="ctr">
              <a:lnSpc>
                <a:spcPct val="108000"/>
              </a:lnSpc>
              <a:spcBef>
                <a:spcPts val="0"/>
              </a:spcBef>
              <a:spcAft>
                <a:spcPts val="0"/>
              </a:spcAft>
            </a:pPr>
            <a:r>
              <a:rPr sz="2200" b="1">
                <a:solidFill>
                  <a:srgbClr val="FFFFFF"/>
                </a:solidFill>
                <a:latin typeface="Arial"/>
              </a:rPr>
              <a:t>Donor</a:t>
            </a:r>
          </a:p>
          <a:p>
            <a:pPr algn="ctr">
              <a:lnSpc>
                <a:spcPct val="108000"/>
              </a:lnSpc>
              <a:spcBef>
                <a:spcPts val="0"/>
              </a:spcBef>
              <a:spcAft>
                <a:spcPts val="0"/>
              </a:spcAft>
            </a:pPr>
            <a:r>
              <a:rPr sz="2200" b="1">
                <a:solidFill>
                  <a:srgbClr val="FFFFFF"/>
                </a:solidFill>
                <a:latin typeface="Arial"/>
              </a:rPr>
              <a:t>photo</a:t>
            </a:r>
          </a:p>
        </p:txBody>
      </p:sp>
      <p:sp>
        <p:nvSpPr>
          <p:cNvPr id="11" name="Oval 10"/>
          <p:cNvSpPr/>
          <p:nvPr/>
        </p:nvSpPr>
        <p:spPr>
          <a:xfrm>
            <a:off x="2990088" y="2368296"/>
            <a:ext cx="786384" cy="786384"/>
          </a:xfrm>
          <a:prstGeom prst="ellipse">
            <a:avLst/>
          </a:prstGeom>
          <a:solidFill>
            <a:srgbClr val="53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90088" y="2496312"/>
            <a:ext cx="786384" cy="457200"/>
          </a:xfrm>
          <a:prstGeom prst="rect">
            <a:avLst/>
          </a:prstGeom>
          <a:noFill/>
        </p:spPr>
        <p:txBody>
          <a:bodyPr wrap="square" lIns="0" rIns="0" tIns="0" bIns="0" anchor="t">
            <a:spAutoFit/>
          </a:bodyPr>
          <a:lstStyle/>
          <a:p>
            <a:pPr algn="ctr">
              <a:lnSpc>
                <a:spcPct val="108000"/>
              </a:lnSpc>
              <a:spcBef>
                <a:spcPts val="0"/>
              </a:spcBef>
              <a:spcAft>
                <a:spcPts val="0"/>
              </a:spcAft>
            </a:pPr>
            <a:r>
              <a:rPr sz="2800" b="1">
                <a:solidFill>
                  <a:srgbClr val="FFFFFF"/>
                </a:solidFill>
                <a:latin typeface="Arial"/>
              </a:rPr>
              <a:t>2</a:t>
            </a:r>
          </a:p>
        </p:txBody>
      </p:sp>
      <p:sp>
        <p:nvSpPr>
          <p:cNvPr id="13" name="TextBox 12"/>
          <p:cNvSpPr txBox="1"/>
          <p:nvPr/>
        </p:nvSpPr>
        <p:spPr>
          <a:xfrm>
            <a:off x="2596896" y="3584448"/>
            <a:ext cx="1591056" cy="822960"/>
          </a:xfrm>
          <a:prstGeom prst="rect">
            <a:avLst/>
          </a:prstGeom>
          <a:noFill/>
        </p:spPr>
        <p:txBody>
          <a:bodyPr wrap="square" lIns="0" rIns="0" tIns="0" bIns="0" anchor="t">
            <a:spAutoFit/>
          </a:bodyPr>
          <a:lstStyle/>
          <a:p>
            <a:pPr algn="ctr">
              <a:lnSpc>
                <a:spcPct val="108000"/>
              </a:lnSpc>
              <a:spcBef>
                <a:spcPts val="0"/>
              </a:spcBef>
              <a:spcAft>
                <a:spcPts val="0"/>
              </a:spcAft>
            </a:pPr>
            <a:r>
              <a:rPr sz="2200" b="1">
                <a:solidFill>
                  <a:srgbClr val="FFFFFF"/>
                </a:solidFill>
                <a:latin typeface="Arial"/>
              </a:rPr>
              <a:t>Event</a:t>
            </a:r>
          </a:p>
          <a:p>
            <a:pPr algn="ctr">
              <a:lnSpc>
                <a:spcPct val="108000"/>
              </a:lnSpc>
              <a:spcBef>
                <a:spcPts val="0"/>
              </a:spcBef>
              <a:spcAft>
                <a:spcPts val="0"/>
              </a:spcAft>
            </a:pPr>
            <a:r>
              <a:rPr sz="2200" b="1">
                <a:solidFill>
                  <a:srgbClr val="FFFFFF"/>
                </a:solidFill>
                <a:latin typeface="Arial"/>
              </a:rPr>
              <a:t>QR</a:t>
            </a:r>
          </a:p>
        </p:txBody>
      </p:sp>
      <p:sp>
        <p:nvSpPr>
          <p:cNvPr id="14" name="Oval 13"/>
          <p:cNvSpPr/>
          <p:nvPr/>
        </p:nvSpPr>
        <p:spPr>
          <a:xfrm>
            <a:off x="4892040" y="2368296"/>
            <a:ext cx="786384" cy="786384"/>
          </a:xfrm>
          <a:prstGeom prst="ellipse">
            <a:avLst/>
          </a:prstGeom>
          <a:solidFill>
            <a:srgbClr val="53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92040" y="2496312"/>
            <a:ext cx="786384" cy="457200"/>
          </a:xfrm>
          <a:prstGeom prst="rect">
            <a:avLst/>
          </a:prstGeom>
          <a:noFill/>
        </p:spPr>
        <p:txBody>
          <a:bodyPr wrap="square" lIns="0" rIns="0" tIns="0" bIns="0" anchor="t">
            <a:spAutoFit/>
          </a:bodyPr>
          <a:lstStyle/>
          <a:p>
            <a:pPr algn="ctr">
              <a:lnSpc>
                <a:spcPct val="108000"/>
              </a:lnSpc>
              <a:spcBef>
                <a:spcPts val="0"/>
              </a:spcBef>
              <a:spcAft>
                <a:spcPts val="0"/>
              </a:spcAft>
            </a:pPr>
            <a:r>
              <a:rPr sz="2800" b="1">
                <a:solidFill>
                  <a:srgbClr val="FFFFFF"/>
                </a:solidFill>
                <a:latin typeface="Arial"/>
              </a:rPr>
              <a:t>3</a:t>
            </a:r>
          </a:p>
        </p:txBody>
      </p:sp>
      <p:sp>
        <p:nvSpPr>
          <p:cNvPr id="16" name="TextBox 15"/>
          <p:cNvSpPr txBox="1"/>
          <p:nvPr/>
        </p:nvSpPr>
        <p:spPr>
          <a:xfrm>
            <a:off x="4498848" y="3584448"/>
            <a:ext cx="1591056" cy="822960"/>
          </a:xfrm>
          <a:prstGeom prst="rect">
            <a:avLst/>
          </a:prstGeom>
          <a:noFill/>
        </p:spPr>
        <p:txBody>
          <a:bodyPr wrap="square" lIns="0" rIns="0" tIns="0" bIns="0" anchor="t">
            <a:spAutoFit/>
          </a:bodyPr>
          <a:lstStyle/>
          <a:p>
            <a:pPr algn="ctr">
              <a:lnSpc>
                <a:spcPct val="108000"/>
              </a:lnSpc>
              <a:spcBef>
                <a:spcPts val="0"/>
              </a:spcBef>
              <a:spcAft>
                <a:spcPts val="0"/>
              </a:spcAft>
            </a:pPr>
            <a:r>
              <a:rPr sz="2200" b="1">
                <a:solidFill>
                  <a:srgbClr val="FFFFFF"/>
                </a:solidFill>
                <a:latin typeface="Arial"/>
              </a:rPr>
              <a:t>Pickup</a:t>
            </a:r>
          </a:p>
          <a:p>
            <a:pPr algn="ctr">
              <a:lnSpc>
                <a:spcPct val="108000"/>
              </a:lnSpc>
              <a:spcBef>
                <a:spcPts val="0"/>
              </a:spcBef>
              <a:spcAft>
                <a:spcPts val="0"/>
              </a:spcAft>
            </a:pPr>
            <a:r>
              <a:rPr sz="2200" b="1">
                <a:solidFill>
                  <a:srgbClr val="FFFFFF"/>
                </a:solidFill>
                <a:latin typeface="Arial"/>
              </a:rPr>
              <a:t>photo</a:t>
            </a:r>
          </a:p>
        </p:txBody>
      </p:sp>
      <p:sp>
        <p:nvSpPr>
          <p:cNvPr id="17" name="Oval 16"/>
          <p:cNvSpPr/>
          <p:nvPr/>
        </p:nvSpPr>
        <p:spPr>
          <a:xfrm>
            <a:off x="6793992" y="2368296"/>
            <a:ext cx="786384" cy="786384"/>
          </a:xfrm>
          <a:prstGeom prst="ellipse">
            <a:avLst/>
          </a:prstGeom>
          <a:solidFill>
            <a:srgbClr val="53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793992" y="2496312"/>
            <a:ext cx="786384" cy="457200"/>
          </a:xfrm>
          <a:prstGeom prst="rect">
            <a:avLst/>
          </a:prstGeom>
          <a:noFill/>
        </p:spPr>
        <p:txBody>
          <a:bodyPr wrap="square" lIns="0" rIns="0" tIns="0" bIns="0" anchor="t">
            <a:spAutoFit/>
          </a:bodyPr>
          <a:lstStyle/>
          <a:p>
            <a:pPr algn="ctr">
              <a:lnSpc>
                <a:spcPct val="108000"/>
              </a:lnSpc>
              <a:spcBef>
                <a:spcPts val="0"/>
              </a:spcBef>
              <a:spcAft>
                <a:spcPts val="0"/>
              </a:spcAft>
            </a:pPr>
            <a:r>
              <a:rPr sz="2800" b="1">
                <a:solidFill>
                  <a:srgbClr val="FFFFFF"/>
                </a:solidFill>
                <a:latin typeface="Arial"/>
              </a:rPr>
              <a:t>4</a:t>
            </a:r>
          </a:p>
        </p:txBody>
      </p:sp>
      <p:sp>
        <p:nvSpPr>
          <p:cNvPr id="19" name="TextBox 18"/>
          <p:cNvSpPr txBox="1"/>
          <p:nvPr/>
        </p:nvSpPr>
        <p:spPr>
          <a:xfrm>
            <a:off x="6400800" y="3584448"/>
            <a:ext cx="1591056" cy="822960"/>
          </a:xfrm>
          <a:prstGeom prst="rect">
            <a:avLst/>
          </a:prstGeom>
          <a:noFill/>
        </p:spPr>
        <p:txBody>
          <a:bodyPr wrap="square" lIns="0" rIns="0" tIns="0" bIns="0" anchor="t">
            <a:spAutoFit/>
          </a:bodyPr>
          <a:lstStyle/>
          <a:p>
            <a:pPr algn="ctr">
              <a:lnSpc>
                <a:spcPct val="108000"/>
              </a:lnSpc>
              <a:spcBef>
                <a:spcPts val="0"/>
              </a:spcBef>
              <a:spcAft>
                <a:spcPts val="0"/>
              </a:spcAft>
            </a:pPr>
            <a:r>
              <a:rPr sz="2200" b="1">
                <a:solidFill>
                  <a:srgbClr val="FFFFFF"/>
                </a:solidFill>
                <a:latin typeface="Arial"/>
              </a:rPr>
              <a:t>Container</a:t>
            </a:r>
          </a:p>
          <a:p>
            <a:pPr algn="ctr">
              <a:lnSpc>
                <a:spcPct val="108000"/>
              </a:lnSpc>
              <a:spcBef>
                <a:spcPts val="0"/>
              </a:spcBef>
              <a:spcAft>
                <a:spcPts val="0"/>
              </a:spcAft>
            </a:pPr>
            <a:r>
              <a:rPr sz="2200" b="1">
                <a:solidFill>
                  <a:srgbClr val="FFFFFF"/>
                </a:solidFill>
                <a:latin typeface="Arial"/>
              </a:rPr>
              <a:t>sticker</a:t>
            </a:r>
          </a:p>
        </p:txBody>
      </p:sp>
      <p:sp>
        <p:nvSpPr>
          <p:cNvPr id="20" name="Oval 19"/>
          <p:cNvSpPr/>
          <p:nvPr/>
        </p:nvSpPr>
        <p:spPr>
          <a:xfrm>
            <a:off x="8695944" y="2368296"/>
            <a:ext cx="786384" cy="786384"/>
          </a:xfrm>
          <a:prstGeom prst="ellipse">
            <a:avLst/>
          </a:prstGeom>
          <a:solidFill>
            <a:srgbClr val="53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95944" y="2496312"/>
            <a:ext cx="786384" cy="457200"/>
          </a:xfrm>
          <a:prstGeom prst="rect">
            <a:avLst/>
          </a:prstGeom>
          <a:noFill/>
        </p:spPr>
        <p:txBody>
          <a:bodyPr wrap="square" lIns="0" rIns="0" tIns="0" bIns="0" anchor="t">
            <a:spAutoFit/>
          </a:bodyPr>
          <a:lstStyle/>
          <a:p>
            <a:pPr algn="ctr">
              <a:lnSpc>
                <a:spcPct val="108000"/>
              </a:lnSpc>
              <a:spcBef>
                <a:spcPts val="0"/>
              </a:spcBef>
              <a:spcAft>
                <a:spcPts val="0"/>
              </a:spcAft>
            </a:pPr>
            <a:r>
              <a:rPr sz="2800" b="1">
                <a:solidFill>
                  <a:srgbClr val="FFFFFF"/>
                </a:solidFill>
                <a:latin typeface="Arial"/>
              </a:rPr>
              <a:t>5</a:t>
            </a:r>
          </a:p>
        </p:txBody>
      </p:sp>
      <p:sp>
        <p:nvSpPr>
          <p:cNvPr id="22" name="TextBox 21"/>
          <p:cNvSpPr txBox="1"/>
          <p:nvPr/>
        </p:nvSpPr>
        <p:spPr>
          <a:xfrm>
            <a:off x="8302752" y="3584448"/>
            <a:ext cx="1591056" cy="822960"/>
          </a:xfrm>
          <a:prstGeom prst="rect">
            <a:avLst/>
          </a:prstGeom>
          <a:noFill/>
        </p:spPr>
        <p:txBody>
          <a:bodyPr wrap="square" lIns="0" rIns="0" tIns="0" bIns="0" anchor="t">
            <a:spAutoFit/>
          </a:bodyPr>
          <a:lstStyle/>
          <a:p>
            <a:pPr algn="ctr">
              <a:lnSpc>
                <a:spcPct val="108000"/>
              </a:lnSpc>
              <a:spcBef>
                <a:spcPts val="0"/>
              </a:spcBef>
              <a:spcAft>
                <a:spcPts val="0"/>
              </a:spcAft>
            </a:pPr>
            <a:r>
              <a:rPr sz="2200" b="1">
                <a:solidFill>
                  <a:srgbClr val="FFFFFF"/>
                </a:solidFill>
                <a:latin typeface="Arial"/>
              </a:rPr>
              <a:t>Venue</a:t>
            </a:r>
          </a:p>
          <a:p>
            <a:pPr algn="ctr">
              <a:lnSpc>
                <a:spcPct val="108000"/>
              </a:lnSpc>
              <a:spcBef>
                <a:spcPts val="0"/>
              </a:spcBef>
              <a:spcAft>
                <a:spcPts val="0"/>
              </a:spcAft>
            </a:pPr>
            <a:r>
              <a:rPr sz="2200" b="1">
                <a:solidFill>
                  <a:srgbClr val="FFFFFF"/>
                </a:solidFill>
                <a:latin typeface="Arial"/>
              </a:rPr>
              <a:t>QR</a:t>
            </a:r>
          </a:p>
        </p:txBody>
      </p:sp>
      <p:sp>
        <p:nvSpPr>
          <p:cNvPr id="23" name="Oval 22"/>
          <p:cNvSpPr/>
          <p:nvPr/>
        </p:nvSpPr>
        <p:spPr>
          <a:xfrm>
            <a:off x="10597896" y="2368296"/>
            <a:ext cx="786384" cy="786384"/>
          </a:xfrm>
          <a:prstGeom prst="ellipse">
            <a:avLst/>
          </a:prstGeom>
          <a:solidFill>
            <a:srgbClr val="537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597896" y="2496312"/>
            <a:ext cx="786384" cy="457200"/>
          </a:xfrm>
          <a:prstGeom prst="rect">
            <a:avLst/>
          </a:prstGeom>
          <a:noFill/>
        </p:spPr>
        <p:txBody>
          <a:bodyPr wrap="square" lIns="0" rIns="0" tIns="0" bIns="0" anchor="t">
            <a:spAutoFit/>
          </a:bodyPr>
          <a:lstStyle/>
          <a:p>
            <a:pPr algn="ctr">
              <a:lnSpc>
                <a:spcPct val="108000"/>
              </a:lnSpc>
              <a:spcBef>
                <a:spcPts val="0"/>
              </a:spcBef>
              <a:spcAft>
                <a:spcPts val="0"/>
              </a:spcAft>
            </a:pPr>
            <a:r>
              <a:rPr sz="2800" b="1">
                <a:solidFill>
                  <a:srgbClr val="FFFFFF"/>
                </a:solidFill>
                <a:latin typeface="Arial"/>
              </a:rPr>
              <a:t>6</a:t>
            </a:r>
          </a:p>
        </p:txBody>
      </p:sp>
      <p:sp>
        <p:nvSpPr>
          <p:cNvPr id="25" name="TextBox 24"/>
          <p:cNvSpPr txBox="1"/>
          <p:nvPr/>
        </p:nvSpPr>
        <p:spPr>
          <a:xfrm>
            <a:off x="10204704" y="3584448"/>
            <a:ext cx="1591056" cy="822960"/>
          </a:xfrm>
          <a:prstGeom prst="rect">
            <a:avLst/>
          </a:prstGeom>
          <a:noFill/>
        </p:spPr>
        <p:txBody>
          <a:bodyPr wrap="square" lIns="0" rIns="0" tIns="0" bIns="0" anchor="t">
            <a:spAutoFit/>
          </a:bodyPr>
          <a:lstStyle/>
          <a:p>
            <a:pPr algn="ctr">
              <a:lnSpc>
                <a:spcPct val="108000"/>
              </a:lnSpc>
              <a:spcBef>
                <a:spcPts val="0"/>
              </a:spcBef>
              <a:spcAft>
                <a:spcPts val="0"/>
              </a:spcAft>
            </a:pPr>
            <a:r>
              <a:rPr sz="2200" b="1">
                <a:solidFill>
                  <a:srgbClr val="FFFFFF"/>
                </a:solidFill>
                <a:latin typeface="Arial"/>
              </a:rPr>
              <a:t>Receiving</a:t>
            </a:r>
          </a:p>
          <a:p>
            <a:pPr algn="ctr">
              <a:lnSpc>
                <a:spcPct val="108000"/>
              </a:lnSpc>
              <a:spcBef>
                <a:spcPts val="0"/>
              </a:spcBef>
              <a:spcAft>
                <a:spcPts val="0"/>
              </a:spcAft>
            </a:pPr>
            <a:r>
              <a:rPr sz="2200" b="1">
                <a:solidFill>
                  <a:srgbClr val="FFFFFF"/>
                </a:solidFill>
                <a:latin typeface="Arial"/>
              </a:rPr>
              <a:t>photo</a:t>
            </a:r>
          </a:p>
        </p:txBody>
      </p:sp>
      <p:cxnSp>
        <p:nvCxnSpPr>
          <p:cNvPr id="26" name="Connector 25"/>
          <p:cNvCxnSpPr/>
          <p:nvPr/>
        </p:nvCxnSpPr>
        <p:spPr>
          <a:xfrm>
            <a:off x="640080" y="4882896"/>
            <a:ext cx="3429000" cy="0"/>
          </a:xfrm>
          <a:prstGeom prst="line">
            <a:avLst/>
          </a:prstGeom>
          <a:ln w="25400">
            <a:solidFill>
              <a:srgbClr val="537A5A"/>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40080" y="5148072"/>
            <a:ext cx="3474720" cy="320040"/>
          </a:xfrm>
          <a:prstGeom prst="rect">
            <a:avLst/>
          </a:prstGeom>
          <a:noFill/>
        </p:spPr>
        <p:txBody>
          <a:bodyPr wrap="square" lIns="0" rIns="0" tIns="0" bIns="0" anchor="t">
            <a:spAutoFit/>
          </a:bodyPr>
          <a:lstStyle/>
          <a:p>
            <a:pPr>
              <a:lnSpc>
                <a:spcPct val="108000"/>
              </a:lnSpc>
              <a:spcBef>
                <a:spcPts val="0"/>
              </a:spcBef>
              <a:spcAft>
                <a:spcPts val="0"/>
              </a:spcAft>
            </a:pPr>
            <a:r>
              <a:rPr sz="1800" b="1">
                <a:solidFill>
                  <a:srgbClr val="B5D588"/>
                </a:solidFill>
                <a:latin typeface="Arial"/>
              </a:rPr>
              <a:t>QR + timestamps</a:t>
            </a:r>
          </a:p>
        </p:txBody>
      </p:sp>
      <p:sp>
        <p:nvSpPr>
          <p:cNvPr id="28" name="TextBox 27"/>
          <p:cNvSpPr txBox="1"/>
          <p:nvPr/>
        </p:nvSpPr>
        <p:spPr>
          <a:xfrm>
            <a:off x="640080" y="5614416"/>
            <a:ext cx="3474720" cy="310896"/>
          </a:xfrm>
          <a:prstGeom prst="rect">
            <a:avLst/>
          </a:prstGeom>
          <a:noFill/>
        </p:spPr>
        <p:txBody>
          <a:bodyPr wrap="square" lIns="0" rIns="0" tIns="0" bIns="0" anchor="t">
            <a:spAutoFit/>
          </a:bodyPr>
          <a:lstStyle/>
          <a:p>
            <a:pPr>
              <a:lnSpc>
                <a:spcPct val="108000"/>
              </a:lnSpc>
              <a:spcBef>
                <a:spcPts val="0"/>
              </a:spcBef>
              <a:spcAft>
                <a:spcPts val="0"/>
              </a:spcAft>
            </a:pPr>
            <a:r>
              <a:rPr sz="1400" b="0">
                <a:solidFill>
                  <a:srgbClr val="B7CDD0"/>
                </a:solidFill>
                <a:latin typeface="Arial"/>
              </a:rPr>
              <a:t>Stage order and ownership</a:t>
            </a:r>
          </a:p>
        </p:txBody>
      </p:sp>
      <p:cxnSp>
        <p:nvCxnSpPr>
          <p:cNvPr id="29" name="Connector 28"/>
          <p:cNvCxnSpPr/>
          <p:nvPr/>
        </p:nvCxnSpPr>
        <p:spPr>
          <a:xfrm>
            <a:off x="4443984" y="4882896"/>
            <a:ext cx="3428999" cy="0"/>
          </a:xfrm>
          <a:prstGeom prst="line">
            <a:avLst/>
          </a:prstGeom>
          <a:ln w="25400">
            <a:solidFill>
              <a:srgbClr val="537A5A"/>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443984" y="5148072"/>
            <a:ext cx="3474720" cy="320040"/>
          </a:xfrm>
          <a:prstGeom prst="rect">
            <a:avLst/>
          </a:prstGeom>
          <a:noFill/>
        </p:spPr>
        <p:txBody>
          <a:bodyPr wrap="square" lIns="0" rIns="0" tIns="0" bIns="0" anchor="t">
            <a:spAutoFit/>
          </a:bodyPr>
          <a:lstStyle/>
          <a:p>
            <a:pPr>
              <a:lnSpc>
                <a:spcPct val="108000"/>
              </a:lnSpc>
              <a:spcBef>
                <a:spcPts val="0"/>
              </a:spcBef>
              <a:spcAft>
                <a:spcPts val="0"/>
              </a:spcAft>
            </a:pPr>
            <a:r>
              <a:rPr sz="1800" b="1">
                <a:solidFill>
                  <a:srgbClr val="B5D588"/>
                </a:solidFill>
                <a:latin typeface="Arial"/>
              </a:rPr>
              <a:t>Photos + SHA-256</a:t>
            </a:r>
          </a:p>
        </p:txBody>
      </p:sp>
      <p:sp>
        <p:nvSpPr>
          <p:cNvPr id="31" name="TextBox 30"/>
          <p:cNvSpPr txBox="1"/>
          <p:nvPr/>
        </p:nvSpPr>
        <p:spPr>
          <a:xfrm>
            <a:off x="4443984" y="5614416"/>
            <a:ext cx="3474720" cy="310896"/>
          </a:xfrm>
          <a:prstGeom prst="rect">
            <a:avLst/>
          </a:prstGeom>
          <a:noFill/>
        </p:spPr>
        <p:txBody>
          <a:bodyPr wrap="square" lIns="0" rIns="0" tIns="0" bIns="0" anchor="t">
            <a:spAutoFit/>
          </a:bodyPr>
          <a:lstStyle/>
          <a:p>
            <a:pPr>
              <a:lnSpc>
                <a:spcPct val="108000"/>
              </a:lnSpc>
              <a:spcBef>
                <a:spcPts val="0"/>
              </a:spcBef>
              <a:spcAft>
                <a:spcPts val="0"/>
              </a:spcAft>
            </a:pPr>
            <a:r>
              <a:rPr sz="1400" b="0">
                <a:solidFill>
                  <a:srgbClr val="B7CDD0"/>
                </a:solidFill>
                <a:latin typeface="Arial"/>
              </a:rPr>
              <a:t>Evidence linked to the batch</a:t>
            </a:r>
          </a:p>
        </p:txBody>
      </p:sp>
      <p:cxnSp>
        <p:nvCxnSpPr>
          <p:cNvPr id="32" name="Connector 31"/>
          <p:cNvCxnSpPr/>
          <p:nvPr/>
        </p:nvCxnSpPr>
        <p:spPr>
          <a:xfrm>
            <a:off x="8247888" y="4882896"/>
            <a:ext cx="3429000" cy="0"/>
          </a:xfrm>
          <a:prstGeom prst="line">
            <a:avLst/>
          </a:prstGeom>
          <a:ln w="25400">
            <a:solidFill>
              <a:srgbClr val="537A5A"/>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8247888" y="5148072"/>
            <a:ext cx="3474720" cy="320040"/>
          </a:xfrm>
          <a:prstGeom prst="rect">
            <a:avLst/>
          </a:prstGeom>
          <a:noFill/>
        </p:spPr>
        <p:txBody>
          <a:bodyPr wrap="square" lIns="0" rIns="0" tIns="0" bIns="0" anchor="t">
            <a:spAutoFit/>
          </a:bodyPr>
          <a:lstStyle/>
          <a:p>
            <a:pPr>
              <a:lnSpc>
                <a:spcPct val="108000"/>
              </a:lnSpc>
              <a:spcBef>
                <a:spcPts val="0"/>
              </a:spcBef>
              <a:spcAft>
                <a:spcPts val="0"/>
              </a:spcAft>
            </a:pPr>
            <a:r>
              <a:rPr sz="1800" b="1">
                <a:solidFill>
                  <a:srgbClr val="B5D588"/>
                </a:solidFill>
                <a:latin typeface="Arial"/>
              </a:rPr>
              <a:t>Location provenance</a:t>
            </a:r>
          </a:p>
        </p:txBody>
      </p:sp>
      <p:sp>
        <p:nvSpPr>
          <p:cNvPr id="34" name="TextBox 33"/>
          <p:cNvSpPr txBox="1"/>
          <p:nvPr/>
        </p:nvSpPr>
        <p:spPr>
          <a:xfrm>
            <a:off x="8247888" y="5614416"/>
            <a:ext cx="3474720" cy="310896"/>
          </a:xfrm>
          <a:prstGeom prst="rect">
            <a:avLst/>
          </a:prstGeom>
          <a:noFill/>
        </p:spPr>
        <p:txBody>
          <a:bodyPr wrap="square" lIns="0" rIns="0" tIns="0" bIns="0" anchor="t">
            <a:spAutoFit/>
          </a:bodyPr>
          <a:lstStyle/>
          <a:p>
            <a:pPr>
              <a:lnSpc>
                <a:spcPct val="108000"/>
              </a:lnSpc>
              <a:spcBef>
                <a:spcPts val="0"/>
              </a:spcBef>
              <a:spcAft>
                <a:spcPts val="0"/>
              </a:spcAft>
            </a:pPr>
            <a:r>
              <a:rPr sz="1400" b="0">
                <a:solidFill>
                  <a:srgbClr val="B7CDD0"/>
                </a:solidFill>
                <a:latin typeface="Arial"/>
              </a:rPr>
              <a:t>Device / simulated / unspecified</a:t>
            </a:r>
          </a:p>
        </p:txBody>
      </p:sp>
      <p:sp>
        <p:nvSpPr>
          <p:cNvPr id="35" name="TextBox 34"/>
          <p:cNvSpPr txBox="1"/>
          <p:nvPr/>
        </p:nvSpPr>
        <p:spPr>
          <a:xfrm>
            <a:off x="594360" y="6071616"/>
            <a:ext cx="10972800" cy="265176"/>
          </a:xfrm>
          <a:prstGeom prst="rect">
            <a:avLst/>
          </a:prstGeom>
          <a:noFill/>
        </p:spPr>
        <p:txBody>
          <a:bodyPr wrap="square" lIns="0" rIns="0" tIns="0" bIns="0" anchor="t">
            <a:spAutoFit/>
          </a:bodyPr>
          <a:lstStyle/>
          <a:p>
            <a:pPr>
              <a:lnSpc>
                <a:spcPct val="108000"/>
              </a:lnSpc>
              <a:spcBef>
                <a:spcPts val="0"/>
              </a:spcBef>
              <a:spcAft>
                <a:spcPts val="0"/>
              </a:spcAft>
            </a:pPr>
            <a:r>
              <a:rPr sz="1000" b="0">
                <a:solidFill>
                  <a:srgbClr val="B7CDD0"/>
                </a:solidFill>
                <a:latin typeface="Arial"/>
              </a:rPr>
              <a:t>Traceability supports human review; it is not an immutable ledger or food-safety certificate. Demo GPS is clearly simulated.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3"/>
        </a:solidFill>
        <a:effectLst/>
      </p:bgPr>
    </p:bg>
    <p:spTree>
      <p:nvGrpSpPr>
        <p:cNvPr id="1" name=""/>
        <p:cNvGrpSpPr/>
        <p:nvPr/>
      </p:nvGrpSpPr>
      <p:grpSpPr/>
      <p:sp>
        <p:nvSpPr>
          <p:cNvPr id="2" name="TextBox 1"/>
          <p:cNvSpPr txBox="1"/>
          <p:nvPr/>
        </p:nvSpPr>
        <p:spPr>
          <a:xfrm>
            <a:off x="594360" y="384048"/>
            <a:ext cx="9692640" cy="201168"/>
          </a:xfrm>
          <a:prstGeom prst="rect">
            <a:avLst/>
          </a:prstGeom>
          <a:noFill/>
        </p:spPr>
        <p:txBody>
          <a:bodyPr wrap="square" lIns="0" rIns="0" tIns="0" bIns="0" anchor="t">
            <a:spAutoFit/>
          </a:bodyPr>
          <a:lstStyle/>
          <a:p>
            <a:pPr>
              <a:lnSpc>
                <a:spcPct val="108000"/>
              </a:lnSpc>
              <a:spcBef>
                <a:spcPts val="0"/>
              </a:spcBef>
              <a:spcAft>
                <a:spcPts val="0"/>
              </a:spcAft>
            </a:pPr>
            <a:r>
              <a:rPr sz="1100" b="1">
                <a:solidFill>
                  <a:srgbClr val="376C6F"/>
                </a:solidFill>
                <a:latin typeface="Arial"/>
              </a:rPr>
              <a:t>LEARNING WITHOUT PUBLIC SHAMING</a:t>
            </a:r>
          </a:p>
        </p:txBody>
      </p:sp>
      <p:sp>
        <p:nvSpPr>
          <p:cNvPr id="3" name="TextBox 2"/>
          <p:cNvSpPr txBox="1"/>
          <p:nvPr/>
        </p:nvSpPr>
        <p:spPr>
          <a:xfrm>
            <a:off x="594360" y="877824"/>
            <a:ext cx="10972800" cy="987552"/>
          </a:xfrm>
          <a:prstGeom prst="rect">
            <a:avLst/>
          </a:prstGeom>
          <a:noFill/>
        </p:spPr>
        <p:txBody>
          <a:bodyPr wrap="square" lIns="0" rIns="0" tIns="0" bIns="0" anchor="t">
            <a:spAutoFit/>
          </a:bodyPr>
          <a:lstStyle/>
          <a:p>
            <a:pPr>
              <a:lnSpc>
                <a:spcPct val="108000"/>
              </a:lnSpc>
              <a:spcBef>
                <a:spcPts val="0"/>
              </a:spcBef>
              <a:spcAft>
                <a:spcPts val="0"/>
              </a:spcAft>
            </a:pPr>
            <a:r>
              <a:rPr sz="3400" b="0">
                <a:solidFill>
                  <a:srgbClr val="244557"/>
                </a:solidFill>
                <a:latin typeface="Arial Rounded MT Bold"/>
              </a:rPr>
              <a:t>Private feedback. Human guidance.</a:t>
            </a:r>
          </a:p>
        </p:txBody>
      </p:sp>
      <p:cxnSp>
        <p:nvCxnSpPr>
          <p:cNvPr id="4" name="Connector 3"/>
          <p:cNvCxnSpPr/>
          <p:nvPr/>
        </p:nvCxnSpPr>
        <p:spPr>
          <a:xfrm>
            <a:off x="594360" y="6428232"/>
            <a:ext cx="11000232" cy="0"/>
          </a:xfrm>
          <a:prstGeom prst="line">
            <a:avLst/>
          </a:prstGeom>
          <a:ln w="12700">
            <a:solidFill>
              <a:srgbClr val="D9E3D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94360" y="6537960"/>
            <a:ext cx="7772400" cy="164592"/>
          </a:xfrm>
          <a:prstGeom prst="rect">
            <a:avLst/>
          </a:prstGeom>
          <a:noFill/>
        </p:spPr>
        <p:txBody>
          <a:bodyPr wrap="square" lIns="0" rIns="0" tIns="0" bIns="0" anchor="t">
            <a:spAutoFit/>
          </a:bodyPr>
          <a:lstStyle/>
          <a:p>
            <a:pPr>
              <a:lnSpc>
                <a:spcPct val="108000"/>
              </a:lnSpc>
              <a:spcBef>
                <a:spcPts val="0"/>
              </a:spcBef>
              <a:spcAft>
                <a:spcPts val="0"/>
              </a:spcAft>
            </a:pPr>
            <a:r>
              <a:rPr sz="850" b="0">
                <a:solidFill>
                  <a:srgbClr val="484D48"/>
                </a:solidFill>
                <a:latin typeface="Arial"/>
              </a:rPr>
              <a:t>SAMRIT  /  A PLACE AT THE TABLE</a:t>
            </a:r>
          </a:p>
        </p:txBody>
      </p:sp>
      <p:sp>
        <p:nvSpPr>
          <p:cNvPr id="6" name="TextBox 5"/>
          <p:cNvSpPr txBox="1"/>
          <p:nvPr/>
        </p:nvSpPr>
        <p:spPr>
          <a:xfrm>
            <a:off x="11109960" y="6510528"/>
            <a:ext cx="457200" cy="210312"/>
          </a:xfrm>
          <a:prstGeom prst="rect">
            <a:avLst/>
          </a:prstGeom>
          <a:noFill/>
        </p:spPr>
        <p:txBody>
          <a:bodyPr wrap="square" lIns="0" rIns="0" tIns="0" bIns="0" anchor="t">
            <a:spAutoFit/>
          </a:bodyPr>
          <a:lstStyle/>
          <a:p>
            <a:pPr algn="r">
              <a:lnSpc>
                <a:spcPct val="108000"/>
              </a:lnSpc>
              <a:spcBef>
                <a:spcPts val="0"/>
              </a:spcBef>
              <a:spcAft>
                <a:spcPts val="0"/>
              </a:spcAft>
            </a:pPr>
            <a:r>
              <a:rPr sz="1100" b="0">
                <a:solidFill>
                  <a:srgbClr val="484D48"/>
                </a:solidFill>
                <a:latin typeface="Arial"/>
              </a:rPr>
              <a:t>13</a:t>
            </a:r>
          </a:p>
        </p:txBody>
      </p:sp>
      <p:sp>
        <p:nvSpPr>
          <p:cNvPr id="7" name="Rounded Rectangle 6"/>
          <p:cNvSpPr/>
          <p:nvPr/>
        </p:nvSpPr>
        <p:spPr>
          <a:xfrm>
            <a:off x="603504" y="2121408"/>
            <a:ext cx="4078224" cy="3328416"/>
          </a:xfrm>
          <a:prstGeom prst="roundRect">
            <a:avLst>
              <a:gd name="adj" fmla="val 12000"/>
            </a:avLst>
          </a:prstGeom>
          <a:solidFill>
            <a:srgbClr val="FFFFFF"/>
          </a:solidFill>
          <a:ln w="12700">
            <a:solidFill>
              <a:srgbClr val="D9E3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2450592"/>
            <a:ext cx="3474720" cy="228600"/>
          </a:xfrm>
          <a:prstGeom prst="rect">
            <a:avLst/>
          </a:prstGeom>
          <a:noFill/>
        </p:spPr>
        <p:txBody>
          <a:bodyPr wrap="square" lIns="0" rIns="0" tIns="0" bIns="0" anchor="t">
            <a:spAutoFit/>
          </a:bodyPr>
          <a:lstStyle/>
          <a:p>
            <a:pPr>
              <a:lnSpc>
                <a:spcPct val="108000"/>
              </a:lnSpc>
              <a:spcBef>
                <a:spcPts val="0"/>
              </a:spcBef>
              <a:spcAft>
                <a:spcPts val="0"/>
              </a:spcAft>
            </a:pPr>
            <a:r>
              <a:rPr sz="1100" b="1">
                <a:solidFill>
                  <a:srgbClr val="376C6F"/>
                </a:solidFill>
                <a:latin typeface="Arial"/>
              </a:rPr>
              <a:t>EXAMPLE FEEDBACK</a:t>
            </a:r>
          </a:p>
        </p:txBody>
      </p:sp>
      <p:sp>
        <p:nvSpPr>
          <p:cNvPr id="9" name="TextBox 8"/>
          <p:cNvSpPr txBox="1"/>
          <p:nvPr/>
        </p:nvSpPr>
        <p:spPr>
          <a:xfrm>
            <a:off x="886968" y="2990088"/>
            <a:ext cx="3483864" cy="1517904"/>
          </a:xfrm>
          <a:prstGeom prst="rect">
            <a:avLst/>
          </a:prstGeom>
          <a:noFill/>
        </p:spPr>
        <p:txBody>
          <a:bodyPr wrap="square" lIns="0" rIns="0" tIns="0" bIns="0" anchor="t">
            <a:spAutoFit/>
          </a:bodyPr>
          <a:lstStyle/>
          <a:p>
            <a:pPr>
              <a:lnSpc>
                <a:spcPct val="108000"/>
              </a:lnSpc>
              <a:spcBef>
                <a:spcPts val="0"/>
              </a:spcBef>
              <a:spcAft>
                <a:spcPts val="0"/>
              </a:spcAft>
            </a:pPr>
            <a:r>
              <a:rPr sz="2700" b="0">
                <a:solidFill>
                  <a:srgbClr val="244557"/>
                </a:solidFill>
                <a:latin typeface="Arial Rounded MT Bold"/>
              </a:rPr>
              <a:t>“I waited a long time</a:t>
            </a:r>
          </a:p>
          <a:p>
            <a:pPr>
              <a:lnSpc>
                <a:spcPct val="108000"/>
              </a:lnSpc>
              <a:spcBef>
                <a:spcPts val="0"/>
              </a:spcBef>
              <a:spcAft>
                <a:spcPts val="0"/>
              </a:spcAft>
            </a:pPr>
            <a:r>
              <a:rPr sz="2700" b="0">
                <a:solidFill>
                  <a:srgbClr val="244557"/>
                </a:solidFill>
                <a:latin typeface="Arial Rounded MT Bold"/>
              </a:rPr>
              <a:t>and did not receive</a:t>
            </a:r>
          </a:p>
          <a:p>
            <a:pPr>
              <a:lnSpc>
                <a:spcPct val="108000"/>
              </a:lnSpc>
              <a:spcBef>
                <a:spcPts val="0"/>
              </a:spcBef>
              <a:spcAft>
                <a:spcPts val="0"/>
              </a:spcAft>
            </a:pPr>
            <a:r>
              <a:rPr sz="2700" b="0">
                <a:solidFill>
                  <a:srgbClr val="244557"/>
                </a:solidFill>
                <a:latin typeface="Arial Rounded MT Bold"/>
              </a:rPr>
              <a:t>a meal.”</a:t>
            </a:r>
          </a:p>
        </p:txBody>
      </p:sp>
      <p:sp>
        <p:nvSpPr>
          <p:cNvPr id="10" name="TextBox 9"/>
          <p:cNvSpPr txBox="1"/>
          <p:nvPr/>
        </p:nvSpPr>
        <p:spPr>
          <a:xfrm>
            <a:off x="886968" y="4855464"/>
            <a:ext cx="3474720" cy="320040"/>
          </a:xfrm>
          <a:prstGeom prst="rect">
            <a:avLst/>
          </a:prstGeom>
          <a:noFill/>
        </p:spPr>
        <p:txBody>
          <a:bodyPr wrap="square" lIns="0" rIns="0" tIns="0" bIns="0" anchor="t">
            <a:spAutoFit/>
          </a:bodyPr>
          <a:lstStyle/>
          <a:p>
            <a:pPr>
              <a:lnSpc>
                <a:spcPct val="108000"/>
              </a:lnSpc>
              <a:spcBef>
                <a:spcPts val="0"/>
              </a:spcBef>
              <a:spcAft>
                <a:spcPts val="0"/>
              </a:spcAft>
            </a:pPr>
            <a:r>
              <a:rPr sz="1600" b="0">
                <a:solidFill>
                  <a:srgbClr val="484D48"/>
                </a:solidFill>
                <a:latin typeface="Arial"/>
              </a:rPr>
              <a:t>A person’s experience matters.</a:t>
            </a:r>
          </a:p>
        </p:txBody>
      </p:sp>
      <p:sp>
        <p:nvSpPr>
          <p:cNvPr id="11" name="TextBox 10"/>
          <p:cNvSpPr txBox="1"/>
          <p:nvPr/>
        </p:nvSpPr>
        <p:spPr>
          <a:xfrm>
            <a:off x="5221224" y="2221992"/>
            <a:ext cx="411480" cy="365760"/>
          </a:xfrm>
          <a:prstGeom prst="rect">
            <a:avLst/>
          </a:prstGeom>
          <a:noFill/>
        </p:spPr>
        <p:txBody>
          <a:bodyPr wrap="square" lIns="0" rIns="0" tIns="0" bIns="0" anchor="t">
            <a:spAutoFit/>
          </a:bodyPr>
          <a:lstStyle/>
          <a:p>
            <a:pPr>
              <a:lnSpc>
                <a:spcPct val="108000"/>
              </a:lnSpc>
              <a:spcBef>
                <a:spcPts val="0"/>
              </a:spcBef>
              <a:spcAft>
                <a:spcPts val="0"/>
              </a:spcAft>
            </a:pPr>
            <a:r>
              <a:rPr sz="1700" b="1">
                <a:solidFill>
                  <a:srgbClr val="537A5A"/>
                </a:solidFill>
                <a:latin typeface="Arial"/>
              </a:rPr>
              <a:t>01</a:t>
            </a:r>
          </a:p>
        </p:txBody>
      </p:sp>
      <p:sp>
        <p:nvSpPr>
          <p:cNvPr id="12" name="TextBox 11"/>
          <p:cNvSpPr txBox="1"/>
          <p:nvPr/>
        </p:nvSpPr>
        <p:spPr>
          <a:xfrm>
            <a:off x="5751576" y="2212848"/>
            <a:ext cx="5093208" cy="384048"/>
          </a:xfrm>
          <a:prstGeom prst="rect">
            <a:avLst/>
          </a:prstGeom>
          <a:noFill/>
        </p:spPr>
        <p:txBody>
          <a:bodyPr wrap="square" lIns="0" rIns="0" tIns="0" bIns="0" anchor="t">
            <a:spAutoFit/>
          </a:bodyPr>
          <a:lstStyle/>
          <a:p>
            <a:pPr>
              <a:lnSpc>
                <a:spcPct val="108000"/>
              </a:lnSpc>
              <a:spcBef>
                <a:spcPts val="0"/>
              </a:spcBef>
              <a:spcAft>
                <a:spcPts val="0"/>
              </a:spcAft>
            </a:pPr>
            <a:r>
              <a:rPr sz="2100" b="1">
                <a:solidFill>
                  <a:srgbClr val="244557"/>
                </a:solidFill>
                <a:latin typeface="Arial"/>
              </a:rPr>
              <a:t>Gemini assists the review.</a:t>
            </a:r>
          </a:p>
        </p:txBody>
      </p:sp>
      <p:sp>
        <p:nvSpPr>
          <p:cNvPr id="13" name="TextBox 12"/>
          <p:cNvSpPr txBox="1"/>
          <p:nvPr/>
        </p:nvSpPr>
        <p:spPr>
          <a:xfrm>
            <a:off x="5751576" y="2642616"/>
            <a:ext cx="5074920" cy="804672"/>
          </a:xfrm>
          <a:prstGeom prst="rect">
            <a:avLst/>
          </a:prstGeom>
          <a:noFill/>
        </p:spPr>
        <p:txBody>
          <a:bodyPr wrap="square" lIns="0" rIns="0" tIns="0" bIns="0" anchor="t">
            <a:spAutoFit/>
          </a:bodyPr>
          <a:lstStyle/>
          <a:p>
            <a:pPr>
              <a:lnSpc>
                <a:spcPct val="108000"/>
              </a:lnSpc>
              <a:spcBef>
                <a:spcPts val="0"/>
              </a:spcBef>
              <a:spcAft>
                <a:spcPts val="0"/>
              </a:spcAft>
            </a:pPr>
            <a:r>
              <a:rPr sz="1700" b="0">
                <a:solidFill>
                  <a:srgbClr val="484D48"/>
                </a:solidFill>
                <a:latin typeface="Arial"/>
              </a:rPr>
              <a:t>Summarize concerns, flag patterns</a:t>
            </a:r>
          </a:p>
          <a:p>
            <a:pPr>
              <a:lnSpc>
                <a:spcPct val="108000"/>
              </a:lnSpc>
              <a:spcBef>
                <a:spcPts val="0"/>
              </a:spcBef>
              <a:spcAft>
                <a:spcPts val="0"/>
              </a:spcAft>
            </a:pPr>
            <a:r>
              <a:rPr sz="1700" b="0">
                <a:solidFill>
                  <a:srgbClr val="484D48"/>
                </a:solidFill>
                <a:latin typeface="Arial"/>
              </a:rPr>
              <a:t>and assess evidence consistency.</a:t>
            </a:r>
          </a:p>
        </p:txBody>
      </p:sp>
      <p:sp>
        <p:nvSpPr>
          <p:cNvPr id="14" name="TextBox 13"/>
          <p:cNvSpPr txBox="1"/>
          <p:nvPr/>
        </p:nvSpPr>
        <p:spPr>
          <a:xfrm>
            <a:off x="5221224" y="3575304"/>
            <a:ext cx="411480" cy="365760"/>
          </a:xfrm>
          <a:prstGeom prst="rect">
            <a:avLst/>
          </a:prstGeom>
          <a:noFill/>
        </p:spPr>
        <p:txBody>
          <a:bodyPr wrap="square" lIns="0" rIns="0" tIns="0" bIns="0" anchor="t">
            <a:spAutoFit/>
          </a:bodyPr>
          <a:lstStyle/>
          <a:p>
            <a:pPr>
              <a:lnSpc>
                <a:spcPct val="108000"/>
              </a:lnSpc>
              <a:spcBef>
                <a:spcPts val="0"/>
              </a:spcBef>
              <a:spcAft>
                <a:spcPts val="0"/>
              </a:spcAft>
            </a:pPr>
            <a:r>
              <a:rPr sz="1700" b="1">
                <a:solidFill>
                  <a:srgbClr val="537A5A"/>
                </a:solidFill>
                <a:latin typeface="Arial"/>
              </a:rPr>
              <a:t>02</a:t>
            </a:r>
          </a:p>
        </p:txBody>
      </p:sp>
      <p:sp>
        <p:nvSpPr>
          <p:cNvPr id="15" name="TextBox 14"/>
          <p:cNvSpPr txBox="1"/>
          <p:nvPr/>
        </p:nvSpPr>
        <p:spPr>
          <a:xfrm>
            <a:off x="5751576" y="3566160"/>
            <a:ext cx="5093208" cy="384048"/>
          </a:xfrm>
          <a:prstGeom prst="rect">
            <a:avLst/>
          </a:prstGeom>
          <a:noFill/>
        </p:spPr>
        <p:txBody>
          <a:bodyPr wrap="square" lIns="0" rIns="0" tIns="0" bIns="0" anchor="t">
            <a:spAutoFit/>
          </a:bodyPr>
          <a:lstStyle/>
          <a:p>
            <a:pPr>
              <a:lnSpc>
                <a:spcPct val="108000"/>
              </a:lnSpc>
              <a:spcBef>
                <a:spcPts val="0"/>
              </a:spcBef>
              <a:spcAft>
                <a:spcPts val="0"/>
              </a:spcAft>
            </a:pPr>
            <a:r>
              <a:rPr sz="2100" b="1">
                <a:solidFill>
                  <a:srgbClr val="244557"/>
                </a:solidFill>
                <a:latin typeface="Arial"/>
              </a:rPr>
              <a:t>The central NGO sees it.</a:t>
            </a:r>
          </a:p>
        </p:txBody>
      </p:sp>
      <p:sp>
        <p:nvSpPr>
          <p:cNvPr id="16" name="TextBox 15"/>
          <p:cNvSpPr txBox="1"/>
          <p:nvPr/>
        </p:nvSpPr>
        <p:spPr>
          <a:xfrm>
            <a:off x="5751576" y="3995928"/>
            <a:ext cx="5074920" cy="804672"/>
          </a:xfrm>
          <a:prstGeom prst="rect">
            <a:avLst/>
          </a:prstGeom>
          <a:noFill/>
        </p:spPr>
        <p:txBody>
          <a:bodyPr wrap="square" lIns="0" rIns="0" tIns="0" bIns="0" anchor="t">
            <a:spAutoFit/>
          </a:bodyPr>
          <a:lstStyle/>
          <a:p>
            <a:pPr>
              <a:lnSpc>
                <a:spcPct val="108000"/>
              </a:lnSpc>
              <a:spcBef>
                <a:spcPts val="0"/>
              </a:spcBef>
              <a:spcAft>
                <a:spcPts val="0"/>
              </a:spcAft>
            </a:pPr>
            <a:r>
              <a:rPr sz="1700" b="0">
                <a:solidFill>
                  <a:srgbClr val="484D48"/>
                </a:solidFill>
                <a:latin typeface="Arial"/>
              </a:rPr>
              <a:t>Private operational learning,</a:t>
            </a:r>
          </a:p>
          <a:p>
            <a:pPr>
              <a:lnSpc>
                <a:spcPct val="108000"/>
              </a:lnSpc>
              <a:spcBef>
                <a:spcPts val="0"/>
              </a:spcBef>
              <a:spcAft>
                <a:spcPts val="0"/>
              </a:spcAft>
            </a:pPr>
            <a:r>
              <a:rPr sz="1700" b="0">
                <a:solidFill>
                  <a:srgbClr val="484D48"/>
                </a:solidFill>
                <a:latin typeface="Arial"/>
              </a:rPr>
              <a:t>not public ratings or venue shaming.</a:t>
            </a:r>
          </a:p>
        </p:txBody>
      </p:sp>
      <p:sp>
        <p:nvSpPr>
          <p:cNvPr id="17" name="TextBox 16"/>
          <p:cNvSpPr txBox="1"/>
          <p:nvPr/>
        </p:nvSpPr>
        <p:spPr>
          <a:xfrm>
            <a:off x="5221224" y="4928616"/>
            <a:ext cx="411480" cy="365760"/>
          </a:xfrm>
          <a:prstGeom prst="rect">
            <a:avLst/>
          </a:prstGeom>
          <a:noFill/>
        </p:spPr>
        <p:txBody>
          <a:bodyPr wrap="square" lIns="0" rIns="0" tIns="0" bIns="0" anchor="t">
            <a:spAutoFit/>
          </a:bodyPr>
          <a:lstStyle/>
          <a:p>
            <a:pPr>
              <a:lnSpc>
                <a:spcPct val="108000"/>
              </a:lnSpc>
              <a:spcBef>
                <a:spcPts val="0"/>
              </a:spcBef>
              <a:spcAft>
                <a:spcPts val="0"/>
              </a:spcAft>
            </a:pPr>
            <a:r>
              <a:rPr sz="1700" b="1">
                <a:solidFill>
                  <a:srgbClr val="537A5A"/>
                </a:solidFill>
                <a:latin typeface="Arial"/>
              </a:rPr>
              <a:t>03</a:t>
            </a:r>
          </a:p>
        </p:txBody>
      </p:sp>
      <p:sp>
        <p:nvSpPr>
          <p:cNvPr id="18" name="TextBox 17"/>
          <p:cNvSpPr txBox="1"/>
          <p:nvPr/>
        </p:nvSpPr>
        <p:spPr>
          <a:xfrm>
            <a:off x="5751576" y="4919472"/>
            <a:ext cx="5093208" cy="384048"/>
          </a:xfrm>
          <a:prstGeom prst="rect">
            <a:avLst/>
          </a:prstGeom>
          <a:noFill/>
        </p:spPr>
        <p:txBody>
          <a:bodyPr wrap="square" lIns="0" rIns="0" tIns="0" bIns="0" anchor="t">
            <a:spAutoFit/>
          </a:bodyPr>
          <a:lstStyle/>
          <a:p>
            <a:pPr>
              <a:lnSpc>
                <a:spcPct val="108000"/>
              </a:lnSpc>
              <a:spcBef>
                <a:spcPts val="0"/>
              </a:spcBef>
              <a:spcAft>
                <a:spcPts val="0"/>
              </a:spcAft>
            </a:pPr>
            <a:r>
              <a:rPr sz="2100" b="1">
                <a:solidFill>
                  <a:srgbClr val="244557"/>
                </a:solidFill>
                <a:latin typeface="Arial"/>
              </a:rPr>
              <a:t>People decide the response.</a:t>
            </a:r>
          </a:p>
        </p:txBody>
      </p:sp>
      <p:sp>
        <p:nvSpPr>
          <p:cNvPr id="19" name="TextBox 18"/>
          <p:cNvSpPr txBox="1"/>
          <p:nvPr/>
        </p:nvSpPr>
        <p:spPr>
          <a:xfrm>
            <a:off x="5751576" y="5349240"/>
            <a:ext cx="5074920" cy="804672"/>
          </a:xfrm>
          <a:prstGeom prst="rect">
            <a:avLst/>
          </a:prstGeom>
          <a:noFill/>
        </p:spPr>
        <p:txBody>
          <a:bodyPr wrap="square" lIns="0" rIns="0" tIns="0" bIns="0" anchor="t">
            <a:spAutoFit/>
          </a:bodyPr>
          <a:lstStyle/>
          <a:p>
            <a:pPr>
              <a:lnSpc>
                <a:spcPct val="108000"/>
              </a:lnSpc>
              <a:spcBef>
                <a:spcPts val="0"/>
              </a:spcBef>
              <a:spcAft>
                <a:spcPts val="0"/>
              </a:spcAft>
            </a:pPr>
            <a:r>
              <a:rPr sz="1700" b="0">
                <a:solidFill>
                  <a:srgbClr val="484D48"/>
                </a:solidFill>
                <a:latin typeface="Arial"/>
              </a:rPr>
              <a:t>Follow up with donors and venues;</a:t>
            </a:r>
          </a:p>
          <a:p>
            <a:pPr>
              <a:lnSpc>
                <a:spcPct val="108000"/>
              </a:lnSpc>
              <a:spcBef>
                <a:spcPts val="0"/>
              </a:spcBef>
              <a:spcAft>
                <a:spcPts val="0"/>
              </a:spcAft>
            </a:pPr>
            <a:r>
              <a:rPr sz="1700" b="0">
                <a:solidFill>
                  <a:srgbClr val="484D48"/>
                </a:solidFill>
                <a:latin typeface="Arial"/>
              </a:rPr>
              <a:t>use uncertainty to guide investigation.</a:t>
            </a:r>
          </a:p>
        </p:txBody>
      </p:sp>
      <p:sp>
        <p:nvSpPr>
          <p:cNvPr id="20" name="TextBox 19"/>
          <p:cNvSpPr txBox="1"/>
          <p:nvPr/>
        </p:nvSpPr>
        <p:spPr>
          <a:xfrm>
            <a:off x="594360" y="6071616"/>
            <a:ext cx="10972800" cy="265176"/>
          </a:xfrm>
          <a:prstGeom prst="rect">
            <a:avLst/>
          </a:prstGeom>
          <a:noFill/>
        </p:spPr>
        <p:txBody>
          <a:bodyPr wrap="square" lIns="0" rIns="0" tIns="0" bIns="0" anchor="t">
            <a:spAutoFit/>
          </a:bodyPr>
          <a:lstStyle/>
          <a:p>
            <a:pPr>
              <a:lnSpc>
                <a:spcPct val="108000"/>
              </a:lnSpc>
              <a:spcBef>
                <a:spcPts val="0"/>
              </a:spcBef>
              <a:spcAft>
                <a:spcPts val="0"/>
              </a:spcAft>
            </a:pPr>
            <a:r>
              <a:rPr sz="1000" b="0">
                <a:solidFill>
                  <a:srgbClr val="484D48"/>
                </a:solidFill>
                <a:latin typeface="Arial"/>
              </a:rPr>
              <a:t>A finish-button interval is approximate. AI cannot verify truthfulness, actual queue time or food safety.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7F3"/>
        </a:solidFill>
        <a:effectLst/>
      </p:bgPr>
    </p:bg>
    <p:spTree>
      <p:nvGrpSpPr>
        <p:cNvPr id="1" name=""/>
        <p:cNvGrpSpPr/>
        <p:nvPr/>
      </p:nvGrpSpPr>
      <p:grpSpPr/>
      <p:sp>
        <p:nvSpPr>
          <p:cNvPr id="2" name="TextBox 1"/>
          <p:cNvSpPr txBox="1"/>
          <p:nvPr/>
        </p:nvSpPr>
        <p:spPr>
          <a:xfrm>
            <a:off x="594360" y="384048"/>
            <a:ext cx="9692640" cy="201168"/>
          </a:xfrm>
          <a:prstGeom prst="rect">
            <a:avLst/>
          </a:prstGeom>
          <a:noFill/>
        </p:spPr>
        <p:txBody>
          <a:bodyPr wrap="square" lIns="0" rIns="0" tIns="0" bIns="0" anchor="t">
            <a:spAutoFit/>
          </a:bodyPr>
          <a:lstStyle/>
          <a:p>
            <a:pPr>
              <a:lnSpc>
                <a:spcPct val="108000"/>
              </a:lnSpc>
              <a:spcBef>
                <a:spcPts val="0"/>
              </a:spcBef>
              <a:spcAft>
                <a:spcPts val="0"/>
              </a:spcAft>
            </a:pPr>
            <a:r>
              <a:rPr sz="1100" b="1">
                <a:solidFill>
                  <a:srgbClr val="376C6F"/>
                </a:solidFill>
                <a:latin typeface="Arial"/>
              </a:rPr>
              <a:t>FROM SURPLUS TO A SHARED TABLE</a:t>
            </a:r>
          </a:p>
        </p:txBody>
      </p:sp>
      <p:sp>
        <p:nvSpPr>
          <p:cNvPr id="3" name="TextBox 2"/>
          <p:cNvSpPr txBox="1"/>
          <p:nvPr/>
        </p:nvSpPr>
        <p:spPr>
          <a:xfrm>
            <a:off x="594360" y="877824"/>
            <a:ext cx="10972800" cy="987552"/>
          </a:xfrm>
          <a:prstGeom prst="rect">
            <a:avLst/>
          </a:prstGeom>
          <a:noFill/>
        </p:spPr>
        <p:txBody>
          <a:bodyPr wrap="square" lIns="0" rIns="0" tIns="0" bIns="0" anchor="t">
            <a:spAutoFit/>
          </a:bodyPr>
          <a:lstStyle/>
          <a:p>
            <a:pPr>
              <a:lnSpc>
                <a:spcPct val="108000"/>
              </a:lnSpc>
              <a:spcBef>
                <a:spcPts val="0"/>
              </a:spcBef>
              <a:spcAft>
                <a:spcPts val="0"/>
              </a:spcAft>
            </a:pPr>
            <a:r>
              <a:rPr sz="3400" b="0">
                <a:solidFill>
                  <a:srgbClr val="244557"/>
                </a:solidFill>
                <a:latin typeface="Arial Rounded MT Bold"/>
              </a:rPr>
              <a:t>One coordinated operational journey.</a:t>
            </a:r>
          </a:p>
        </p:txBody>
      </p:sp>
      <p:cxnSp>
        <p:nvCxnSpPr>
          <p:cNvPr id="4" name="Connector 3"/>
          <p:cNvCxnSpPr/>
          <p:nvPr/>
        </p:nvCxnSpPr>
        <p:spPr>
          <a:xfrm>
            <a:off x="594360" y="6428232"/>
            <a:ext cx="11000232" cy="0"/>
          </a:xfrm>
          <a:prstGeom prst="line">
            <a:avLst/>
          </a:prstGeom>
          <a:ln w="12700">
            <a:solidFill>
              <a:srgbClr val="D9E3D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94360" y="6537960"/>
            <a:ext cx="7772400" cy="164592"/>
          </a:xfrm>
          <a:prstGeom prst="rect">
            <a:avLst/>
          </a:prstGeom>
          <a:noFill/>
        </p:spPr>
        <p:txBody>
          <a:bodyPr wrap="square" lIns="0" rIns="0" tIns="0" bIns="0" anchor="t">
            <a:spAutoFit/>
          </a:bodyPr>
          <a:lstStyle/>
          <a:p>
            <a:pPr>
              <a:lnSpc>
                <a:spcPct val="108000"/>
              </a:lnSpc>
              <a:spcBef>
                <a:spcPts val="0"/>
              </a:spcBef>
              <a:spcAft>
                <a:spcPts val="0"/>
              </a:spcAft>
            </a:pPr>
            <a:r>
              <a:rPr sz="850" b="0">
                <a:solidFill>
                  <a:srgbClr val="484D48"/>
                </a:solidFill>
                <a:latin typeface="Arial"/>
              </a:rPr>
              <a:t>SAMRIT  /  A PLACE AT THE TABLE</a:t>
            </a:r>
          </a:p>
        </p:txBody>
      </p:sp>
      <p:sp>
        <p:nvSpPr>
          <p:cNvPr id="6" name="TextBox 5"/>
          <p:cNvSpPr txBox="1"/>
          <p:nvPr/>
        </p:nvSpPr>
        <p:spPr>
          <a:xfrm>
            <a:off x="11109960" y="6510528"/>
            <a:ext cx="457200" cy="210312"/>
          </a:xfrm>
          <a:prstGeom prst="rect">
            <a:avLst/>
          </a:prstGeom>
          <a:noFill/>
        </p:spPr>
        <p:txBody>
          <a:bodyPr wrap="square" lIns="0" rIns="0" tIns="0" bIns="0" anchor="t">
            <a:spAutoFit/>
          </a:bodyPr>
          <a:lstStyle/>
          <a:p>
            <a:pPr algn="r">
              <a:lnSpc>
                <a:spcPct val="108000"/>
              </a:lnSpc>
              <a:spcBef>
                <a:spcPts val="0"/>
              </a:spcBef>
              <a:spcAft>
                <a:spcPts val="0"/>
              </a:spcAft>
            </a:pPr>
            <a:r>
              <a:rPr sz="1100" b="0">
                <a:solidFill>
                  <a:srgbClr val="484D48"/>
                </a:solidFill>
                <a:latin typeface="Arial"/>
              </a:rPr>
              <a:t>14</a:t>
            </a:r>
          </a:p>
        </p:txBody>
      </p:sp>
      <p:sp>
        <p:nvSpPr>
          <p:cNvPr id="7" name="Rounded Rectangle 6"/>
          <p:cNvSpPr/>
          <p:nvPr/>
        </p:nvSpPr>
        <p:spPr>
          <a:xfrm>
            <a:off x="594360" y="2395728"/>
            <a:ext cx="1993392" cy="1591056"/>
          </a:xfrm>
          <a:prstGeom prst="roundRect">
            <a:avLst>
              <a:gd name="adj" fmla="val 12000"/>
            </a:avLst>
          </a:prstGeom>
          <a:solidFill>
            <a:srgbClr val="FFFFFF"/>
          </a:solidFill>
          <a:ln w="12700">
            <a:solidFill>
              <a:srgbClr val="D9E3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688336"/>
            <a:ext cx="1719072" cy="256032"/>
          </a:xfrm>
          <a:prstGeom prst="rect">
            <a:avLst/>
          </a:prstGeom>
          <a:noFill/>
        </p:spPr>
        <p:txBody>
          <a:bodyPr wrap="square" lIns="0" rIns="0" tIns="0" bIns="0" anchor="t">
            <a:spAutoFit/>
          </a:bodyPr>
          <a:lstStyle/>
          <a:p>
            <a:pPr>
              <a:lnSpc>
                <a:spcPct val="108000"/>
              </a:lnSpc>
              <a:spcBef>
                <a:spcPts val="0"/>
              </a:spcBef>
              <a:spcAft>
                <a:spcPts val="0"/>
              </a:spcAft>
            </a:pPr>
            <a:r>
              <a:rPr sz="1300" b="1">
                <a:solidFill>
                  <a:srgbClr val="376C6F"/>
                </a:solidFill>
                <a:latin typeface="Arial"/>
              </a:rPr>
              <a:t>PLAN</a:t>
            </a:r>
          </a:p>
        </p:txBody>
      </p:sp>
      <p:sp>
        <p:nvSpPr>
          <p:cNvPr id="9" name="TextBox 8"/>
          <p:cNvSpPr txBox="1"/>
          <p:nvPr/>
        </p:nvSpPr>
        <p:spPr>
          <a:xfrm>
            <a:off x="749808" y="3172968"/>
            <a:ext cx="1746504" cy="621792"/>
          </a:xfrm>
          <a:prstGeom prst="rect">
            <a:avLst/>
          </a:prstGeom>
          <a:noFill/>
        </p:spPr>
        <p:txBody>
          <a:bodyPr wrap="square" lIns="0" rIns="0" tIns="0" bIns="0" anchor="t">
            <a:spAutoFit/>
          </a:bodyPr>
          <a:lstStyle/>
          <a:p>
            <a:pPr>
              <a:lnSpc>
                <a:spcPct val="108000"/>
              </a:lnSpc>
              <a:spcBef>
                <a:spcPts val="0"/>
              </a:spcBef>
              <a:spcAft>
                <a:spcPts val="0"/>
              </a:spcAft>
            </a:pPr>
            <a:r>
              <a:rPr sz="1700" b="0">
                <a:solidFill>
                  <a:srgbClr val="244557"/>
                </a:solidFill>
                <a:latin typeface="Arial"/>
              </a:rPr>
              <a:t>Verified event</a:t>
            </a:r>
          </a:p>
          <a:p>
            <a:pPr>
              <a:lnSpc>
                <a:spcPct val="108000"/>
              </a:lnSpc>
              <a:spcBef>
                <a:spcPts val="0"/>
              </a:spcBef>
              <a:spcAft>
                <a:spcPts val="0"/>
              </a:spcAft>
            </a:pPr>
            <a:r>
              <a:rPr sz="1700" b="0">
                <a:solidFill>
                  <a:srgbClr val="244557"/>
                </a:solidFill>
                <a:latin typeface="Arial"/>
              </a:rPr>
              <a:t>and menu</a:t>
            </a:r>
          </a:p>
        </p:txBody>
      </p:sp>
      <p:sp>
        <p:nvSpPr>
          <p:cNvPr id="10" name="TextBox 9"/>
          <p:cNvSpPr txBox="1"/>
          <p:nvPr/>
        </p:nvSpPr>
        <p:spPr>
          <a:xfrm>
            <a:off x="2624328" y="2889504"/>
            <a:ext cx="274320" cy="457200"/>
          </a:xfrm>
          <a:prstGeom prst="rect">
            <a:avLst/>
          </a:prstGeom>
          <a:noFill/>
        </p:spPr>
        <p:txBody>
          <a:bodyPr wrap="square" lIns="0" rIns="0" tIns="0" bIns="0" anchor="t">
            <a:spAutoFit/>
          </a:bodyPr>
          <a:lstStyle/>
          <a:p>
            <a:pPr>
              <a:lnSpc>
                <a:spcPct val="108000"/>
              </a:lnSpc>
              <a:spcBef>
                <a:spcPts val="0"/>
              </a:spcBef>
              <a:spcAft>
                <a:spcPts val="0"/>
              </a:spcAft>
            </a:pPr>
            <a:r>
              <a:rPr sz="2400" b="0">
                <a:solidFill>
                  <a:srgbClr val="537A5A"/>
                </a:solidFill>
                <a:latin typeface="Arial"/>
              </a:rPr>
              <a:t>→</a:t>
            </a:r>
          </a:p>
        </p:txBody>
      </p:sp>
      <p:sp>
        <p:nvSpPr>
          <p:cNvPr id="11" name="Rounded Rectangle 10"/>
          <p:cNvSpPr/>
          <p:nvPr/>
        </p:nvSpPr>
        <p:spPr>
          <a:xfrm>
            <a:off x="2880360" y="2395728"/>
            <a:ext cx="1993392" cy="1591056"/>
          </a:xfrm>
          <a:prstGeom prst="roundRect">
            <a:avLst>
              <a:gd name="adj" fmla="val 12000"/>
            </a:avLst>
          </a:prstGeom>
          <a:solidFill>
            <a:srgbClr val="FFFFFF"/>
          </a:solidFill>
          <a:ln w="12700">
            <a:solidFill>
              <a:srgbClr val="D9E3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035808" y="2688336"/>
            <a:ext cx="1719072" cy="256032"/>
          </a:xfrm>
          <a:prstGeom prst="rect">
            <a:avLst/>
          </a:prstGeom>
          <a:noFill/>
        </p:spPr>
        <p:txBody>
          <a:bodyPr wrap="square" lIns="0" rIns="0" tIns="0" bIns="0" anchor="t">
            <a:spAutoFit/>
          </a:bodyPr>
          <a:lstStyle/>
          <a:p>
            <a:pPr>
              <a:lnSpc>
                <a:spcPct val="108000"/>
              </a:lnSpc>
              <a:spcBef>
                <a:spcPts val="0"/>
              </a:spcBef>
              <a:spcAft>
                <a:spcPts val="0"/>
              </a:spcAft>
            </a:pPr>
            <a:r>
              <a:rPr sz="1300" b="1">
                <a:solidFill>
                  <a:srgbClr val="376C6F"/>
                </a:solidFill>
                <a:latin typeface="Arial"/>
              </a:rPr>
              <a:t>OFFER</a:t>
            </a:r>
          </a:p>
        </p:txBody>
      </p:sp>
      <p:sp>
        <p:nvSpPr>
          <p:cNvPr id="13" name="TextBox 12"/>
          <p:cNvSpPr txBox="1"/>
          <p:nvPr/>
        </p:nvSpPr>
        <p:spPr>
          <a:xfrm>
            <a:off x="3035808" y="3172968"/>
            <a:ext cx="1746504" cy="621792"/>
          </a:xfrm>
          <a:prstGeom prst="rect">
            <a:avLst/>
          </a:prstGeom>
          <a:noFill/>
        </p:spPr>
        <p:txBody>
          <a:bodyPr wrap="square" lIns="0" rIns="0" tIns="0" bIns="0" anchor="t">
            <a:spAutoFit/>
          </a:bodyPr>
          <a:lstStyle/>
          <a:p>
            <a:pPr>
              <a:lnSpc>
                <a:spcPct val="108000"/>
              </a:lnSpc>
              <a:spcBef>
                <a:spcPts val="0"/>
              </a:spcBef>
              <a:spcAft>
                <a:spcPts val="0"/>
              </a:spcAft>
            </a:pPr>
            <a:r>
              <a:rPr sz="1700" b="0">
                <a:solidFill>
                  <a:srgbClr val="244557"/>
                </a:solidFill>
                <a:latin typeface="Arial"/>
              </a:rPr>
              <a:t>Leftovers +</a:t>
            </a:r>
          </a:p>
          <a:p>
            <a:pPr>
              <a:lnSpc>
                <a:spcPct val="108000"/>
              </a:lnSpc>
              <a:spcBef>
                <a:spcPts val="0"/>
              </a:spcBef>
              <a:spcAft>
                <a:spcPts val="0"/>
              </a:spcAft>
            </a:pPr>
            <a:r>
              <a:rPr sz="1700" b="0">
                <a:solidFill>
                  <a:srgbClr val="244557"/>
                </a:solidFill>
                <a:latin typeface="Arial"/>
              </a:rPr>
              <a:t>handling types</a:t>
            </a:r>
          </a:p>
        </p:txBody>
      </p:sp>
      <p:sp>
        <p:nvSpPr>
          <p:cNvPr id="14" name="TextBox 13"/>
          <p:cNvSpPr txBox="1"/>
          <p:nvPr/>
        </p:nvSpPr>
        <p:spPr>
          <a:xfrm>
            <a:off x="4910328" y="2889504"/>
            <a:ext cx="274320" cy="457200"/>
          </a:xfrm>
          <a:prstGeom prst="rect">
            <a:avLst/>
          </a:prstGeom>
          <a:noFill/>
        </p:spPr>
        <p:txBody>
          <a:bodyPr wrap="square" lIns="0" rIns="0" tIns="0" bIns="0" anchor="t">
            <a:spAutoFit/>
          </a:bodyPr>
          <a:lstStyle/>
          <a:p>
            <a:pPr>
              <a:lnSpc>
                <a:spcPct val="108000"/>
              </a:lnSpc>
              <a:spcBef>
                <a:spcPts val="0"/>
              </a:spcBef>
              <a:spcAft>
                <a:spcPts val="0"/>
              </a:spcAft>
            </a:pPr>
            <a:r>
              <a:rPr sz="2400" b="0">
                <a:solidFill>
                  <a:srgbClr val="537A5A"/>
                </a:solidFill>
                <a:latin typeface="Arial"/>
              </a:rPr>
              <a:t>→</a:t>
            </a:r>
          </a:p>
        </p:txBody>
      </p:sp>
      <p:sp>
        <p:nvSpPr>
          <p:cNvPr id="15" name="Rounded Rectangle 14"/>
          <p:cNvSpPr/>
          <p:nvPr/>
        </p:nvSpPr>
        <p:spPr>
          <a:xfrm>
            <a:off x="5166360" y="2395728"/>
            <a:ext cx="1993392" cy="1591056"/>
          </a:xfrm>
          <a:prstGeom prst="roundRect">
            <a:avLst>
              <a:gd name="adj" fmla="val 12000"/>
            </a:avLst>
          </a:prstGeom>
          <a:solidFill>
            <a:srgbClr val="FFFFFF"/>
          </a:solidFill>
          <a:ln w="12700">
            <a:solidFill>
              <a:srgbClr val="D9E3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21808" y="2688336"/>
            <a:ext cx="1719072" cy="256032"/>
          </a:xfrm>
          <a:prstGeom prst="rect">
            <a:avLst/>
          </a:prstGeom>
          <a:noFill/>
        </p:spPr>
        <p:txBody>
          <a:bodyPr wrap="square" lIns="0" rIns="0" tIns="0" bIns="0" anchor="t">
            <a:spAutoFit/>
          </a:bodyPr>
          <a:lstStyle/>
          <a:p>
            <a:pPr>
              <a:lnSpc>
                <a:spcPct val="108000"/>
              </a:lnSpc>
              <a:spcBef>
                <a:spcPts val="0"/>
              </a:spcBef>
              <a:spcAft>
                <a:spcPts val="0"/>
              </a:spcAft>
            </a:pPr>
            <a:r>
              <a:rPr sz="1300" b="1">
                <a:solidFill>
                  <a:srgbClr val="376C6F"/>
                </a:solidFill>
                <a:latin typeface="Arial"/>
              </a:rPr>
              <a:t>DISPATCH</a:t>
            </a:r>
          </a:p>
        </p:txBody>
      </p:sp>
      <p:sp>
        <p:nvSpPr>
          <p:cNvPr id="17" name="TextBox 16"/>
          <p:cNvSpPr txBox="1"/>
          <p:nvPr/>
        </p:nvSpPr>
        <p:spPr>
          <a:xfrm>
            <a:off x="5321808" y="3172968"/>
            <a:ext cx="1746504" cy="621792"/>
          </a:xfrm>
          <a:prstGeom prst="rect">
            <a:avLst/>
          </a:prstGeom>
          <a:noFill/>
        </p:spPr>
        <p:txBody>
          <a:bodyPr wrap="square" lIns="0" rIns="0" tIns="0" bIns="0" anchor="t">
            <a:spAutoFit/>
          </a:bodyPr>
          <a:lstStyle/>
          <a:p>
            <a:pPr>
              <a:lnSpc>
                <a:spcPct val="108000"/>
              </a:lnSpc>
              <a:spcBef>
                <a:spcPts val="0"/>
              </a:spcBef>
              <a:spcAft>
                <a:spcPts val="0"/>
              </a:spcAft>
            </a:pPr>
            <a:r>
              <a:rPr sz="1700" b="0">
                <a:solidFill>
                  <a:srgbClr val="244557"/>
                </a:solidFill>
                <a:latin typeface="Arial"/>
              </a:rPr>
              <a:t>Driver, vehicle</a:t>
            </a:r>
          </a:p>
          <a:p>
            <a:pPr>
              <a:lnSpc>
                <a:spcPct val="108000"/>
              </a:lnSpc>
              <a:spcBef>
                <a:spcPts val="0"/>
              </a:spcBef>
              <a:spcAft>
                <a:spcPts val="0"/>
              </a:spcAft>
            </a:pPr>
            <a:r>
              <a:rPr sz="1700" b="0">
                <a:solidFill>
                  <a:srgbClr val="244557"/>
                </a:solidFill>
                <a:latin typeface="Arial"/>
              </a:rPr>
              <a:t>and destination</a:t>
            </a:r>
          </a:p>
        </p:txBody>
      </p:sp>
      <p:sp>
        <p:nvSpPr>
          <p:cNvPr id="18" name="TextBox 17"/>
          <p:cNvSpPr txBox="1"/>
          <p:nvPr/>
        </p:nvSpPr>
        <p:spPr>
          <a:xfrm>
            <a:off x="7196328" y="2889504"/>
            <a:ext cx="274320" cy="457200"/>
          </a:xfrm>
          <a:prstGeom prst="rect">
            <a:avLst/>
          </a:prstGeom>
          <a:noFill/>
        </p:spPr>
        <p:txBody>
          <a:bodyPr wrap="square" lIns="0" rIns="0" tIns="0" bIns="0" anchor="t">
            <a:spAutoFit/>
          </a:bodyPr>
          <a:lstStyle/>
          <a:p>
            <a:pPr>
              <a:lnSpc>
                <a:spcPct val="108000"/>
              </a:lnSpc>
              <a:spcBef>
                <a:spcPts val="0"/>
              </a:spcBef>
              <a:spcAft>
                <a:spcPts val="0"/>
              </a:spcAft>
            </a:pPr>
            <a:r>
              <a:rPr sz="2400" b="0">
                <a:solidFill>
                  <a:srgbClr val="537A5A"/>
                </a:solidFill>
                <a:latin typeface="Arial"/>
              </a:rPr>
              <a:t>→</a:t>
            </a:r>
          </a:p>
        </p:txBody>
      </p:sp>
      <p:sp>
        <p:nvSpPr>
          <p:cNvPr id="19" name="Rounded Rectangle 18"/>
          <p:cNvSpPr/>
          <p:nvPr/>
        </p:nvSpPr>
        <p:spPr>
          <a:xfrm>
            <a:off x="7452360" y="2395728"/>
            <a:ext cx="1993392" cy="1591056"/>
          </a:xfrm>
          <a:prstGeom prst="roundRect">
            <a:avLst>
              <a:gd name="adj" fmla="val 12000"/>
            </a:avLst>
          </a:prstGeom>
          <a:solidFill>
            <a:srgbClr val="FFFFFF"/>
          </a:solidFill>
          <a:ln w="12700">
            <a:solidFill>
              <a:srgbClr val="D9E3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607808" y="2688336"/>
            <a:ext cx="1719072" cy="256032"/>
          </a:xfrm>
          <a:prstGeom prst="rect">
            <a:avLst/>
          </a:prstGeom>
          <a:noFill/>
        </p:spPr>
        <p:txBody>
          <a:bodyPr wrap="square" lIns="0" rIns="0" tIns="0" bIns="0" anchor="t">
            <a:spAutoFit/>
          </a:bodyPr>
          <a:lstStyle/>
          <a:p>
            <a:pPr>
              <a:lnSpc>
                <a:spcPct val="108000"/>
              </a:lnSpc>
              <a:spcBef>
                <a:spcPts val="0"/>
              </a:spcBef>
              <a:spcAft>
                <a:spcPts val="0"/>
              </a:spcAft>
            </a:pPr>
            <a:r>
              <a:rPr sz="1300" b="1">
                <a:solidFill>
                  <a:srgbClr val="376C6F"/>
                </a:solidFill>
                <a:latin typeface="Arial"/>
              </a:rPr>
              <a:t>HAND OFF</a:t>
            </a:r>
          </a:p>
        </p:txBody>
      </p:sp>
      <p:sp>
        <p:nvSpPr>
          <p:cNvPr id="21" name="TextBox 20"/>
          <p:cNvSpPr txBox="1"/>
          <p:nvPr/>
        </p:nvSpPr>
        <p:spPr>
          <a:xfrm>
            <a:off x="7607808" y="3172968"/>
            <a:ext cx="1746504" cy="621792"/>
          </a:xfrm>
          <a:prstGeom prst="rect">
            <a:avLst/>
          </a:prstGeom>
          <a:noFill/>
        </p:spPr>
        <p:txBody>
          <a:bodyPr wrap="square" lIns="0" rIns="0" tIns="0" bIns="0" anchor="t">
            <a:spAutoFit/>
          </a:bodyPr>
          <a:lstStyle/>
          <a:p>
            <a:pPr>
              <a:lnSpc>
                <a:spcPct val="108000"/>
              </a:lnSpc>
              <a:spcBef>
                <a:spcPts val="0"/>
              </a:spcBef>
              <a:spcAft>
                <a:spcPts val="0"/>
              </a:spcAft>
            </a:pPr>
            <a:r>
              <a:rPr sz="1700" b="0">
                <a:solidFill>
                  <a:srgbClr val="244557"/>
                </a:solidFill>
                <a:latin typeface="Arial"/>
              </a:rPr>
              <a:t>QR + photo</a:t>
            </a:r>
          </a:p>
          <a:p>
            <a:pPr>
              <a:lnSpc>
                <a:spcPct val="108000"/>
              </a:lnSpc>
              <a:spcBef>
                <a:spcPts val="0"/>
              </a:spcBef>
              <a:spcAft>
                <a:spcPts val="0"/>
              </a:spcAft>
            </a:pPr>
            <a:r>
              <a:rPr sz="1700" b="0">
                <a:solidFill>
                  <a:srgbClr val="244557"/>
                </a:solidFill>
                <a:latin typeface="Arial"/>
              </a:rPr>
              <a:t>custody stages</a:t>
            </a:r>
          </a:p>
        </p:txBody>
      </p:sp>
      <p:sp>
        <p:nvSpPr>
          <p:cNvPr id="22" name="TextBox 21"/>
          <p:cNvSpPr txBox="1"/>
          <p:nvPr/>
        </p:nvSpPr>
        <p:spPr>
          <a:xfrm>
            <a:off x="9482328" y="2889504"/>
            <a:ext cx="274320" cy="457200"/>
          </a:xfrm>
          <a:prstGeom prst="rect">
            <a:avLst/>
          </a:prstGeom>
          <a:noFill/>
        </p:spPr>
        <p:txBody>
          <a:bodyPr wrap="square" lIns="0" rIns="0" tIns="0" bIns="0" anchor="t">
            <a:spAutoFit/>
          </a:bodyPr>
          <a:lstStyle/>
          <a:p>
            <a:pPr>
              <a:lnSpc>
                <a:spcPct val="108000"/>
              </a:lnSpc>
              <a:spcBef>
                <a:spcPts val="0"/>
              </a:spcBef>
              <a:spcAft>
                <a:spcPts val="0"/>
              </a:spcAft>
            </a:pPr>
            <a:r>
              <a:rPr sz="2400" b="0">
                <a:solidFill>
                  <a:srgbClr val="537A5A"/>
                </a:solidFill>
                <a:latin typeface="Arial"/>
              </a:rPr>
              <a:t>→</a:t>
            </a:r>
          </a:p>
        </p:txBody>
      </p:sp>
      <p:sp>
        <p:nvSpPr>
          <p:cNvPr id="23" name="Rounded Rectangle 22"/>
          <p:cNvSpPr/>
          <p:nvPr/>
        </p:nvSpPr>
        <p:spPr>
          <a:xfrm>
            <a:off x="9738360" y="2395728"/>
            <a:ext cx="1993392" cy="1591056"/>
          </a:xfrm>
          <a:prstGeom prst="roundRect">
            <a:avLst>
              <a:gd name="adj" fmla="val 12000"/>
            </a:avLst>
          </a:prstGeom>
          <a:solidFill>
            <a:srgbClr val="FFFFFF"/>
          </a:solidFill>
          <a:ln w="12700">
            <a:solidFill>
              <a:srgbClr val="D9E3D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93808" y="2688336"/>
            <a:ext cx="1719072" cy="256032"/>
          </a:xfrm>
          <a:prstGeom prst="rect">
            <a:avLst/>
          </a:prstGeom>
          <a:noFill/>
        </p:spPr>
        <p:txBody>
          <a:bodyPr wrap="square" lIns="0" rIns="0" tIns="0" bIns="0" anchor="t">
            <a:spAutoFit/>
          </a:bodyPr>
          <a:lstStyle/>
          <a:p>
            <a:pPr>
              <a:lnSpc>
                <a:spcPct val="108000"/>
              </a:lnSpc>
              <a:spcBef>
                <a:spcPts val="0"/>
              </a:spcBef>
              <a:spcAft>
                <a:spcPts val="0"/>
              </a:spcAft>
            </a:pPr>
            <a:r>
              <a:rPr sz="1300" b="1">
                <a:solidFill>
                  <a:srgbClr val="376C6F"/>
                </a:solidFill>
                <a:latin typeface="Arial"/>
              </a:rPr>
              <a:t>RECEIVE</a:t>
            </a:r>
          </a:p>
        </p:txBody>
      </p:sp>
      <p:sp>
        <p:nvSpPr>
          <p:cNvPr id="25" name="TextBox 24"/>
          <p:cNvSpPr txBox="1"/>
          <p:nvPr/>
        </p:nvSpPr>
        <p:spPr>
          <a:xfrm>
            <a:off x="9893808" y="3172968"/>
            <a:ext cx="1746504" cy="621792"/>
          </a:xfrm>
          <a:prstGeom prst="rect">
            <a:avLst/>
          </a:prstGeom>
          <a:noFill/>
        </p:spPr>
        <p:txBody>
          <a:bodyPr wrap="square" lIns="0" rIns="0" tIns="0" bIns="0" anchor="t">
            <a:spAutoFit/>
          </a:bodyPr>
          <a:lstStyle/>
          <a:p>
            <a:pPr>
              <a:lnSpc>
                <a:spcPct val="108000"/>
              </a:lnSpc>
              <a:spcBef>
                <a:spcPts val="0"/>
              </a:spcBef>
              <a:spcAft>
                <a:spcPts val="0"/>
              </a:spcAft>
            </a:pPr>
            <a:r>
              <a:rPr sz="1700" b="0">
                <a:solidFill>
                  <a:srgbClr val="244557"/>
                </a:solidFill>
                <a:latin typeface="Arial"/>
              </a:rPr>
              <a:t>Venue staff</a:t>
            </a:r>
          </a:p>
          <a:p>
            <a:pPr>
              <a:lnSpc>
                <a:spcPct val="108000"/>
              </a:lnSpc>
              <a:spcBef>
                <a:spcPts val="0"/>
              </a:spcBef>
              <a:spcAft>
                <a:spcPts val="0"/>
              </a:spcAft>
            </a:pPr>
            <a:r>
              <a:rPr sz="1700" b="0">
                <a:solidFill>
                  <a:srgbClr val="244557"/>
                </a:solidFill>
                <a:latin typeface="Arial"/>
              </a:rPr>
              <a:t>confirm intake</a:t>
            </a:r>
          </a:p>
        </p:txBody>
      </p:sp>
      <p:cxnSp>
        <p:nvCxnSpPr>
          <p:cNvPr id="26" name="Connector 25"/>
          <p:cNvCxnSpPr/>
          <p:nvPr/>
        </p:nvCxnSpPr>
        <p:spPr>
          <a:xfrm>
            <a:off x="621792" y="4453128"/>
            <a:ext cx="10917936" cy="0"/>
          </a:xfrm>
          <a:prstGeom prst="line">
            <a:avLst/>
          </a:prstGeom>
          <a:ln w="12700">
            <a:solidFill>
              <a:srgbClr val="D9E3DB"/>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40080" y="4690872"/>
            <a:ext cx="2743200" cy="274320"/>
          </a:xfrm>
          <a:prstGeom prst="rect">
            <a:avLst/>
          </a:prstGeom>
          <a:noFill/>
        </p:spPr>
        <p:txBody>
          <a:bodyPr wrap="square" lIns="0" rIns="0" tIns="0" bIns="0" anchor="t">
            <a:spAutoFit/>
          </a:bodyPr>
          <a:lstStyle/>
          <a:p>
            <a:pPr>
              <a:lnSpc>
                <a:spcPct val="108000"/>
              </a:lnSpc>
              <a:spcBef>
                <a:spcPts val="0"/>
              </a:spcBef>
              <a:spcAft>
                <a:spcPts val="0"/>
              </a:spcAft>
            </a:pPr>
            <a:r>
              <a:rPr sz="1200" b="1">
                <a:solidFill>
                  <a:srgbClr val="376C6F"/>
                </a:solidFill>
                <a:latin typeface="Arial"/>
              </a:rPr>
              <a:t>PUBLIC EXPERIENCE</a:t>
            </a:r>
          </a:p>
        </p:txBody>
      </p:sp>
      <p:sp>
        <p:nvSpPr>
          <p:cNvPr id="28" name="TextBox 27"/>
          <p:cNvSpPr txBox="1"/>
          <p:nvPr/>
        </p:nvSpPr>
        <p:spPr>
          <a:xfrm>
            <a:off x="640080" y="5157216"/>
            <a:ext cx="10789920" cy="512064"/>
          </a:xfrm>
          <a:prstGeom prst="rect">
            <a:avLst/>
          </a:prstGeom>
          <a:noFill/>
        </p:spPr>
        <p:txBody>
          <a:bodyPr wrap="square" lIns="0" rIns="0" tIns="0" bIns="0" anchor="t">
            <a:spAutoFit/>
          </a:bodyPr>
          <a:lstStyle/>
          <a:p>
            <a:pPr>
              <a:lnSpc>
                <a:spcPct val="108000"/>
              </a:lnSpc>
              <a:spcBef>
                <a:spcPts val="0"/>
              </a:spcBef>
              <a:spcAft>
                <a:spcPts val="0"/>
              </a:spcAft>
            </a:pPr>
            <a:r>
              <a:rPr sz="2300" b="1">
                <a:solidFill>
                  <a:srgbClr val="244557"/>
                </a:solidFill>
                <a:latin typeface="Arial"/>
              </a:rPr>
              <a:t>Preferences → find a place → venue check-in → finish → private review</a:t>
            </a:r>
          </a:p>
        </p:txBody>
      </p:sp>
      <p:sp>
        <p:nvSpPr>
          <p:cNvPr id="29" name="TextBox 28"/>
          <p:cNvSpPr txBox="1"/>
          <p:nvPr/>
        </p:nvSpPr>
        <p:spPr>
          <a:xfrm>
            <a:off x="594360" y="6071616"/>
            <a:ext cx="10972800" cy="265176"/>
          </a:xfrm>
          <a:prstGeom prst="rect">
            <a:avLst/>
          </a:prstGeom>
          <a:noFill/>
        </p:spPr>
        <p:txBody>
          <a:bodyPr wrap="square" lIns="0" rIns="0" tIns="0" bIns="0" anchor="t">
            <a:spAutoFit/>
          </a:bodyPr>
          <a:lstStyle/>
          <a:p>
            <a:pPr>
              <a:lnSpc>
                <a:spcPct val="108000"/>
              </a:lnSpc>
              <a:spcBef>
                <a:spcPts val="0"/>
              </a:spcBef>
              <a:spcAft>
                <a:spcPts val="0"/>
              </a:spcAft>
            </a:pPr>
            <a:r>
              <a:rPr sz="1000" b="0">
                <a:solidFill>
                  <a:srgbClr val="484D48"/>
                </a:solidFill>
                <a:latin typeface="Arial"/>
              </a:rPr>
              <a:t>Current demo: fictional meal offers and simulated GPS. Automatically publishing delivered food to Find a Meal is the next integration.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7F3"/>
        </a:solidFill>
        <a:effectLst/>
      </p:bgPr>
    </p:bg>
    <p:spTree>
      <p:nvGrpSpPr>
        <p:cNvPr id="1" name=""/>
        <p:cNvGrpSpPr/>
        <p:nvPr/>
      </p:nvGrpSpPr>
      <p:grpSpPr/>
      <p:sp>
        <p:nvSpPr>
          <p:cNvPr id="2" name="TextBox 1"/>
          <p:cNvSpPr txBox="1"/>
          <p:nvPr/>
        </p:nvSpPr>
        <p:spPr>
          <a:xfrm>
            <a:off x="594360" y="384048"/>
            <a:ext cx="9692640" cy="201168"/>
          </a:xfrm>
          <a:prstGeom prst="rect">
            <a:avLst/>
          </a:prstGeom>
          <a:noFill/>
        </p:spPr>
        <p:txBody>
          <a:bodyPr wrap="square" lIns="0" rIns="0" tIns="0" bIns="0" anchor="t">
            <a:spAutoFit/>
          </a:bodyPr>
          <a:lstStyle/>
          <a:p>
            <a:pPr>
              <a:lnSpc>
                <a:spcPct val="108000"/>
              </a:lnSpc>
              <a:spcBef>
                <a:spcPts val="0"/>
              </a:spcBef>
              <a:spcAft>
                <a:spcPts val="0"/>
              </a:spcAft>
            </a:pPr>
            <a:r>
              <a:rPr sz="1100" b="1">
                <a:solidFill>
                  <a:srgbClr val="376C6F"/>
                </a:solidFill>
                <a:latin typeface="Arial"/>
              </a:rPr>
              <a:t>EVIDENCE BEHIND THE STORY</a:t>
            </a:r>
          </a:p>
        </p:txBody>
      </p:sp>
      <p:sp>
        <p:nvSpPr>
          <p:cNvPr id="3" name="TextBox 2"/>
          <p:cNvSpPr txBox="1"/>
          <p:nvPr/>
        </p:nvSpPr>
        <p:spPr>
          <a:xfrm>
            <a:off x="594360" y="877824"/>
            <a:ext cx="10972800" cy="987552"/>
          </a:xfrm>
          <a:prstGeom prst="rect">
            <a:avLst/>
          </a:prstGeom>
          <a:noFill/>
        </p:spPr>
        <p:txBody>
          <a:bodyPr wrap="square" lIns="0" rIns="0" tIns="0" bIns="0" anchor="t">
            <a:spAutoFit/>
          </a:bodyPr>
          <a:lstStyle/>
          <a:p>
            <a:pPr>
              <a:lnSpc>
                <a:spcPct val="108000"/>
              </a:lnSpc>
              <a:spcBef>
                <a:spcPts val="0"/>
              </a:spcBef>
              <a:spcAft>
                <a:spcPts val="0"/>
              </a:spcAft>
            </a:pPr>
            <a:r>
              <a:rPr sz="3500" b="0">
                <a:solidFill>
                  <a:srgbClr val="244557"/>
                </a:solidFill>
                <a:latin typeface="Arial Rounded MT Bold"/>
              </a:rPr>
              <a:t>Sources &amp; scope</a:t>
            </a:r>
          </a:p>
        </p:txBody>
      </p:sp>
      <p:cxnSp>
        <p:nvCxnSpPr>
          <p:cNvPr id="4" name="Connector 3"/>
          <p:cNvCxnSpPr/>
          <p:nvPr/>
        </p:nvCxnSpPr>
        <p:spPr>
          <a:xfrm>
            <a:off x="594360" y="6428232"/>
            <a:ext cx="11000232" cy="0"/>
          </a:xfrm>
          <a:prstGeom prst="line">
            <a:avLst/>
          </a:prstGeom>
          <a:ln w="12700">
            <a:solidFill>
              <a:srgbClr val="D9E3DB"/>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94360" y="6537960"/>
            <a:ext cx="7772400" cy="164592"/>
          </a:xfrm>
          <a:prstGeom prst="rect">
            <a:avLst/>
          </a:prstGeom>
          <a:noFill/>
        </p:spPr>
        <p:txBody>
          <a:bodyPr wrap="square" lIns="0" rIns="0" tIns="0" bIns="0" anchor="t">
            <a:spAutoFit/>
          </a:bodyPr>
          <a:lstStyle/>
          <a:p>
            <a:pPr>
              <a:lnSpc>
                <a:spcPct val="108000"/>
              </a:lnSpc>
              <a:spcBef>
                <a:spcPts val="0"/>
              </a:spcBef>
              <a:spcAft>
                <a:spcPts val="0"/>
              </a:spcAft>
            </a:pPr>
            <a:r>
              <a:rPr sz="850" b="0">
                <a:solidFill>
                  <a:srgbClr val="484D48"/>
                </a:solidFill>
                <a:latin typeface="Arial"/>
              </a:rPr>
              <a:t>SAMRIT  /  A PLACE AT THE TABLE</a:t>
            </a:r>
          </a:p>
        </p:txBody>
      </p:sp>
      <p:sp>
        <p:nvSpPr>
          <p:cNvPr id="6" name="TextBox 5"/>
          <p:cNvSpPr txBox="1"/>
          <p:nvPr/>
        </p:nvSpPr>
        <p:spPr>
          <a:xfrm>
            <a:off x="11109960" y="6510528"/>
            <a:ext cx="457200" cy="210312"/>
          </a:xfrm>
          <a:prstGeom prst="rect">
            <a:avLst/>
          </a:prstGeom>
          <a:noFill/>
        </p:spPr>
        <p:txBody>
          <a:bodyPr wrap="square" lIns="0" rIns="0" tIns="0" bIns="0" anchor="t">
            <a:spAutoFit/>
          </a:bodyPr>
          <a:lstStyle/>
          <a:p>
            <a:pPr algn="r">
              <a:lnSpc>
                <a:spcPct val="108000"/>
              </a:lnSpc>
              <a:spcBef>
                <a:spcPts val="0"/>
              </a:spcBef>
              <a:spcAft>
                <a:spcPts val="0"/>
              </a:spcAft>
            </a:pPr>
            <a:r>
              <a:rPr sz="1100" b="0">
                <a:solidFill>
                  <a:srgbClr val="484D48"/>
                </a:solidFill>
                <a:latin typeface="Arial"/>
              </a:rPr>
              <a:t>15</a:t>
            </a:r>
          </a:p>
        </p:txBody>
      </p:sp>
      <p:sp>
        <p:nvSpPr>
          <p:cNvPr id="7" name="TextBox 6"/>
          <p:cNvSpPr txBox="1"/>
          <p:nvPr/>
        </p:nvSpPr>
        <p:spPr>
          <a:xfrm>
            <a:off x="594360" y="1938528"/>
            <a:ext cx="5394960" cy="228600"/>
          </a:xfrm>
          <a:prstGeom prst="rect">
            <a:avLst/>
          </a:prstGeom>
          <a:noFill/>
        </p:spPr>
        <p:txBody>
          <a:bodyPr wrap="square" lIns="0" rIns="0" tIns="0" bIns="0" anchor="t">
            <a:spAutoFit/>
          </a:bodyPr>
          <a:lstStyle/>
          <a:p>
            <a:pPr>
              <a:lnSpc>
                <a:spcPct val="108000"/>
              </a:lnSpc>
              <a:spcBef>
                <a:spcPts val="0"/>
              </a:spcBef>
              <a:spcAft>
                <a:spcPts val="0"/>
              </a:spcAft>
            </a:pPr>
            <a:r>
              <a:rPr sz="1300" b="0">
                <a:solidFill>
                  <a:srgbClr val="376C6F"/>
                </a:solidFill>
                <a:latin typeface="Arial"/>
                <a:hlinkClick r:id="rId2"/>
              </a:rPr>
              <a:t>[S1] USDA ERS · Food security, 2024</a:t>
            </a:r>
          </a:p>
        </p:txBody>
      </p:sp>
      <p:sp>
        <p:nvSpPr>
          <p:cNvPr id="8" name="TextBox 7"/>
          <p:cNvSpPr txBox="1"/>
          <p:nvPr/>
        </p:nvSpPr>
        <p:spPr>
          <a:xfrm>
            <a:off x="594360" y="2203704"/>
            <a:ext cx="5276088" cy="438912"/>
          </a:xfrm>
          <a:prstGeom prst="rect">
            <a:avLst/>
          </a:prstGeom>
          <a:noFill/>
        </p:spPr>
        <p:txBody>
          <a:bodyPr wrap="square" lIns="0" rIns="0" tIns="0" bIns="0" anchor="t">
            <a:spAutoFit/>
          </a:bodyPr>
          <a:lstStyle/>
          <a:p>
            <a:pPr>
              <a:lnSpc>
                <a:spcPct val="108000"/>
              </a:lnSpc>
              <a:spcBef>
                <a:spcPts val="0"/>
              </a:spcBef>
              <a:spcAft>
                <a:spcPts val="0"/>
              </a:spcAft>
            </a:pPr>
            <a:r>
              <a:rPr sz="1100" b="0">
                <a:solidFill>
                  <a:srgbClr val="484D48"/>
                </a:solidFill>
                <a:latin typeface="Arial"/>
              </a:rPr>
              <a:t>47.9 million people lived in food-insecure U.S. households in 2024.</a:t>
            </a:r>
          </a:p>
        </p:txBody>
      </p:sp>
      <p:sp>
        <p:nvSpPr>
          <p:cNvPr id="9" name="TextBox 8"/>
          <p:cNvSpPr txBox="1"/>
          <p:nvPr/>
        </p:nvSpPr>
        <p:spPr>
          <a:xfrm>
            <a:off x="594360" y="2734056"/>
            <a:ext cx="5394960" cy="228600"/>
          </a:xfrm>
          <a:prstGeom prst="rect">
            <a:avLst/>
          </a:prstGeom>
          <a:noFill/>
        </p:spPr>
        <p:txBody>
          <a:bodyPr wrap="square" lIns="0" rIns="0" tIns="0" bIns="0" anchor="t">
            <a:spAutoFit/>
          </a:bodyPr>
          <a:lstStyle/>
          <a:p>
            <a:pPr>
              <a:lnSpc>
                <a:spcPct val="108000"/>
              </a:lnSpc>
              <a:spcBef>
                <a:spcPts val="0"/>
              </a:spcBef>
              <a:spcAft>
                <a:spcPts val="0"/>
              </a:spcAft>
            </a:pPr>
            <a:r>
              <a:rPr sz="1300" b="0">
                <a:solidFill>
                  <a:srgbClr val="376C6F"/>
                </a:solidFill>
                <a:latin typeface="Arial"/>
                <a:hlinkClick r:id="rId3"/>
              </a:rPr>
              <a:t>[S2] EPA · U.S. food loss and waste</a:t>
            </a:r>
          </a:p>
        </p:txBody>
      </p:sp>
      <p:sp>
        <p:nvSpPr>
          <p:cNvPr id="10" name="TextBox 9"/>
          <p:cNvSpPr txBox="1"/>
          <p:nvPr/>
        </p:nvSpPr>
        <p:spPr>
          <a:xfrm>
            <a:off x="594360" y="2999232"/>
            <a:ext cx="5276088" cy="438912"/>
          </a:xfrm>
          <a:prstGeom prst="rect">
            <a:avLst/>
          </a:prstGeom>
          <a:noFill/>
        </p:spPr>
        <p:txBody>
          <a:bodyPr wrap="square" lIns="0" rIns="0" tIns="0" bIns="0" anchor="t">
            <a:spAutoFit/>
          </a:bodyPr>
          <a:lstStyle/>
          <a:p>
            <a:pPr>
              <a:lnSpc>
                <a:spcPct val="108000"/>
              </a:lnSpc>
              <a:spcBef>
                <a:spcPts val="0"/>
              </a:spcBef>
              <a:spcAft>
                <a:spcPts val="0"/>
              </a:spcAft>
            </a:pPr>
            <a:r>
              <a:rPr sz="1100" b="0">
                <a:solidFill>
                  <a:srgbClr val="484D48"/>
                </a:solidFill>
                <a:latin typeface="Arial"/>
              </a:rPr>
              <a:t>An estimated 30–40% of the U.S. food supply is never eaten.</a:t>
            </a:r>
          </a:p>
        </p:txBody>
      </p:sp>
      <p:sp>
        <p:nvSpPr>
          <p:cNvPr id="11" name="TextBox 10"/>
          <p:cNvSpPr txBox="1"/>
          <p:nvPr/>
        </p:nvSpPr>
        <p:spPr>
          <a:xfrm>
            <a:off x="594360" y="3529584"/>
            <a:ext cx="5394960" cy="228600"/>
          </a:xfrm>
          <a:prstGeom prst="rect">
            <a:avLst/>
          </a:prstGeom>
          <a:noFill/>
        </p:spPr>
        <p:txBody>
          <a:bodyPr wrap="square" lIns="0" rIns="0" tIns="0" bIns="0" anchor="t">
            <a:spAutoFit/>
          </a:bodyPr>
          <a:lstStyle/>
          <a:p>
            <a:pPr>
              <a:lnSpc>
                <a:spcPct val="108000"/>
              </a:lnSpc>
              <a:spcBef>
                <a:spcPts val="0"/>
              </a:spcBef>
              <a:spcAft>
                <a:spcPts val="0"/>
              </a:spcAft>
            </a:pPr>
            <a:r>
              <a:rPr sz="1300" b="0">
                <a:solidFill>
                  <a:srgbClr val="376C6F"/>
                </a:solidFill>
                <a:latin typeface="Arial"/>
                <a:hlinkClick r:id="rId4"/>
              </a:rPr>
              <a:t>[S3] Food Bank For NYC · Distribution</a:t>
            </a:r>
          </a:p>
        </p:txBody>
      </p:sp>
      <p:sp>
        <p:nvSpPr>
          <p:cNvPr id="12" name="TextBox 11"/>
          <p:cNvSpPr txBox="1"/>
          <p:nvPr/>
        </p:nvSpPr>
        <p:spPr>
          <a:xfrm>
            <a:off x="594360" y="3794760"/>
            <a:ext cx="5276088" cy="438912"/>
          </a:xfrm>
          <a:prstGeom prst="rect">
            <a:avLst/>
          </a:prstGeom>
          <a:noFill/>
        </p:spPr>
        <p:txBody>
          <a:bodyPr wrap="square" lIns="0" rIns="0" tIns="0" bIns="0" anchor="t">
            <a:spAutoFit/>
          </a:bodyPr>
          <a:lstStyle/>
          <a:p>
            <a:pPr>
              <a:lnSpc>
                <a:spcPct val="108000"/>
              </a:lnSpc>
              <a:spcBef>
                <a:spcPts val="0"/>
              </a:spcBef>
              <a:spcAft>
                <a:spcPts val="0"/>
              </a:spcAft>
            </a:pPr>
            <a:r>
              <a:rPr sz="1100" b="0">
                <a:solidFill>
                  <a:srgbClr val="484D48"/>
                </a:solidFill>
                <a:latin typeface="Arial"/>
              </a:rPr>
              <a:t>Nearly 800 pantries, soup kitchens and mobile pantries; a mixed network, not a soup-kitchen-only count.</a:t>
            </a:r>
          </a:p>
        </p:txBody>
      </p:sp>
      <p:sp>
        <p:nvSpPr>
          <p:cNvPr id="13" name="TextBox 12"/>
          <p:cNvSpPr txBox="1"/>
          <p:nvPr/>
        </p:nvSpPr>
        <p:spPr>
          <a:xfrm>
            <a:off x="594360" y="4325112"/>
            <a:ext cx="5394960" cy="228600"/>
          </a:xfrm>
          <a:prstGeom prst="rect">
            <a:avLst/>
          </a:prstGeom>
          <a:noFill/>
        </p:spPr>
        <p:txBody>
          <a:bodyPr wrap="square" lIns="0" rIns="0" tIns="0" bIns="0" anchor="t">
            <a:spAutoFit/>
          </a:bodyPr>
          <a:lstStyle/>
          <a:p>
            <a:pPr>
              <a:lnSpc>
                <a:spcPct val="108000"/>
              </a:lnSpc>
              <a:spcBef>
                <a:spcPts val="0"/>
              </a:spcBef>
              <a:spcAft>
                <a:spcPts val="0"/>
              </a:spcAft>
            </a:pPr>
            <a:r>
              <a:rPr sz="1300" b="0">
                <a:solidFill>
                  <a:srgbClr val="376C6F"/>
                </a:solidFill>
                <a:latin typeface="Arial"/>
                <a:hlinkClick r:id="rId5"/>
              </a:rPr>
              <a:t>[S4] Pew Research Center · Mobile, 2026</a:t>
            </a:r>
          </a:p>
        </p:txBody>
      </p:sp>
      <p:sp>
        <p:nvSpPr>
          <p:cNvPr id="14" name="TextBox 13"/>
          <p:cNvSpPr txBox="1"/>
          <p:nvPr/>
        </p:nvSpPr>
        <p:spPr>
          <a:xfrm>
            <a:off x="594360" y="4590288"/>
            <a:ext cx="5276088" cy="438912"/>
          </a:xfrm>
          <a:prstGeom prst="rect">
            <a:avLst/>
          </a:prstGeom>
          <a:noFill/>
        </p:spPr>
        <p:txBody>
          <a:bodyPr wrap="square" lIns="0" rIns="0" tIns="0" bIns="0" anchor="t">
            <a:spAutoFit/>
          </a:bodyPr>
          <a:lstStyle/>
          <a:p>
            <a:pPr>
              <a:lnSpc>
                <a:spcPct val="108000"/>
              </a:lnSpc>
              <a:spcBef>
                <a:spcPts val="0"/>
              </a:spcBef>
              <a:spcAft>
                <a:spcPts val="0"/>
              </a:spcAft>
            </a:pPr>
            <a:r>
              <a:rPr sz="1100" b="0">
                <a:solidFill>
                  <a:srgbClr val="484D48"/>
                </a:solidFill>
                <a:latin typeface="Arial"/>
              </a:rPr>
              <a:t>80% smartphone ownership among U.S. adults in households earning below $30,000; survey Jan. 30–June 18, 2026.</a:t>
            </a:r>
          </a:p>
        </p:txBody>
      </p:sp>
      <p:sp>
        <p:nvSpPr>
          <p:cNvPr id="15" name="TextBox 14"/>
          <p:cNvSpPr txBox="1"/>
          <p:nvPr/>
        </p:nvSpPr>
        <p:spPr>
          <a:xfrm>
            <a:off x="594360" y="5120640"/>
            <a:ext cx="5394960" cy="228600"/>
          </a:xfrm>
          <a:prstGeom prst="rect">
            <a:avLst/>
          </a:prstGeom>
          <a:noFill/>
        </p:spPr>
        <p:txBody>
          <a:bodyPr wrap="square" lIns="0" rIns="0" tIns="0" bIns="0" anchor="t">
            <a:spAutoFit/>
          </a:bodyPr>
          <a:lstStyle/>
          <a:p>
            <a:pPr>
              <a:lnSpc>
                <a:spcPct val="108000"/>
              </a:lnSpc>
              <a:spcBef>
                <a:spcPts val="0"/>
              </a:spcBef>
              <a:spcAft>
                <a:spcPts val="0"/>
              </a:spcAft>
            </a:pPr>
            <a:r>
              <a:rPr sz="1300" b="0">
                <a:solidFill>
                  <a:srgbClr val="376C6F"/>
                </a:solidFill>
                <a:latin typeface="Arial"/>
                <a:hlinkClick r:id="rId6"/>
              </a:rPr>
              <a:t>[S5] FDA · Nine major food allergens</a:t>
            </a:r>
          </a:p>
        </p:txBody>
      </p:sp>
      <p:sp>
        <p:nvSpPr>
          <p:cNvPr id="16" name="TextBox 15"/>
          <p:cNvSpPr txBox="1"/>
          <p:nvPr/>
        </p:nvSpPr>
        <p:spPr>
          <a:xfrm>
            <a:off x="594360" y="5385816"/>
            <a:ext cx="5276088" cy="438912"/>
          </a:xfrm>
          <a:prstGeom prst="rect">
            <a:avLst/>
          </a:prstGeom>
          <a:noFill/>
        </p:spPr>
        <p:txBody>
          <a:bodyPr wrap="square" lIns="0" rIns="0" tIns="0" bIns="0" anchor="t">
            <a:spAutoFit/>
          </a:bodyPr>
          <a:lstStyle/>
          <a:p>
            <a:pPr>
              <a:lnSpc>
                <a:spcPct val="108000"/>
              </a:lnSpc>
              <a:spcBef>
                <a:spcPts val="0"/>
              </a:spcBef>
              <a:spcAft>
                <a:spcPts val="0"/>
              </a:spcAft>
            </a:pPr>
            <a:r>
              <a:rPr sz="1100" b="0">
                <a:solidFill>
                  <a:srgbClr val="484D48"/>
                </a:solidFill>
                <a:latin typeface="Arial"/>
              </a:rPr>
              <a:t>Major-allergen categories inform the interface; the platform is not FDA endorsed.</a:t>
            </a:r>
          </a:p>
        </p:txBody>
      </p:sp>
      <p:sp>
        <p:nvSpPr>
          <p:cNvPr id="17" name="TextBox 16"/>
          <p:cNvSpPr txBox="1"/>
          <p:nvPr/>
        </p:nvSpPr>
        <p:spPr>
          <a:xfrm>
            <a:off x="6300216" y="1938528"/>
            <a:ext cx="5394960" cy="228600"/>
          </a:xfrm>
          <a:prstGeom prst="rect">
            <a:avLst/>
          </a:prstGeom>
          <a:noFill/>
        </p:spPr>
        <p:txBody>
          <a:bodyPr wrap="square" lIns="0" rIns="0" tIns="0" bIns="0" anchor="t">
            <a:spAutoFit/>
          </a:bodyPr>
          <a:lstStyle/>
          <a:p>
            <a:pPr>
              <a:lnSpc>
                <a:spcPct val="108000"/>
              </a:lnSpc>
              <a:spcBef>
                <a:spcPts val="0"/>
              </a:spcBef>
              <a:spcAft>
                <a:spcPts val="0"/>
              </a:spcAft>
            </a:pPr>
            <a:r>
              <a:rPr sz="1300" b="0">
                <a:solidFill>
                  <a:srgbClr val="376C6F"/>
                </a:solidFill>
                <a:latin typeface="Arial"/>
                <a:hlinkClick r:id="rId7"/>
              </a:rPr>
              <a:t>[S6] USDA · Donating / Good Samaritan Act</a:t>
            </a:r>
          </a:p>
        </p:txBody>
      </p:sp>
      <p:sp>
        <p:nvSpPr>
          <p:cNvPr id="18" name="TextBox 17"/>
          <p:cNvSpPr txBox="1"/>
          <p:nvPr/>
        </p:nvSpPr>
        <p:spPr>
          <a:xfrm>
            <a:off x="6300216" y="2203704"/>
            <a:ext cx="5276088" cy="438912"/>
          </a:xfrm>
          <a:prstGeom prst="rect">
            <a:avLst/>
          </a:prstGeom>
          <a:noFill/>
        </p:spPr>
        <p:txBody>
          <a:bodyPr wrap="square" lIns="0" rIns="0" tIns="0" bIns="0" anchor="t">
            <a:spAutoFit/>
          </a:bodyPr>
          <a:lstStyle/>
          <a:p>
            <a:pPr>
              <a:lnSpc>
                <a:spcPct val="108000"/>
              </a:lnSpc>
              <a:spcBef>
                <a:spcPts val="0"/>
              </a:spcBef>
              <a:spcAft>
                <a:spcPts val="0"/>
              </a:spcAft>
            </a:pPr>
            <a:r>
              <a:rPr sz="1100" b="0">
                <a:solidFill>
                  <a:srgbClr val="484D48"/>
                </a:solidFill>
                <a:latin typeface="Arial"/>
              </a:rPr>
              <a:t>The Bill Emerson Good Samaritan Food Donation Act provides conditional protections for qualifying good-faith donations.</a:t>
            </a:r>
          </a:p>
        </p:txBody>
      </p:sp>
      <p:sp>
        <p:nvSpPr>
          <p:cNvPr id="19" name="TextBox 18"/>
          <p:cNvSpPr txBox="1"/>
          <p:nvPr/>
        </p:nvSpPr>
        <p:spPr>
          <a:xfrm>
            <a:off x="6300216" y="2734056"/>
            <a:ext cx="5394960" cy="228600"/>
          </a:xfrm>
          <a:prstGeom prst="rect">
            <a:avLst/>
          </a:prstGeom>
          <a:noFill/>
        </p:spPr>
        <p:txBody>
          <a:bodyPr wrap="square" lIns="0" rIns="0" tIns="0" bIns="0" anchor="t">
            <a:spAutoFit/>
          </a:bodyPr>
          <a:lstStyle/>
          <a:p>
            <a:pPr>
              <a:lnSpc>
                <a:spcPct val="108000"/>
              </a:lnSpc>
              <a:spcBef>
                <a:spcPts val="0"/>
              </a:spcBef>
              <a:spcAft>
                <a:spcPts val="0"/>
              </a:spcAft>
            </a:pPr>
            <a:r>
              <a:rPr sz="1300" b="0">
                <a:solidFill>
                  <a:srgbClr val="376C6F"/>
                </a:solidFill>
                <a:latin typeface="Arial"/>
                <a:hlinkClick r:id="rId8"/>
              </a:rPr>
              <a:t>[S7] Cambridge Dictionary · Good Samaritan</a:t>
            </a:r>
          </a:p>
        </p:txBody>
      </p:sp>
      <p:sp>
        <p:nvSpPr>
          <p:cNvPr id="20" name="TextBox 19"/>
          <p:cNvSpPr txBox="1"/>
          <p:nvPr/>
        </p:nvSpPr>
        <p:spPr>
          <a:xfrm>
            <a:off x="6300216" y="2999232"/>
            <a:ext cx="5276088" cy="438912"/>
          </a:xfrm>
          <a:prstGeom prst="rect">
            <a:avLst/>
          </a:prstGeom>
          <a:noFill/>
        </p:spPr>
        <p:txBody>
          <a:bodyPr wrap="square" lIns="0" rIns="0" tIns="0" bIns="0" anchor="t">
            <a:spAutoFit/>
          </a:bodyPr>
          <a:lstStyle/>
          <a:p>
            <a:pPr>
              <a:lnSpc>
                <a:spcPct val="108000"/>
              </a:lnSpc>
              <a:spcBef>
                <a:spcPts val="0"/>
              </a:spcBef>
              <a:spcAft>
                <a:spcPts val="0"/>
              </a:spcAft>
            </a:pPr>
            <a:r>
              <a:rPr sz="1100" b="0">
                <a:solidFill>
                  <a:srgbClr val="484D48"/>
                </a:solidFill>
                <a:latin typeface="Arial"/>
              </a:rPr>
              <a:t>A person who helps people in need; the name invokes this everyday meaning.</a:t>
            </a:r>
          </a:p>
        </p:txBody>
      </p:sp>
      <p:sp>
        <p:nvSpPr>
          <p:cNvPr id="21" name="TextBox 20"/>
          <p:cNvSpPr txBox="1"/>
          <p:nvPr/>
        </p:nvSpPr>
        <p:spPr>
          <a:xfrm>
            <a:off x="6300216" y="3529584"/>
            <a:ext cx="5394960" cy="228600"/>
          </a:xfrm>
          <a:prstGeom prst="rect">
            <a:avLst/>
          </a:prstGeom>
          <a:noFill/>
        </p:spPr>
        <p:txBody>
          <a:bodyPr wrap="square" lIns="0" rIns="0" tIns="0" bIns="0" anchor="t">
            <a:spAutoFit/>
          </a:bodyPr>
          <a:lstStyle/>
          <a:p>
            <a:pPr>
              <a:lnSpc>
                <a:spcPct val="108000"/>
              </a:lnSpc>
              <a:spcBef>
                <a:spcPts val="0"/>
              </a:spcBef>
              <a:spcAft>
                <a:spcPts val="0"/>
              </a:spcAft>
            </a:pPr>
            <a:r>
              <a:rPr sz="1300" b="0">
                <a:solidFill>
                  <a:srgbClr val="376C6F"/>
                </a:solidFill>
                <a:latin typeface="Arial"/>
                <a:hlinkClick r:id="rId9"/>
              </a:rPr>
              <a:t>[S8] A Practical Sanskrit Dictionary · amṛta</a:t>
            </a:r>
          </a:p>
        </p:txBody>
      </p:sp>
      <p:sp>
        <p:nvSpPr>
          <p:cNvPr id="22" name="TextBox 21"/>
          <p:cNvSpPr txBox="1"/>
          <p:nvPr/>
        </p:nvSpPr>
        <p:spPr>
          <a:xfrm>
            <a:off x="6300216" y="3794760"/>
            <a:ext cx="5276088" cy="438912"/>
          </a:xfrm>
          <a:prstGeom prst="rect">
            <a:avLst/>
          </a:prstGeom>
          <a:noFill/>
        </p:spPr>
        <p:txBody>
          <a:bodyPr wrap="square" lIns="0" rIns="0" tIns="0" bIns="0" anchor="t">
            <a:spAutoFit/>
          </a:bodyPr>
          <a:lstStyle/>
          <a:p>
            <a:pPr>
              <a:lnSpc>
                <a:spcPct val="108000"/>
              </a:lnSpc>
              <a:spcBef>
                <a:spcPts val="0"/>
              </a:spcBef>
              <a:spcAft>
                <a:spcPts val="0"/>
              </a:spcAft>
            </a:pPr>
            <a:r>
              <a:rPr sz="1100" b="0">
                <a:solidFill>
                  <a:srgbClr val="484D48"/>
                </a:solidFill>
                <a:latin typeface="Arial"/>
              </a:rPr>
              <a:t>Amrit derives from Sanskrit amṛta, including the sense nectar. Essence is the team’s brand interpretation.</a:t>
            </a:r>
          </a:p>
        </p:txBody>
      </p:sp>
      <p:sp>
        <p:nvSpPr>
          <p:cNvPr id="23" name="TextBox 22"/>
          <p:cNvSpPr txBox="1"/>
          <p:nvPr/>
        </p:nvSpPr>
        <p:spPr>
          <a:xfrm>
            <a:off x="6300216" y="4325112"/>
            <a:ext cx="5394960" cy="228600"/>
          </a:xfrm>
          <a:prstGeom prst="rect">
            <a:avLst/>
          </a:prstGeom>
          <a:noFill/>
        </p:spPr>
        <p:txBody>
          <a:bodyPr wrap="square" lIns="0" rIns="0" tIns="0" bIns="0" anchor="t">
            <a:spAutoFit/>
          </a:bodyPr>
          <a:lstStyle/>
          <a:p>
            <a:pPr>
              <a:lnSpc>
                <a:spcPct val="108000"/>
              </a:lnSpc>
              <a:spcBef>
                <a:spcPts val="0"/>
              </a:spcBef>
              <a:spcAft>
                <a:spcPts val="0"/>
              </a:spcAft>
            </a:pPr>
            <a:r>
              <a:rPr sz="1300" b="0">
                <a:solidFill>
                  <a:srgbClr val="376C6F"/>
                </a:solidFill>
                <a:latin typeface="Arial"/>
                <a:hlinkClick r:id="rId10"/>
              </a:rPr>
              <a:t>[S9] OHCHR / FAO · The Right to Food</a:t>
            </a:r>
          </a:p>
        </p:txBody>
      </p:sp>
      <p:sp>
        <p:nvSpPr>
          <p:cNvPr id="24" name="TextBox 23"/>
          <p:cNvSpPr txBox="1"/>
          <p:nvPr/>
        </p:nvSpPr>
        <p:spPr>
          <a:xfrm>
            <a:off x="6300216" y="4590288"/>
            <a:ext cx="5276088" cy="438912"/>
          </a:xfrm>
          <a:prstGeom prst="rect">
            <a:avLst/>
          </a:prstGeom>
          <a:noFill/>
        </p:spPr>
        <p:txBody>
          <a:bodyPr wrap="square" lIns="0" rIns="0" tIns="0" bIns="0" anchor="t">
            <a:spAutoFit/>
          </a:bodyPr>
          <a:lstStyle/>
          <a:p>
            <a:pPr>
              <a:lnSpc>
                <a:spcPct val="108000"/>
              </a:lnSpc>
              <a:spcBef>
                <a:spcPts val="0"/>
              </a:spcBef>
              <a:spcAft>
                <a:spcPts val="0"/>
              </a:spcAft>
            </a:pPr>
            <a:r>
              <a:rPr sz="1100" b="0">
                <a:solidFill>
                  <a:srgbClr val="484D48"/>
                </a:solidFill>
                <a:latin typeface="Arial"/>
              </a:rPr>
              <a:t>The right to adequate food is recognized in international human-rights instruments.</a:t>
            </a:r>
          </a:p>
        </p:txBody>
      </p:sp>
      <p:sp>
        <p:nvSpPr>
          <p:cNvPr id="25" name="TextBox 24"/>
          <p:cNvSpPr txBox="1"/>
          <p:nvPr/>
        </p:nvSpPr>
        <p:spPr>
          <a:xfrm>
            <a:off x="594360" y="6071616"/>
            <a:ext cx="10972800" cy="265176"/>
          </a:xfrm>
          <a:prstGeom prst="rect">
            <a:avLst/>
          </a:prstGeom>
          <a:noFill/>
        </p:spPr>
        <p:txBody>
          <a:bodyPr wrap="square" lIns="0" rIns="0" tIns="0" bIns="0" anchor="t">
            <a:spAutoFit/>
          </a:bodyPr>
          <a:lstStyle/>
          <a:p>
            <a:pPr>
              <a:lnSpc>
                <a:spcPct val="108000"/>
              </a:lnSpc>
              <a:spcBef>
                <a:spcPts val="0"/>
              </a:spcBef>
              <a:spcAft>
                <a:spcPts val="0"/>
              </a:spcAft>
            </a:pPr>
            <a:r>
              <a:rPr sz="1000" b="0">
                <a:solidFill>
                  <a:srgbClr val="484D48"/>
                </a:solidFill>
                <a:latin typeface="Arial"/>
              </a:rPr>
              <a:t>Sources checked 25 October 2026. Product screenshots: current local Samrit app; menu: fictional OCR test fixture.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42A33"/>
        </a:solidFill>
        <a:effectLst/>
      </p:bgPr>
    </p:bg>
    <p:spTree>
      <p:nvGrpSpPr>
        <p:cNvPr id="1" name=""/>
        <p:cNvGrpSpPr/>
        <p:nvPr/>
      </p:nvGrpSpPr>
      <p:grpSpPr/>
      <p:sp>
        <p:nvSpPr>
          <p:cNvPr id="2" name="TextBox 1"/>
          <p:cNvSpPr txBox="1"/>
          <p:nvPr/>
        </p:nvSpPr>
        <p:spPr>
          <a:xfrm>
            <a:off x="594360" y="384048"/>
            <a:ext cx="9692640" cy="201168"/>
          </a:xfrm>
          <a:prstGeom prst="rect">
            <a:avLst/>
          </a:prstGeom>
          <a:noFill/>
        </p:spPr>
        <p:txBody>
          <a:bodyPr wrap="square" lIns="0" rIns="0" tIns="0" bIns="0" anchor="t">
            <a:spAutoFit/>
          </a:bodyPr>
          <a:lstStyle/>
          <a:p>
            <a:pPr>
              <a:lnSpc>
                <a:spcPct val="108000"/>
              </a:lnSpc>
              <a:spcBef>
                <a:spcPts val="0"/>
              </a:spcBef>
              <a:spcAft>
                <a:spcPts val="0"/>
              </a:spcAft>
            </a:pPr>
            <a:r>
              <a:rPr sz="1100" b="1">
                <a:solidFill>
                  <a:srgbClr val="B5D588"/>
                </a:solidFill>
                <a:latin typeface="Arial"/>
              </a:rPr>
              <a:t>OUR REASON FOR BUILDING</a:t>
            </a:r>
          </a:p>
        </p:txBody>
      </p:sp>
      <p:cxnSp>
        <p:nvCxnSpPr>
          <p:cNvPr id="3" name="Connector 2"/>
          <p:cNvCxnSpPr/>
          <p:nvPr/>
        </p:nvCxnSpPr>
        <p:spPr>
          <a:xfrm>
            <a:off x="594360" y="6428232"/>
            <a:ext cx="11000232" cy="0"/>
          </a:xfrm>
          <a:prstGeom prst="line">
            <a:avLst/>
          </a:prstGeom>
          <a:ln w="12700">
            <a:solidFill>
              <a:srgbClr val="376C6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94360" y="6537960"/>
            <a:ext cx="7772400" cy="164592"/>
          </a:xfrm>
          <a:prstGeom prst="rect">
            <a:avLst/>
          </a:prstGeom>
          <a:noFill/>
        </p:spPr>
        <p:txBody>
          <a:bodyPr wrap="square" lIns="0" rIns="0" tIns="0" bIns="0" anchor="t">
            <a:spAutoFit/>
          </a:bodyPr>
          <a:lstStyle/>
          <a:p>
            <a:pPr>
              <a:lnSpc>
                <a:spcPct val="108000"/>
              </a:lnSpc>
              <a:spcBef>
                <a:spcPts val="0"/>
              </a:spcBef>
              <a:spcAft>
                <a:spcPts val="0"/>
              </a:spcAft>
            </a:pPr>
            <a:r>
              <a:rPr sz="850" b="0">
                <a:solidFill>
                  <a:srgbClr val="B7CDD0"/>
                </a:solidFill>
                <a:latin typeface="Arial"/>
              </a:rPr>
              <a:t>SAMRIT  /  A PLACE AT THE TABLE</a:t>
            </a:r>
          </a:p>
        </p:txBody>
      </p:sp>
      <p:sp>
        <p:nvSpPr>
          <p:cNvPr id="5" name="TextBox 4"/>
          <p:cNvSpPr txBox="1"/>
          <p:nvPr/>
        </p:nvSpPr>
        <p:spPr>
          <a:xfrm>
            <a:off x="11109960" y="6510528"/>
            <a:ext cx="457200" cy="210312"/>
          </a:xfrm>
          <a:prstGeom prst="rect">
            <a:avLst/>
          </a:prstGeom>
          <a:noFill/>
        </p:spPr>
        <p:txBody>
          <a:bodyPr wrap="square" lIns="0" rIns="0" tIns="0" bIns="0" anchor="t">
            <a:spAutoFit/>
          </a:bodyPr>
          <a:lstStyle/>
          <a:p>
            <a:pPr algn="r">
              <a:lnSpc>
                <a:spcPct val="108000"/>
              </a:lnSpc>
              <a:spcBef>
                <a:spcPts val="0"/>
              </a:spcBef>
              <a:spcAft>
                <a:spcPts val="0"/>
              </a:spcAft>
            </a:pPr>
            <a:r>
              <a:rPr sz="1100" b="0">
                <a:solidFill>
                  <a:srgbClr val="B7CDD0"/>
                </a:solidFill>
                <a:latin typeface="Arial"/>
              </a:rPr>
              <a:t>16</a:t>
            </a:r>
          </a:p>
        </p:txBody>
      </p:sp>
      <p:sp>
        <p:nvSpPr>
          <p:cNvPr id="6" name="TextBox 5"/>
          <p:cNvSpPr txBox="1"/>
          <p:nvPr/>
        </p:nvSpPr>
        <p:spPr>
          <a:xfrm>
            <a:off x="630936" y="1353312"/>
            <a:ext cx="9875520" cy="3246120"/>
          </a:xfrm>
          <a:prstGeom prst="rect">
            <a:avLst/>
          </a:prstGeom>
          <a:noFill/>
        </p:spPr>
        <p:txBody>
          <a:bodyPr wrap="square" lIns="0" rIns="0" tIns="0" bIns="0" anchor="t">
            <a:spAutoFit/>
          </a:bodyPr>
          <a:lstStyle/>
          <a:p>
            <a:pPr>
              <a:lnSpc>
                <a:spcPct val="108000"/>
              </a:lnSpc>
              <a:spcBef>
                <a:spcPts val="0"/>
              </a:spcBef>
              <a:spcAft>
                <a:spcPts val="0"/>
              </a:spcAft>
            </a:pPr>
            <a:r>
              <a:rPr sz="5500" b="0">
                <a:solidFill>
                  <a:srgbClr val="FFFFFF"/>
                </a:solidFill>
                <a:latin typeface="Arial Rounded MT Bold"/>
              </a:rPr>
              <a:t>Access to food</a:t>
            </a:r>
          </a:p>
          <a:p>
            <a:pPr>
              <a:lnSpc>
                <a:spcPct val="108000"/>
              </a:lnSpc>
              <a:spcBef>
                <a:spcPts val="0"/>
              </a:spcBef>
              <a:spcAft>
                <a:spcPts val="0"/>
              </a:spcAft>
            </a:pPr>
            <a:r>
              <a:rPr sz="5500" b="0">
                <a:solidFill>
                  <a:srgbClr val="FFFFFF"/>
                </a:solidFill>
                <a:latin typeface="Arial Rounded MT Bold"/>
              </a:rPr>
              <a:t>is a basic</a:t>
            </a:r>
          </a:p>
          <a:p>
            <a:pPr>
              <a:lnSpc>
                <a:spcPct val="108000"/>
              </a:lnSpc>
              <a:spcBef>
                <a:spcPts val="0"/>
              </a:spcBef>
              <a:spcAft>
                <a:spcPts val="0"/>
              </a:spcAft>
            </a:pPr>
            <a:r>
              <a:rPr sz="5500" b="0">
                <a:solidFill>
                  <a:srgbClr val="FFFFFF"/>
                </a:solidFill>
                <a:latin typeface="Arial Rounded MT Bold"/>
              </a:rPr>
              <a:t>human right.</a:t>
            </a:r>
          </a:p>
        </p:txBody>
      </p:sp>
      <p:sp>
        <p:nvSpPr>
          <p:cNvPr id="7" name="TextBox 6"/>
          <p:cNvSpPr txBox="1"/>
          <p:nvPr/>
        </p:nvSpPr>
        <p:spPr>
          <a:xfrm>
            <a:off x="667512" y="5102352"/>
            <a:ext cx="7589520" cy="877824"/>
          </a:xfrm>
          <a:prstGeom prst="rect">
            <a:avLst/>
          </a:prstGeom>
          <a:noFill/>
        </p:spPr>
        <p:txBody>
          <a:bodyPr wrap="square" lIns="0" rIns="0" tIns="0" bIns="0" anchor="t">
            <a:spAutoFit/>
          </a:bodyPr>
          <a:lstStyle/>
          <a:p>
            <a:pPr>
              <a:lnSpc>
                <a:spcPct val="108000"/>
              </a:lnSpc>
              <a:spcBef>
                <a:spcPts val="0"/>
              </a:spcBef>
              <a:spcAft>
                <a:spcPts val="0"/>
              </a:spcAft>
            </a:pPr>
            <a:r>
              <a:rPr sz="2300" b="0">
                <a:solidFill>
                  <a:srgbClr val="B7CDD0"/>
                </a:solidFill>
                <a:latin typeface="Arial"/>
              </a:rPr>
              <a:t>A place at the table.</a:t>
            </a:r>
          </a:p>
          <a:p>
            <a:pPr>
              <a:lnSpc>
                <a:spcPct val="108000"/>
              </a:lnSpc>
              <a:spcBef>
                <a:spcPts val="0"/>
              </a:spcBef>
              <a:spcAft>
                <a:spcPts val="0"/>
              </a:spcAft>
            </a:pPr>
            <a:r>
              <a:rPr sz="2300" b="0">
                <a:solidFill>
                  <a:srgbClr val="B7CDD0"/>
                </a:solidFill>
                <a:latin typeface="Arial"/>
              </a:rPr>
              <a:t>A community behind it.</a:t>
            </a:r>
          </a:p>
        </p:txBody>
      </p:sp>
      <p:pic>
        <p:nvPicPr>
          <p:cNvPr id="8" name="Picture 7" descr="logoleaf.png"/>
          <p:cNvPicPr>
            <a:picLocks noChangeAspect="1"/>
          </p:cNvPicPr>
          <p:nvPr/>
        </p:nvPicPr>
        <p:blipFill>
          <a:blip r:embed="rId2"/>
          <a:srcRect l="28144" t="17285" r="3353" b="7031"/>
          <a:stretch>
            <a:fillRect/>
          </a:stretch>
        </p:blipFill>
        <p:spPr>
          <a:xfrm>
            <a:off x="9464040" y="2331720"/>
            <a:ext cx="1572768" cy="213093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Samrit — A place at the table</dc:title>
  <dc:subject>Strict simplicity. Accountable food redistribution.</dc:subject>
  <dc:creator>Samrit team</dc:creator>
  <cp:keywords>Samrit, Steel and Steam, food redistribution, UX, hackathon</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